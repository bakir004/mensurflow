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charts/chart1.xml" ContentType="application/vnd.openxmlformats-officedocument.drawingml.chart+xml"/>
  <Override PartName="/ppt/charts/chart2.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charts/chart3.xml" ContentType="application/vnd.openxmlformats-officedocument.drawingml.chart+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dea" id="{e2acd009-09cb-1bd6-d58b-8fc203527fd4}">
          <p14:sldIdLst>
            <p14:sldId id="256"/>
            <p14:sldId id="257"/>
            <p14:sldId id="258"/>
            <p14:sldId id="259"/>
          </p14:sldIdLst>
        </p14:section>
        <p14:section name="Code" id="{b2e18ff9-0a4d-4f90-0618-2fe7504b0e27}">
          <p14:sldIdLst>
            <p14:sldId id="260"/>
            <p14:sldId id="261"/>
            <p14:sldId id="262"/>
            <p14:sldId id="263"/>
            <p14:sldId id="264"/>
          </p14:sldIdLst>
        </p14:section>
        <p14:section name="Results" id="{1f940f0f-48ee-9fe6-63ec-e10470aa606b}">
          <p14:sldIdLst>
            <p14:sldId id="265"/>
            <p14:sldId id="266"/>
            <p14:sldId id="267"/>
            <p14:sldId id="26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1" i="0" u="none" strike="noStrike">
                <a:solidFill>
                  <a:srgbClr val="0F172A"/>
                </a:solidFill>
                <a:latin typeface="+mn-lt"/>
              </a:defRPr>
            </a:pPr>
            <a:r>
              <a:rPr sz="1400" b="1" i="0" u="none" strike="noStrike">
                <a:solidFill>
                  <a:srgbClr val="0F172A"/>
                </a:solidFill>
                <a:latin typeface="+mn-lt"/>
              </a:rPr>
              <a:t>10 million elements: speed-up</a:t>
            </a:r>
          </a:p>
        </c:rich>
      </c:tx>
      <c:layout/>
      <c:overlay val="0"/>
    </c:title>
    <c:autoTitleDeleted val="0"/>
    <c:plotArea>
      <c:layout/>
      <c:barChart>
        <c:barDir val="col"/>
        <c:grouping val="clustered"/>
        <c:varyColors val="0"/>
        <c:ser>
          <c:idx val="0"/>
          <c:order val="0"/>
          <c:tx>
            <c:strRef>
              <c:f>Sheet1!$B$1</c:f>
              <c:strCache>
                <c:ptCount val="1"/>
                <c:pt idx="0">
                  <c:v>add</c:v>
                </c:pt>
              </c:strCache>
            </c:strRef>
          </c:tx>
          <c:spPr>
            <a:solidFill>
              <a:srgbClr val="2DD4BF"/>
            </a:solidFill>
            <a:effectLst/>
          </c:spPr>
          <c:invertIfNegative val="0"/>
          <c:dLbls>
            <c:numFmt formatCode="0.0&quot;x&quot;" sourceLinked="0"/>
            <c:txPr>
              <a:bodyPr/>
              <a:lstStyle/>
              <a:p>
                <a:pPr>
                  <a:defRPr b="0" i="0" strike="noStrike" sz="1000" u="none">
                    <a:solidFill>
                      <a:srgbClr val="0F172A"/>
                    </a:solidFill>
                    <a:latin typeface="+mn-lt"/>
                  </a:defRPr>
                </a:pPr>
              </a:p>
            </c:txPr>
            <c:showLegendKey val="0"/>
            <c:showVal val="1"/>
            <c:showCatName val="0"/>
            <c:showSerName val="0"/>
            <c:showPercent val="0"/>
            <c:showBubbleSize val="0"/>
            <c:showLeaderLines val="0"/>
          </c:dLbls>
          <c:cat>
            <c:multiLvlStrRef>
              <c:f>Sheet1!$A$2:$A$5</c:f>
              <c:multiLvlStrCache>
                <c:ptCount val="4"/>
                <c:lvl>
                  <c:pt idx="0">
                    <c:v>1</c:v>
                  </c:pt>
                  <c:pt idx="1">
                    <c:v>2</c:v>
                  </c:pt>
                  <c:pt idx="2">
                    <c:v>4</c:v>
                  </c:pt>
                  <c:pt idx="3">
                    <c:v>8</c:v>
                  </c:pt>
                </c:lvl>
              </c:multiLvlStrCache>
            </c:multiLvlStrRef>
          </c:cat>
          <c:val>
            <c:numRef>
              <c:f>Sheet1!$B$2:$B$5</c:f>
              <c:numCache>
                <c:formatCode>General</c:formatCode>
                <c:ptCount val="4"/>
                <c:pt idx="0">
                  <c:v>1.07</c:v>
                </c:pt>
                <c:pt idx="1">
                  <c:v>1.13</c:v>
                </c:pt>
                <c:pt idx="2">
                  <c:v>1.18</c:v>
                </c:pt>
                <c:pt idx="3">
                  <c:v>1.23</c:v>
                </c:pt>
              </c:numCache>
            </c:numRef>
          </c:val>
        </c:ser>
        <c:ser>
          <c:idx val="1"/>
          <c:order val="1"/>
          <c:tx>
            <c:strRef>
              <c:f>Sheet1!$C$1</c:f>
              <c:strCache>
                <c:ptCount val="1"/>
                <c:pt idx="0">
                  <c:v>mul</c:v>
                </c:pt>
              </c:strCache>
            </c:strRef>
          </c:tx>
          <c:spPr>
            <a:solidFill>
              <a:srgbClr val="FBBF24"/>
            </a:solidFill>
            <a:effectLst/>
          </c:spPr>
          <c:invertIfNegative val="0"/>
          <c:dLbls>
            <c:numFmt formatCode="0.0&quot;x&quot;" sourceLinked="0"/>
            <c:txPr>
              <a:bodyPr/>
              <a:lstStyle/>
              <a:p>
                <a:pPr>
                  <a:defRPr b="0" i="0" strike="noStrike" sz="1000" u="none">
                    <a:solidFill>
                      <a:srgbClr val="0F172A"/>
                    </a:solidFill>
                    <a:latin typeface="+mn-lt"/>
                  </a:defRPr>
                </a:pPr>
              </a:p>
            </c:txPr>
            <c:showLegendKey val="0"/>
            <c:showVal val="1"/>
            <c:showCatName val="0"/>
            <c:showSerName val="0"/>
            <c:showPercent val="0"/>
            <c:showBubbleSize val="0"/>
            <c:showLeaderLines val="0"/>
          </c:dLbls>
          <c:cat>
            <c:multiLvlStrRef>
              <c:f>Sheet1!$A$2:$A$5</c:f>
              <c:multiLvlStrCache>
                <c:ptCount val="4"/>
                <c:lvl>
                  <c:pt idx="0">
                    <c:v>1</c:v>
                  </c:pt>
                  <c:pt idx="1">
                    <c:v>2</c:v>
                  </c:pt>
                  <c:pt idx="2">
                    <c:v>4</c:v>
                  </c:pt>
                  <c:pt idx="3">
                    <c:v>8</c:v>
                  </c:pt>
                </c:lvl>
              </c:multiLvlStrCache>
            </c:multiLvlStrRef>
          </c:cat>
          <c:val>
            <c:numRef>
              <c:f>Sheet1!$C$2:$C$5</c:f>
              <c:numCache>
                <c:formatCode>General</c:formatCode>
                <c:ptCount val="4"/>
                <c:pt idx="0">
                  <c:v>0.93</c:v>
                </c:pt>
                <c:pt idx="1">
                  <c:v>1.03</c:v>
                </c:pt>
                <c:pt idx="2">
                  <c:v>1.12</c:v>
                </c:pt>
                <c:pt idx="3">
                  <c:v>1.15</c:v>
                </c:pt>
              </c:numCache>
            </c:numRef>
          </c:val>
        </c:ser>
        <c:ser>
          <c:idx val="2"/>
          <c:order val="2"/>
          <c:tx>
            <c:strRef>
              <c:f>Sheet1!$D$1</c:f>
              <c:strCache>
                <c:ptCount val="1"/>
                <c:pt idx="0">
                  <c:v>dot</c:v>
                </c:pt>
              </c:strCache>
            </c:strRef>
          </c:tx>
          <c:spPr>
            <a:solidFill>
              <a:srgbClr val="60A5FA"/>
            </a:solidFill>
            <a:effectLst/>
          </c:spPr>
          <c:invertIfNegative val="0"/>
          <c:dLbls>
            <c:numFmt formatCode="0.0&quot;x&quot;" sourceLinked="0"/>
            <c:txPr>
              <a:bodyPr/>
              <a:lstStyle/>
              <a:p>
                <a:pPr>
                  <a:defRPr b="0" i="0" strike="noStrike" sz="1000" u="none">
                    <a:solidFill>
                      <a:srgbClr val="0F172A"/>
                    </a:solidFill>
                    <a:latin typeface="+mn-lt"/>
                  </a:defRPr>
                </a:pPr>
              </a:p>
            </c:txPr>
            <c:showLegendKey val="0"/>
            <c:showVal val="1"/>
            <c:showCatName val="0"/>
            <c:showSerName val="0"/>
            <c:showPercent val="0"/>
            <c:showBubbleSize val="0"/>
            <c:showLeaderLines val="0"/>
          </c:dLbls>
          <c:cat>
            <c:multiLvlStrRef>
              <c:f>Sheet1!$A$2:$A$5</c:f>
              <c:multiLvlStrCache>
                <c:ptCount val="4"/>
                <c:lvl>
                  <c:pt idx="0">
                    <c:v>1</c:v>
                  </c:pt>
                  <c:pt idx="1">
                    <c:v>2</c:v>
                  </c:pt>
                  <c:pt idx="2">
                    <c:v>4</c:v>
                  </c:pt>
                  <c:pt idx="3">
                    <c:v>8</c:v>
                  </c:pt>
                </c:lvl>
              </c:multiLvlStrCache>
            </c:multiLvlStrRef>
          </c:cat>
          <c:val>
            <c:numRef>
              <c:f>Sheet1!$D$2:$D$5</c:f>
              <c:numCache>
                <c:formatCode>General</c:formatCode>
                <c:ptCount val="4"/>
                <c:pt idx="0">
                  <c:v>0.94</c:v>
                </c:pt>
                <c:pt idx="1">
                  <c:v>1.96</c:v>
                </c:pt>
                <c:pt idx="2">
                  <c:v>3.14</c:v>
                </c:pt>
                <c:pt idx="3">
                  <c:v>4.04</c:v>
                </c:pt>
              </c:numCache>
            </c:numRef>
          </c:val>
        </c:ser>
        <c:dLbls>
          <c:numFmt formatCode="0.0&quot;x&quot;" sourceLinked="0"/>
          <c:txPr>
            <a:bodyPr/>
            <a:lstStyle/>
            <a:p>
              <a:pPr>
                <a:defRPr b="0" i="0" strike="noStrike" sz="1000" u="none">
                  <a:solidFill>
                    <a:srgbClr val="0F172A"/>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title>
          <c:tx>
            <c:rich>
              <a:bodyPr/>
              <a:lstStyle/>
              <a:p>
                <a:pPr>
                  <a:defRPr sz="1200" b="0" i="0" u="none" strike="noStrike">
                    <a:solidFill>
                      <a:srgbClr val="0F172A"/>
                    </a:solidFill>
                    <a:latin typeface="+mn-lt"/>
                  </a:defRPr>
                </a:pPr>
                <a:r>
                  <a:rPr sz="1200" b="0" i="0" u="none" strike="noStrike">
                    <a:solidFill>
                      <a:srgbClr val="0F172A"/>
                    </a:solidFill>
                    <a:latin typeface="+mn-lt"/>
                  </a:rPr>
                  <a:t>threads</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F172A"/>
                </a:solidFill>
                <a:latin typeface="+mn-lt"/>
              </a:defRPr>
            </a:pPr>
            <a:endParaRPr lang="en-US"/>
          </a:p>
        </c:txPr>
        <c:crossAx val="2094734552"/>
        <c:crosses val="autoZero"/>
        <c:auto val="1"/>
        <c:lblAlgn val="ctr"/>
        <c:noMultiLvlLbl val="1"/>
      </c:catAx>
      <c:valAx>
        <c:axId val="2094734552"/>
        <c:scaling>
          <c:orientation val="minMax"/>
          <c:max val="5"/>
          <c:min val="0"/>
        </c:scaling>
        <c:delete val="0"/>
        <c:axPos val="l"/>
        <c:majorGridlines>
          <c:spPr>
            <a:ln w="9525"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0F172A"/>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200">
              <a:solidFill>
                <a:srgbClr val="0F172A"/>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1" i="0" u="none" strike="noStrike">
                <a:solidFill>
                  <a:srgbClr val="0F172A"/>
                </a:solidFill>
                <a:latin typeface="+mn-lt"/>
              </a:defRPr>
            </a:pPr>
            <a:r>
              <a:rPr sz="1400" b="1" i="0" u="none" strike="noStrike">
                <a:solidFill>
                  <a:srgbClr val="0F172A"/>
                </a:solidFill>
                <a:latin typeface="+mn-lt"/>
              </a:rPr>
              <a:t>100,000 elements: speed-up</a:t>
            </a:r>
          </a:p>
        </c:rich>
      </c:tx>
      <c:layout/>
      <c:overlay val="0"/>
    </c:title>
    <c:autoTitleDeleted val="0"/>
    <c:plotArea>
      <c:layout/>
      <c:barChart>
        <c:barDir val="col"/>
        <c:grouping val="clustered"/>
        <c:varyColors val="0"/>
        <c:ser>
          <c:idx val="0"/>
          <c:order val="0"/>
          <c:tx>
            <c:strRef>
              <c:f>Sheet1!$B$1</c:f>
              <c:strCache>
                <c:ptCount val="1"/>
                <c:pt idx="0">
                  <c:v>add</c:v>
                </c:pt>
              </c:strCache>
            </c:strRef>
          </c:tx>
          <c:spPr>
            <a:solidFill>
              <a:srgbClr val="2DD4BF"/>
            </a:solidFill>
            <a:effectLst/>
          </c:spPr>
          <c:invertIfNegative val="0"/>
          <c:dLbls>
            <c:numFmt formatCode="0.0&quot;x&quot;" sourceLinked="0"/>
            <c:txPr>
              <a:bodyPr/>
              <a:lstStyle/>
              <a:p>
                <a:pPr>
                  <a:defRPr b="0" i="0" strike="noStrike" sz="1000" u="none">
                    <a:solidFill>
                      <a:srgbClr val="0F172A"/>
                    </a:solidFill>
                    <a:latin typeface="+mn-lt"/>
                  </a:defRPr>
                </a:pPr>
              </a:p>
            </c:txPr>
            <c:showLegendKey val="0"/>
            <c:showVal val="1"/>
            <c:showCatName val="0"/>
            <c:showSerName val="0"/>
            <c:showPercent val="0"/>
            <c:showBubbleSize val="0"/>
            <c:showLeaderLines val="0"/>
          </c:dLbls>
          <c:cat>
            <c:multiLvlStrRef>
              <c:f>Sheet1!$A$2:$A$5</c:f>
              <c:multiLvlStrCache>
                <c:ptCount val="4"/>
                <c:lvl>
                  <c:pt idx="0">
                    <c:v>1</c:v>
                  </c:pt>
                  <c:pt idx="1">
                    <c:v>2</c:v>
                  </c:pt>
                  <c:pt idx="2">
                    <c:v>4</c:v>
                  </c:pt>
                  <c:pt idx="3">
                    <c:v>8</c:v>
                  </c:pt>
                </c:lvl>
              </c:multiLvlStrCache>
            </c:multiLvlStrRef>
          </c:cat>
          <c:val>
            <c:numRef>
              <c:f>Sheet1!$B$2:$B$5</c:f>
              <c:numCache>
                <c:formatCode>General</c:formatCode>
                <c:ptCount val="4"/>
                <c:pt idx="0">
                  <c:v>1</c:v>
                </c:pt>
                <c:pt idx="1">
                  <c:v>0.52</c:v>
                </c:pt>
                <c:pt idx="2">
                  <c:v>0.46</c:v>
                </c:pt>
                <c:pt idx="3">
                  <c:v>0.32</c:v>
                </c:pt>
              </c:numCache>
            </c:numRef>
          </c:val>
        </c:ser>
        <c:ser>
          <c:idx val="1"/>
          <c:order val="1"/>
          <c:tx>
            <c:strRef>
              <c:f>Sheet1!$C$1</c:f>
              <c:strCache>
                <c:ptCount val="1"/>
                <c:pt idx="0">
                  <c:v>mul</c:v>
                </c:pt>
              </c:strCache>
            </c:strRef>
          </c:tx>
          <c:spPr>
            <a:solidFill>
              <a:srgbClr val="FBBF24"/>
            </a:solidFill>
            <a:effectLst/>
          </c:spPr>
          <c:invertIfNegative val="0"/>
          <c:dLbls>
            <c:numFmt formatCode="0.0&quot;x&quot;" sourceLinked="0"/>
            <c:txPr>
              <a:bodyPr/>
              <a:lstStyle/>
              <a:p>
                <a:pPr>
                  <a:defRPr b="0" i="0" strike="noStrike" sz="1000" u="none">
                    <a:solidFill>
                      <a:srgbClr val="0F172A"/>
                    </a:solidFill>
                    <a:latin typeface="+mn-lt"/>
                  </a:defRPr>
                </a:pPr>
              </a:p>
            </c:txPr>
            <c:showLegendKey val="0"/>
            <c:showVal val="1"/>
            <c:showCatName val="0"/>
            <c:showSerName val="0"/>
            <c:showPercent val="0"/>
            <c:showBubbleSize val="0"/>
            <c:showLeaderLines val="0"/>
          </c:dLbls>
          <c:cat>
            <c:multiLvlStrRef>
              <c:f>Sheet1!$A$2:$A$5</c:f>
              <c:multiLvlStrCache>
                <c:ptCount val="4"/>
                <c:lvl>
                  <c:pt idx="0">
                    <c:v>1</c:v>
                  </c:pt>
                  <c:pt idx="1">
                    <c:v>2</c:v>
                  </c:pt>
                  <c:pt idx="2">
                    <c:v>4</c:v>
                  </c:pt>
                  <c:pt idx="3">
                    <c:v>8</c:v>
                  </c:pt>
                </c:lvl>
              </c:multiLvlStrCache>
            </c:multiLvlStrRef>
          </c:cat>
          <c:val>
            <c:numRef>
              <c:f>Sheet1!$C$2:$C$5</c:f>
              <c:numCache>
                <c:formatCode>General</c:formatCode>
                <c:ptCount val="4"/>
                <c:pt idx="0">
                  <c:v>1.01</c:v>
                </c:pt>
                <c:pt idx="1">
                  <c:v>0.51</c:v>
                </c:pt>
                <c:pt idx="2">
                  <c:v>0.42</c:v>
                </c:pt>
                <c:pt idx="3">
                  <c:v>0.3</c:v>
                </c:pt>
              </c:numCache>
            </c:numRef>
          </c:val>
        </c:ser>
        <c:ser>
          <c:idx val="2"/>
          <c:order val="2"/>
          <c:tx>
            <c:strRef>
              <c:f>Sheet1!$D$1</c:f>
              <c:strCache>
                <c:ptCount val="1"/>
                <c:pt idx="0">
                  <c:v>dot</c:v>
                </c:pt>
              </c:strCache>
            </c:strRef>
          </c:tx>
          <c:spPr>
            <a:solidFill>
              <a:srgbClr val="60A5FA"/>
            </a:solidFill>
            <a:effectLst/>
          </c:spPr>
          <c:invertIfNegative val="0"/>
          <c:dLbls>
            <c:numFmt formatCode="0.0&quot;x&quot;" sourceLinked="0"/>
            <c:txPr>
              <a:bodyPr/>
              <a:lstStyle/>
              <a:p>
                <a:pPr>
                  <a:defRPr b="0" i="0" strike="noStrike" sz="1000" u="none">
                    <a:solidFill>
                      <a:srgbClr val="0F172A"/>
                    </a:solidFill>
                    <a:latin typeface="+mn-lt"/>
                  </a:defRPr>
                </a:pPr>
              </a:p>
            </c:txPr>
            <c:showLegendKey val="0"/>
            <c:showVal val="1"/>
            <c:showCatName val="0"/>
            <c:showSerName val="0"/>
            <c:showPercent val="0"/>
            <c:showBubbleSize val="0"/>
            <c:showLeaderLines val="0"/>
          </c:dLbls>
          <c:cat>
            <c:multiLvlStrRef>
              <c:f>Sheet1!$A$2:$A$5</c:f>
              <c:multiLvlStrCache>
                <c:ptCount val="4"/>
                <c:lvl>
                  <c:pt idx="0">
                    <c:v>1</c:v>
                  </c:pt>
                  <c:pt idx="1">
                    <c:v>2</c:v>
                  </c:pt>
                  <c:pt idx="2">
                    <c:v>4</c:v>
                  </c:pt>
                  <c:pt idx="3">
                    <c:v>8</c:v>
                  </c:pt>
                </c:lvl>
              </c:multiLvlStrCache>
            </c:multiLvlStrRef>
          </c:cat>
          <c:val>
            <c:numRef>
              <c:f>Sheet1!$D$2:$D$5</c:f>
              <c:numCache>
                <c:formatCode>General</c:formatCode>
                <c:ptCount val="4"/>
                <c:pt idx="0">
                  <c:v>0.86</c:v>
                </c:pt>
                <c:pt idx="1">
                  <c:v>1.15</c:v>
                </c:pt>
                <c:pt idx="2">
                  <c:v>1.58</c:v>
                </c:pt>
                <c:pt idx="3">
                  <c:v>1.42</c:v>
                </c:pt>
              </c:numCache>
            </c:numRef>
          </c:val>
        </c:ser>
        <c:dLbls>
          <c:numFmt formatCode="0.0&quot;x&quot;" sourceLinked="0"/>
          <c:txPr>
            <a:bodyPr/>
            <a:lstStyle/>
            <a:p>
              <a:pPr>
                <a:defRPr b="0" i="0" strike="noStrike" sz="1000" u="none">
                  <a:solidFill>
                    <a:srgbClr val="0F172A"/>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title>
          <c:tx>
            <c:rich>
              <a:bodyPr/>
              <a:lstStyle/>
              <a:p>
                <a:pPr>
                  <a:defRPr sz="1200" b="0" i="0" u="none" strike="noStrike">
                    <a:solidFill>
                      <a:srgbClr val="0F172A"/>
                    </a:solidFill>
                    <a:latin typeface="+mn-lt"/>
                  </a:defRPr>
                </a:pPr>
                <a:r>
                  <a:rPr sz="1200" b="0" i="0" u="none" strike="noStrike">
                    <a:solidFill>
                      <a:srgbClr val="0F172A"/>
                    </a:solidFill>
                    <a:latin typeface="+mn-lt"/>
                  </a:rPr>
                  <a:t>threads</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F172A"/>
                </a:solidFill>
                <a:latin typeface="+mn-lt"/>
              </a:defRPr>
            </a:pPr>
            <a:endParaRPr lang="en-US"/>
          </a:p>
        </c:txPr>
        <c:crossAx val="2094734552"/>
        <c:crosses val="autoZero"/>
        <c:auto val="1"/>
        <c:lblAlgn val="ctr"/>
        <c:noMultiLvlLbl val="1"/>
      </c:catAx>
      <c:valAx>
        <c:axId val="2094734552"/>
        <c:scaling>
          <c:orientation val="minMax"/>
          <c:max val="2"/>
          <c:min val="0"/>
        </c:scaling>
        <c:delete val="0"/>
        <c:axPos val="l"/>
        <c:majorGridlines>
          <c:spPr>
            <a:ln w="9525"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0F172A"/>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200">
              <a:solidFill>
                <a:srgbClr val="0F172A"/>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1" i="0" u="none" strike="noStrike">
                <a:solidFill>
                  <a:srgbClr val="0F172A"/>
                </a:solidFill>
                <a:latin typeface="+mn-lt"/>
              </a:defRPr>
            </a:pPr>
            <a:r>
              <a:rPr sz="1400" b="1" i="0" u="none" strike="noStrike">
                <a:solidFill>
                  <a:srgbClr val="0F172A"/>
                </a:solidFill>
                <a:latin typeface="+mn-lt"/>
              </a:rPr>
              <a:t>GFLOP/s (higher is better)</a:t>
            </a:r>
          </a:p>
        </c:rich>
      </c:tx>
      <c:layout/>
      <c:overlay val="0"/>
    </c:title>
    <c:autoTitleDeleted val="0"/>
    <c:plotArea>
      <c:layout/>
      <c:barChart>
        <c:barDir val="col"/>
        <c:grouping val="clustered"/>
        <c:varyColors val="0"/>
        <c:ser>
          <c:idx val="0"/>
          <c:order val="0"/>
          <c:tx>
            <c:strRef>
              <c:f>Sheet1!$B$1</c:f>
              <c:strCache>
                <c:ptCount val="1"/>
                <c:pt idx="0">
                  <c:v>sequential</c:v>
                </c:pt>
              </c:strCache>
            </c:strRef>
          </c:tx>
          <c:spPr>
            <a:solidFill>
              <a:srgbClr val="94A3B8"/>
            </a:solidFill>
            <a:effectLst/>
          </c:spPr>
          <c:invertIfNegative val="0"/>
          <c:dLbls>
            <c:numFmt formatCode="0" sourceLinked="0"/>
            <c:txPr>
              <a:bodyPr/>
              <a:lstStyle/>
              <a:p>
                <a:pPr>
                  <a:defRPr b="0" i="0" strike="noStrike" sz="1100" u="none">
                    <a:solidFill>
                      <a:srgbClr val="0F172A"/>
                    </a:solidFill>
                    <a:latin typeface="+mn-lt"/>
                  </a:defRPr>
                </a:pPr>
              </a:p>
            </c:txPr>
            <c:showLegendKey val="0"/>
            <c:showVal val="1"/>
            <c:showCatName val="0"/>
            <c:showSerName val="0"/>
            <c:showPercent val="0"/>
            <c:showBubbleSize val="0"/>
            <c:showLeaderLines val="0"/>
          </c:dLbls>
          <c:cat>
            <c:multiLvlStrRef>
              <c:f>Sheet1!$A$2:$A$5</c:f>
              <c:multiLvlStrCache>
                <c:ptCount val="4"/>
                <c:lvl>
                  <c:pt idx="0">
                    <c:v>128</c:v>
                  </c:pt>
                  <c:pt idx="1">
                    <c:v>256</c:v>
                  </c:pt>
                  <c:pt idx="2">
                    <c:v>512</c:v>
                  </c:pt>
                  <c:pt idx="3">
                    <c:v>1024</c:v>
                  </c:pt>
                </c:lvl>
              </c:multiLvlStrCache>
            </c:multiLvlStrRef>
          </c:cat>
          <c:val>
            <c:numRef>
              <c:f>Sheet1!$B$2:$B$5</c:f>
              <c:numCache>
                <c:formatCode>General</c:formatCode>
                <c:ptCount val="4"/>
                <c:pt idx="0">
                  <c:v>10.7</c:v>
                </c:pt>
                <c:pt idx="1">
                  <c:v>11</c:v>
                </c:pt>
                <c:pt idx="2">
                  <c:v>11.1</c:v>
                </c:pt>
                <c:pt idx="3">
                  <c:v>8.7</c:v>
                </c:pt>
              </c:numCache>
            </c:numRef>
          </c:val>
        </c:ser>
        <c:ser>
          <c:idx val="1"/>
          <c:order val="1"/>
          <c:tx>
            <c:strRef>
              <c:f>Sheet1!$C$1</c:f>
              <c:strCache>
                <c:ptCount val="1"/>
                <c:pt idx="0">
                  <c:v>blocked, 1 thread</c:v>
                </c:pt>
              </c:strCache>
            </c:strRef>
          </c:tx>
          <c:spPr>
            <a:solidFill>
              <a:srgbClr val="60A5FA"/>
            </a:solidFill>
            <a:effectLst/>
          </c:spPr>
          <c:invertIfNegative val="0"/>
          <c:dLbls>
            <c:numFmt formatCode="0" sourceLinked="0"/>
            <c:txPr>
              <a:bodyPr/>
              <a:lstStyle/>
              <a:p>
                <a:pPr>
                  <a:defRPr b="0" i="0" strike="noStrike" sz="1100" u="none">
                    <a:solidFill>
                      <a:srgbClr val="0F172A"/>
                    </a:solidFill>
                    <a:latin typeface="+mn-lt"/>
                  </a:defRPr>
                </a:pPr>
              </a:p>
            </c:txPr>
            <c:showLegendKey val="0"/>
            <c:showVal val="1"/>
            <c:showCatName val="0"/>
            <c:showSerName val="0"/>
            <c:showPercent val="0"/>
            <c:showBubbleSize val="0"/>
            <c:showLeaderLines val="0"/>
          </c:dLbls>
          <c:cat>
            <c:multiLvlStrRef>
              <c:f>Sheet1!$A$2:$A$5</c:f>
              <c:multiLvlStrCache>
                <c:ptCount val="4"/>
                <c:lvl>
                  <c:pt idx="0">
                    <c:v>128</c:v>
                  </c:pt>
                  <c:pt idx="1">
                    <c:v>256</c:v>
                  </c:pt>
                  <c:pt idx="2">
                    <c:v>512</c:v>
                  </c:pt>
                  <c:pt idx="3">
                    <c:v>1024</c:v>
                  </c:pt>
                </c:lvl>
              </c:multiLvlStrCache>
            </c:multiLvlStrRef>
          </c:cat>
          <c:val>
            <c:numRef>
              <c:f>Sheet1!$C$2:$C$5</c:f>
              <c:numCache>
                <c:formatCode>General</c:formatCode>
                <c:ptCount val="4"/>
                <c:pt idx="0">
                  <c:v>10.5</c:v>
                </c:pt>
                <c:pt idx="1">
                  <c:v>11.1</c:v>
                </c:pt>
                <c:pt idx="2">
                  <c:v>12.5</c:v>
                </c:pt>
                <c:pt idx="3">
                  <c:v>10.3</c:v>
                </c:pt>
              </c:numCache>
            </c:numRef>
          </c:val>
        </c:ser>
        <c:ser>
          <c:idx val="2"/>
          <c:order val="2"/>
          <c:tx>
            <c:strRef>
              <c:f>Sheet1!$D$1</c:f>
              <c:strCache>
                <c:ptCount val="1"/>
                <c:pt idx="0">
                  <c:v>4 threads</c:v>
                </c:pt>
              </c:strCache>
            </c:strRef>
          </c:tx>
          <c:spPr>
            <a:solidFill>
              <a:srgbClr val="2DD4BF"/>
            </a:solidFill>
            <a:effectLst/>
          </c:spPr>
          <c:invertIfNegative val="0"/>
          <c:dLbls>
            <c:numFmt formatCode="0" sourceLinked="0"/>
            <c:txPr>
              <a:bodyPr/>
              <a:lstStyle/>
              <a:p>
                <a:pPr>
                  <a:defRPr b="0" i="0" strike="noStrike" sz="1100" u="none">
                    <a:solidFill>
                      <a:srgbClr val="0F172A"/>
                    </a:solidFill>
                    <a:latin typeface="+mn-lt"/>
                  </a:defRPr>
                </a:pPr>
              </a:p>
            </c:txPr>
            <c:showLegendKey val="0"/>
            <c:showVal val="1"/>
            <c:showCatName val="0"/>
            <c:showSerName val="0"/>
            <c:showPercent val="0"/>
            <c:showBubbleSize val="0"/>
            <c:showLeaderLines val="0"/>
          </c:dLbls>
          <c:cat>
            <c:multiLvlStrRef>
              <c:f>Sheet1!$A$2:$A$5</c:f>
              <c:multiLvlStrCache>
                <c:ptCount val="4"/>
                <c:lvl>
                  <c:pt idx="0">
                    <c:v>128</c:v>
                  </c:pt>
                  <c:pt idx="1">
                    <c:v>256</c:v>
                  </c:pt>
                  <c:pt idx="2">
                    <c:v>512</c:v>
                  </c:pt>
                  <c:pt idx="3">
                    <c:v>1024</c:v>
                  </c:pt>
                </c:lvl>
              </c:multiLvlStrCache>
            </c:multiLvlStrRef>
          </c:cat>
          <c:val>
            <c:numRef>
              <c:f>Sheet1!$D$2:$D$5</c:f>
              <c:numCache>
                <c:formatCode>General</c:formatCode>
                <c:ptCount val="4"/>
                <c:pt idx="0">
                  <c:v>30.8</c:v>
                </c:pt>
                <c:pt idx="1">
                  <c:v>40.4</c:v>
                </c:pt>
                <c:pt idx="2">
                  <c:v>44.4</c:v>
                </c:pt>
                <c:pt idx="3">
                  <c:v>30.9</c:v>
                </c:pt>
              </c:numCache>
            </c:numRef>
          </c:val>
        </c:ser>
        <c:ser>
          <c:idx val="3"/>
          <c:order val="3"/>
          <c:tx>
            <c:strRef>
              <c:f>Sheet1!$E$1</c:f>
              <c:strCache>
                <c:ptCount val="1"/>
                <c:pt idx="0">
                  <c:v>8 threads</c:v>
                </c:pt>
              </c:strCache>
            </c:strRef>
          </c:tx>
          <c:spPr>
            <a:solidFill>
              <a:srgbClr val="FBBF24"/>
            </a:solidFill>
            <a:effectLst/>
          </c:spPr>
          <c:invertIfNegative val="0"/>
          <c:dLbls>
            <c:numFmt formatCode="0" sourceLinked="0"/>
            <c:txPr>
              <a:bodyPr/>
              <a:lstStyle/>
              <a:p>
                <a:pPr>
                  <a:defRPr b="0" i="0" strike="noStrike" sz="1100" u="none">
                    <a:solidFill>
                      <a:srgbClr val="0F172A"/>
                    </a:solidFill>
                    <a:latin typeface="+mn-lt"/>
                  </a:defRPr>
                </a:pPr>
              </a:p>
            </c:txPr>
            <c:showLegendKey val="0"/>
            <c:showVal val="1"/>
            <c:showCatName val="0"/>
            <c:showSerName val="0"/>
            <c:showPercent val="0"/>
            <c:showBubbleSize val="0"/>
            <c:showLeaderLines val="0"/>
          </c:dLbls>
          <c:cat>
            <c:multiLvlStrRef>
              <c:f>Sheet1!$A$2:$A$5</c:f>
              <c:multiLvlStrCache>
                <c:ptCount val="4"/>
                <c:lvl>
                  <c:pt idx="0">
                    <c:v>128</c:v>
                  </c:pt>
                  <c:pt idx="1">
                    <c:v>256</c:v>
                  </c:pt>
                  <c:pt idx="2">
                    <c:v>512</c:v>
                  </c:pt>
                  <c:pt idx="3">
                    <c:v>1024</c:v>
                  </c:pt>
                </c:lvl>
              </c:multiLvlStrCache>
            </c:multiLvlStrRef>
          </c:cat>
          <c:val>
            <c:numRef>
              <c:f>Sheet1!$E$2:$E$5</c:f>
              <c:numCache>
                <c:formatCode>General</c:formatCode>
                <c:ptCount val="4"/>
                <c:pt idx="0">
                  <c:v>26.8</c:v>
                </c:pt>
                <c:pt idx="1">
                  <c:v>38.1</c:v>
                </c:pt>
                <c:pt idx="2">
                  <c:v>41.9</c:v>
                </c:pt>
                <c:pt idx="3">
                  <c:v>37.3</c:v>
                </c:pt>
              </c:numCache>
            </c:numRef>
          </c:val>
        </c:ser>
        <c:dLbls>
          <c:numFmt formatCode="0" sourceLinked="0"/>
          <c:txPr>
            <a:bodyPr/>
            <a:lstStyle/>
            <a:p>
              <a:pPr>
                <a:defRPr b="0" i="0" strike="noStrike" sz="1100" u="none">
                  <a:solidFill>
                    <a:srgbClr val="0F172A"/>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title>
          <c:tx>
            <c:rich>
              <a:bodyPr/>
              <a:lstStyle/>
              <a:p>
                <a:pPr>
                  <a:defRPr sz="1200" b="0" i="0" u="none" strike="noStrike">
                    <a:solidFill>
                      <a:srgbClr val="0F172A"/>
                    </a:solidFill>
                    <a:latin typeface="+mn-lt"/>
                  </a:defRPr>
                </a:pPr>
                <a:r>
                  <a:rPr sz="1200" b="0" i="0" u="none" strike="noStrike">
                    <a:solidFill>
                      <a:srgbClr val="0F172A"/>
                    </a:solidFill>
                    <a:latin typeface="+mn-lt"/>
                  </a:rPr>
                  <a:t>matrix size n (n x n)</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F172A"/>
                </a:solidFill>
                <a:latin typeface="+mn-lt"/>
              </a:defRPr>
            </a:pPr>
            <a:endParaRPr lang="en-US"/>
          </a:p>
        </c:txPr>
        <c:crossAx val="2094734552"/>
        <c:crosses val="autoZero"/>
        <c:auto val="1"/>
        <c:lblAlgn val="ctr"/>
        <c:noMultiLvlLbl val="1"/>
      </c:catAx>
      <c:valAx>
        <c:axId val="2094734552"/>
        <c:scaling>
          <c:orientation val="minMax"/>
          <c:max val="55"/>
          <c:min val="0"/>
        </c:scaling>
        <c:delete val="0"/>
        <c:axPos val="l"/>
        <c:majorGridlines>
          <c:spPr>
            <a:ln w="9525"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0F172A"/>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200">
              <a:solidFill>
                <a:srgbClr val="0F172A"/>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Overview of how the CPU kernels run in parallel: the helper in parallel.hpp, the block split, the reduction, and the measured results. The four thread colours used here repeat on every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public call goes through validation and the dispatcher to a CPU kernel. Only the kernel layer touches OpenMP, and only through parallel_for / parallel_sum in parallel.hpp.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sequential versions are separate implementations: one plain loop each, no OpenMP and no parallel_for (src/backends/cpu/sequential.cpp). Every benchmark speed-up in this deck is sequential time divided by parallel time. tests/ops/sequential_test.cpp checks that both implementations give the same results.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With n = 100 and 4 threads the raw chunk is 25, rounded up to 32, so the last thread only gets 4 elements. With n = 20 two threads get nothing, which is fine: they skip.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real block_range from parallel.hpp. Thread id of threads gets [begin, end). The rounding to 16 floats keeps block edges on 64-byte cache lines.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two threads write different floats that live in the same 64-byte cache line, the line bounces between their cores. Rounding block sizes to 16 floats makes every block start on a line boundary.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Simplified excerpt of parallel_for: begin/end are shortened to b/e. The kernel supplies only the inner loop; the pragma lives in one place.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shared sum would be a data race. Instead each thread returns a partial; the main thread adds them. dot accumulates in double so the result stays close to the exact sum.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sequential version is the plain i-k-j loop. The parallel kernel works on blocks of 256 columns by 128 depth, small enough to stay in cache, and splits the rows of C between threads. Every entry of C still sums its products in the same order as the sequential loop, so the result does not depend on the thread count.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why parallel_for has a cutoff: below it the kernel runs serially. Our current cutoff (32,768 elements) is too low: at 100,000 elements the threaded version was slower than serial on this laptop.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Speed-up is the sequential implementation's time divided by the parallel kernel's time, so 1.0x means no gain and below 1.0x means slower. Left: at 10 million elements dot reaches about 4x with 8 threads; add and mul barely move because they are limited by memory bandwidth. Right: at 100,000 elements add and mul get slower with more threads, so the cutoff is too low. Numbers are the average of two runs on the team laptop (on battery, so noisy). The Ryzen desktop results are pending a rerun with this benchmark.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GFLOP/s for square float32 matrices, from benchmarks/blas/matmul_benchmark.cpp on the team laptop. The sequential bar is the plain i-k-j loop; the blocked one-thread bar isolates what cache blocking buys; the 4 and 8 thread bars add the threads. The next step for speed is a register-tiled micro-kernel, because the current inner loop is limited by loads and stores, not by arithmetic.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ratios compare the parallel kernels with the separate sequential implementation. dot gains the most because it is limited by computation: every product is accumulated in double precision. Elementwise ops are limited by memory bandwidth. matmul scales about as well as dot (3.5 to 4.3x) but runs far below the CPU's peak speed. Next: rerun on the desktop, tune the cutoff from finer sizes, parallelise the strided gather, and write a register-tiled matmul kernel.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_TITLE">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chemeClr val="tx1"/>
          </a:solidFill>
          <a:ln/>
        </p:spPr>
      </p:sp>
      <p:sp>
        <p:nvSpPr>
          <p:cNvPr id="3" name="Text 1"/>
          <p:cNvSpPr/>
          <p:nvPr>
            <p:ph idx="101" type="title" hasCustomPrompt="1"/>
          </p:nvPr>
        </p:nvSpPr>
        <p:spPr>
          <a:xfrm>
            <a:off x="548640" y="731520"/>
            <a:ext cx="8046720" cy="1554480"/>
          </a:xfrm>
          <a:prstGeom prst="rect">
            <a:avLst/>
          </a:prstGeom>
          <a:noFill/>
          <a:ln/>
        </p:spPr>
        <p:txBody>
          <a:bodyPr wrap="square" rtlCol="0"/>
          <a:lstStyle>
            <a:lvl1pPr algn="l" indent="0" marL="0">
              <a:buNone/>
              <a:defRPr lang="en-US" sz="4400" b="1" dirty="0">
                <a:solidFill>
                  <a:schemeClr val="bg1"/>
                </a:solidFill>
              </a:defRPr>
            </a:lvl1pPr>
          </a:lstStyle>
          <a:p>
            <a:pPr algn="l" indent="0" marL="0">
              <a:buNone/>
            </a:pPr>
            <a:endParaRPr lang="en-US" sz="4400" dirty="0"/>
          </a:p>
        </p:txBody>
      </p:sp>
      <p:sp>
        <p:nvSpPr>
          <p:cNvPr id="4" name="Text 1"/>
          <p:cNvSpPr/>
          <p:nvPr>
            <p:ph idx="102" type="body" hasCustomPrompt="1"/>
          </p:nvPr>
        </p:nvSpPr>
        <p:spPr>
          <a:xfrm>
            <a:off x="548640" y="2423160"/>
            <a:ext cx="8046720" cy="548640"/>
          </a:xfrm>
          <a:prstGeom prst="rect">
            <a:avLst/>
          </a:prstGeom>
          <a:noFill/>
          <a:ln/>
        </p:spPr>
        <p:txBody>
          <a:bodyPr wrap="square" rtlCol="0"/>
          <a:lstStyle>
            <a:lvl1pPr algn="l" indent="0" marL="0">
              <a:buNone/>
              <a:defRPr lang="en-US" sz="1800" dirty="0">
                <a:solidFill>
                  <a:schemeClr val="bg2"/>
                </a:solidFill>
              </a:defRPr>
            </a:lvl1pPr>
          </a:lstStyle>
          <a:p>
            <a:pPr algn="l" indent="0" marL="0">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rtlCol="0"/>
          <a:lstStyle>
            <a:lvl1pPr algn="l" indent="0" marL="0">
              <a:buNone/>
              <a:defRPr lang="en-US" sz="3400" b="1" dirty="0">
                <a:solidFill>
                  <a:schemeClr val="tx1"/>
                </a:solidFill>
              </a:defRPr>
            </a:lvl1pPr>
          </a:lstStyle>
          <a:p>
            <a:pPr algn="l" indent="0" marL="0">
              <a:buNone/>
            </a:pPr>
            <a:endParaRPr lang="en-US" sz="3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DARK_CONTENT">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chemeClr val="tx1"/>
          </a:solidFill>
          <a:ln/>
        </p:spPr>
      </p:sp>
      <p:sp>
        <p:nvSpPr>
          <p:cNvPr id="3" name="Text 1"/>
          <p:cNvSpPr/>
          <p:nvPr>
            <p:ph idx="101" type="title" hasCustomPrompt="1"/>
          </p:nvPr>
        </p:nvSpPr>
        <p:spPr>
          <a:xfrm>
            <a:off x="457200" y="274320"/>
            <a:ext cx="8229600" cy="731520"/>
          </a:xfrm>
          <a:prstGeom prst="rect">
            <a:avLst/>
          </a:prstGeom>
          <a:noFill/>
          <a:ln/>
        </p:spPr>
        <p:txBody>
          <a:bodyPr wrap="square" rtlCol="0"/>
          <a:lstStyle>
            <a:lvl1pPr algn="l" indent="0" marL="0">
              <a:buNone/>
              <a:defRPr lang="en-US" sz="3400" b="1" dirty="0">
                <a:solidFill>
                  <a:schemeClr val="bg1"/>
                </a:solidFill>
              </a:defRPr>
            </a:lvl1pPr>
          </a:lstStyle>
          <a:p>
            <a:pPr algn="l" indent="0" marL="0">
              <a:buNone/>
            </a:pPr>
            <a:endParaRPr lang="en-US" sz="3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chart" Target="/ppt/charts/chart2.xml"/><Relationship Id="rId3" Type="http://schemas.openxmlformats.org/officeDocument/2006/relationships/slideLayout" Target="../slideLayouts/slideLayout3.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3.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1"/>
          <p:cNvSpPr/>
          <p:nvPr>
            <p:ph idx="101" type="title" hasCustomPrompt="1"/>
          </p:nvPr>
        </p:nvSpPr>
        <p:spPr>
          <a:xfrm>
            <a:off x="548640" y="731520"/>
            <a:ext cx="8046720" cy="1554480"/>
          </a:xfrm>
          <a:prstGeom prst="rect">
            <a:avLst/>
          </a:prstGeom>
          <a:noFill/>
          <a:ln/>
        </p:spPr>
        <p:txBody>
          <a:bodyPr wrap="square" lIns="0" tIns="0" rIns="0" bIns="0" rtlCol="0" anchor="b"/>
          <a:lstStyle/>
          <a:p>
            <a:pPr algn="l" indent="0" marL="0">
              <a:buNone/>
            </a:pPr>
            <a:r>
              <a:rPr lang="en-US" sz="4400" b="1" dirty="0">
                <a:solidFill>
                  <a:schemeClr val="bg1"/>
                </a:solidFill>
              </a:rPr>
              <a:t>Parallelising the CPU kernels</a:t>
            </a:r>
            <a:endParaRPr lang="en-US" sz="4400" dirty="0"/>
          </a:p>
        </p:txBody>
      </p:sp>
      <p:sp>
        <p:nvSpPr>
          <p:cNvPr id="3" name="Text 1"/>
          <p:cNvSpPr/>
          <p:nvPr>
            <p:ph idx="102" type="body" hasCustomPrompt="1"/>
          </p:nvPr>
        </p:nvSpPr>
        <p:spPr>
          <a:xfrm>
            <a:off x="548640" y="2423160"/>
            <a:ext cx="8046720" cy="548640"/>
          </a:xfrm>
          <a:prstGeom prst="rect">
            <a:avLst/>
          </a:prstGeom>
          <a:noFill/>
          <a:ln/>
        </p:spPr>
        <p:txBody>
          <a:bodyPr wrap="square" lIns="0" tIns="0" rIns="0" bIns="0" rtlCol="0" anchor="t"/>
          <a:lstStyle/>
          <a:p>
            <a:pPr algn="l" indent="0" marL="0">
              <a:buNone/>
            </a:pPr>
            <a:r>
              <a:rPr lang="en-US" sz="1800" dirty="0">
                <a:solidFill>
                  <a:schemeClr val="bg2"/>
                </a:solidFill>
              </a:rPr>
              <a:t>mensurflow: sequential vs parallel add, mul and dot</a:t>
            </a:r>
            <a:endParaRPr lang="en-US" sz="1800" dirty="0"/>
          </a:p>
        </p:txBody>
      </p:sp>
      <p:sp>
        <p:nvSpPr>
          <p:cNvPr id="4" name="Thread 0 block"/>
          <p:cNvSpPr/>
          <p:nvPr/>
        </p:nvSpPr>
        <p:spPr>
          <a:xfrm>
            <a:off x="548640" y="3383280"/>
            <a:ext cx="1943100" cy="548640"/>
          </a:xfrm>
          <a:prstGeom prst="rect">
            <a:avLst/>
          </a:prstGeom>
          <a:solidFill>
            <a:schemeClr val="accent1"/>
          </a:solidFill>
          <a:ln/>
        </p:spPr>
      </p:sp>
      <p:sp>
        <p:nvSpPr>
          <p:cNvPr id="5" name="Thread 0 label"/>
          <p:cNvSpPr txBox="1"/>
          <p:nvPr/>
        </p:nvSpPr>
        <p:spPr>
          <a:xfrm>
            <a:off x="548640" y="3383280"/>
            <a:ext cx="1943100" cy="548640"/>
          </a:xfrm>
          <a:prstGeom prst="rect">
            <a:avLst/>
          </a:prstGeom>
          <a:noFill/>
          <a:ln/>
        </p:spPr>
        <p:txBody>
          <a:bodyPr wrap="square" lIns="0" tIns="0" rIns="0" bIns="0" rtlCol="0" anchor="ctr"/>
          <a:lstStyle/>
          <a:p>
            <a:pPr algn="ctr" indent="0" marL="0">
              <a:buNone/>
            </a:pPr>
            <a:r>
              <a:rPr lang="en-US" sz="1600" b="1" dirty="0">
                <a:solidFill>
                  <a:schemeClr val="tx1"/>
                </a:solidFill>
              </a:rPr>
              <a:t>thread 0</a:t>
            </a:r>
            <a:endParaRPr lang="en-US" sz="1600" dirty="0"/>
          </a:p>
        </p:txBody>
      </p:sp>
      <p:sp>
        <p:nvSpPr>
          <p:cNvPr id="6" name="Thread 1 block"/>
          <p:cNvSpPr/>
          <p:nvPr/>
        </p:nvSpPr>
        <p:spPr>
          <a:xfrm>
            <a:off x="2583180" y="3383280"/>
            <a:ext cx="1943100" cy="548640"/>
          </a:xfrm>
          <a:prstGeom prst="rect">
            <a:avLst/>
          </a:prstGeom>
          <a:solidFill>
            <a:schemeClr val="accent2"/>
          </a:solidFill>
          <a:ln/>
        </p:spPr>
      </p:sp>
      <p:sp>
        <p:nvSpPr>
          <p:cNvPr id="7" name="Thread 1 label"/>
          <p:cNvSpPr txBox="1"/>
          <p:nvPr/>
        </p:nvSpPr>
        <p:spPr>
          <a:xfrm>
            <a:off x="2583180" y="3383280"/>
            <a:ext cx="1943100" cy="548640"/>
          </a:xfrm>
          <a:prstGeom prst="rect">
            <a:avLst/>
          </a:prstGeom>
          <a:noFill/>
          <a:ln/>
        </p:spPr>
        <p:txBody>
          <a:bodyPr wrap="square" lIns="0" tIns="0" rIns="0" bIns="0" rtlCol="0" anchor="ctr"/>
          <a:lstStyle/>
          <a:p>
            <a:pPr algn="ctr" indent="0" marL="0">
              <a:buNone/>
            </a:pPr>
            <a:r>
              <a:rPr lang="en-US" sz="1600" b="1" dirty="0">
                <a:solidFill>
                  <a:schemeClr val="tx1"/>
                </a:solidFill>
              </a:rPr>
              <a:t>thread 1</a:t>
            </a:r>
            <a:endParaRPr lang="en-US" sz="1600" dirty="0"/>
          </a:p>
        </p:txBody>
      </p:sp>
      <p:sp>
        <p:nvSpPr>
          <p:cNvPr id="8" name="Thread 2 block"/>
          <p:cNvSpPr/>
          <p:nvPr/>
        </p:nvSpPr>
        <p:spPr>
          <a:xfrm>
            <a:off x="4617720" y="3383280"/>
            <a:ext cx="1943100" cy="548640"/>
          </a:xfrm>
          <a:prstGeom prst="rect">
            <a:avLst/>
          </a:prstGeom>
          <a:solidFill>
            <a:schemeClr val="accent3"/>
          </a:solidFill>
          <a:ln/>
        </p:spPr>
      </p:sp>
      <p:sp>
        <p:nvSpPr>
          <p:cNvPr id="9" name="Thread 2 label"/>
          <p:cNvSpPr txBox="1"/>
          <p:nvPr/>
        </p:nvSpPr>
        <p:spPr>
          <a:xfrm>
            <a:off x="4617720" y="3383280"/>
            <a:ext cx="1943100" cy="548640"/>
          </a:xfrm>
          <a:prstGeom prst="rect">
            <a:avLst/>
          </a:prstGeom>
          <a:noFill/>
          <a:ln/>
        </p:spPr>
        <p:txBody>
          <a:bodyPr wrap="square" lIns="0" tIns="0" rIns="0" bIns="0" rtlCol="0" anchor="ctr"/>
          <a:lstStyle/>
          <a:p>
            <a:pPr algn="ctr" indent="0" marL="0">
              <a:buNone/>
            </a:pPr>
            <a:r>
              <a:rPr lang="en-US" sz="1600" b="1" dirty="0">
                <a:solidFill>
                  <a:schemeClr val="tx1"/>
                </a:solidFill>
              </a:rPr>
              <a:t>thread 2</a:t>
            </a:r>
            <a:endParaRPr lang="en-US" sz="1600" dirty="0"/>
          </a:p>
        </p:txBody>
      </p:sp>
      <p:sp>
        <p:nvSpPr>
          <p:cNvPr id="10" name="Thread 3 block"/>
          <p:cNvSpPr/>
          <p:nvPr/>
        </p:nvSpPr>
        <p:spPr>
          <a:xfrm>
            <a:off x="6652260" y="3383280"/>
            <a:ext cx="1943100" cy="548640"/>
          </a:xfrm>
          <a:prstGeom prst="rect">
            <a:avLst/>
          </a:prstGeom>
          <a:solidFill>
            <a:schemeClr val="accent4"/>
          </a:solidFill>
          <a:ln/>
        </p:spPr>
      </p:sp>
      <p:sp>
        <p:nvSpPr>
          <p:cNvPr id="11" name="Thread 3 label"/>
          <p:cNvSpPr txBox="1"/>
          <p:nvPr/>
        </p:nvSpPr>
        <p:spPr>
          <a:xfrm>
            <a:off x="6652260" y="3383280"/>
            <a:ext cx="1943100" cy="548640"/>
          </a:xfrm>
          <a:prstGeom prst="rect">
            <a:avLst/>
          </a:prstGeom>
          <a:noFill/>
          <a:ln/>
        </p:spPr>
        <p:txBody>
          <a:bodyPr wrap="square" lIns="0" tIns="0" rIns="0" bIns="0" rtlCol="0" anchor="ctr"/>
          <a:lstStyle/>
          <a:p>
            <a:pPr algn="ctr" indent="0" marL="0">
              <a:buNone/>
            </a:pPr>
            <a:r>
              <a:rPr lang="en-US" sz="1600" b="1" dirty="0">
                <a:solidFill>
                  <a:schemeClr val="tx1"/>
                </a:solidFill>
              </a:rPr>
              <a:t>thread 3</a:t>
            </a:r>
            <a:endParaRPr lang="en-US" sz="1600" dirty="0"/>
          </a:p>
        </p:txBody>
      </p:sp>
      <p:sp>
        <p:nvSpPr>
          <p:cNvPr id="12" name="Caption"/>
          <p:cNvSpPr txBox="1"/>
          <p:nvPr/>
        </p:nvSpPr>
        <p:spPr>
          <a:xfrm>
            <a:off x="548640" y="4069080"/>
            <a:ext cx="8046720" cy="274320"/>
          </a:xfrm>
          <a:prstGeom prst="rect">
            <a:avLst/>
          </a:prstGeom>
          <a:noFill/>
          <a:ln/>
        </p:spPr>
        <p:txBody>
          <a:bodyPr wrap="square" lIns="0" tIns="0" rIns="0" bIns="0" rtlCol="0" anchor="t"/>
          <a:lstStyle/>
          <a:p>
            <a:pPr indent="0" marL="0">
              <a:buNone/>
            </a:pPr>
            <a:r>
              <a:rPr lang="en-US" sz="1400" dirty="0">
                <a:solidFill>
                  <a:schemeClr val="accent6"/>
                </a:solidFill>
              </a:rPr>
              <a:t>One contiguous block of the array per thread</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3400" b="1" dirty="0">
                <a:solidFill>
                  <a:schemeClr val="tx1"/>
                </a:solidFill>
              </a:rPr>
              <a:t>Where the parallel code sits</a:t>
            </a:r>
            <a:endParaRPr lang="en-US" sz="3400" dirty="0"/>
          </a:p>
        </p:txBody>
      </p:sp>
      <p:sp>
        <p:nvSpPr>
          <p:cNvPr id="3" name="Stage 1"/>
          <p:cNvSpPr/>
          <p:nvPr/>
        </p:nvSpPr>
        <p:spPr>
          <a:xfrm>
            <a:off x="457200" y="1280160"/>
            <a:ext cx="1417320" cy="1234440"/>
          </a:xfrm>
          <a:prstGeom prst="roundRect">
            <a:avLst>
              <a:gd name="adj" fmla="val 5926"/>
            </a:avLst>
          </a:prstGeom>
          <a:solidFill>
            <a:schemeClr val="bg2"/>
          </a:solidFill>
          <a:ln/>
        </p:spPr>
      </p:sp>
      <p:sp>
        <p:nvSpPr>
          <p:cNvPr id="4" name="Stage 1 text"/>
          <p:cNvSpPr txBox="1"/>
          <p:nvPr/>
        </p:nvSpPr>
        <p:spPr>
          <a:xfrm>
            <a:off x="548640" y="1371600"/>
            <a:ext cx="1234440" cy="1051560"/>
          </a:xfrm>
          <a:prstGeom prst="rect">
            <a:avLst/>
          </a:prstGeom>
          <a:noFill/>
          <a:ln/>
        </p:spPr>
        <p:txBody>
          <a:bodyPr wrap="square" lIns="0" tIns="0" rIns="0" bIns="0" rtlCol="0" anchor="ctr"/>
          <a:lstStyle/>
          <a:p>
            <a:pPr indent="0" marL="0">
              <a:buNone/>
            </a:pPr>
            <a:r>
              <a:rPr lang="en-US" sz="1300" b="1" dirty="0">
                <a:solidFill>
                  <a:schemeClr val="tx1"/>
                </a:solidFill>
              </a:rPr>
              <a:t>add(a, b)</a:t>
            </a:r>
            <a:endParaRPr lang="en-US" sz="1400" dirty="0"/>
          </a:p>
          <a:p>
            <a:pPr indent="0" marL="0">
              <a:buNone/>
            </a:pPr>
            <a:r>
              <a:rPr lang="en-US" sz="1000" dirty="0">
                <a:solidFill>
                  <a:schemeClr val="tx2"/>
                </a:solidFill>
              </a:rPr>
              <a:t>mensurflow, public API</a:t>
            </a:r>
            <a:endParaRPr lang="en-US" sz="1400" dirty="0"/>
          </a:p>
        </p:txBody>
      </p:sp>
      <p:sp>
        <p:nvSpPr>
          <p:cNvPr id="5" name="Arrow 1"/>
          <p:cNvSpPr/>
          <p:nvPr/>
        </p:nvSpPr>
        <p:spPr>
          <a:xfrm>
            <a:off x="1901952" y="1897380"/>
            <a:ext cx="219456" cy="0"/>
          </a:xfrm>
          <a:prstGeom prst="line">
            <a:avLst/>
          </a:prstGeom>
          <a:noFill/>
          <a:ln w="19050">
            <a:solidFill>
              <a:schemeClr val="tx2"/>
            </a:solidFill>
            <a:prstDash val="solid"/>
            <a:tailEnd type="triangle"/>
          </a:ln>
        </p:spPr>
      </p:sp>
      <p:sp>
        <p:nvSpPr>
          <p:cNvPr id="6" name="Stage 2"/>
          <p:cNvSpPr/>
          <p:nvPr/>
        </p:nvSpPr>
        <p:spPr>
          <a:xfrm>
            <a:off x="2148840" y="1280160"/>
            <a:ext cx="1417320" cy="1234440"/>
          </a:xfrm>
          <a:prstGeom prst="roundRect">
            <a:avLst>
              <a:gd name="adj" fmla="val 5926"/>
            </a:avLst>
          </a:prstGeom>
          <a:solidFill>
            <a:schemeClr val="bg2"/>
          </a:solidFill>
          <a:ln/>
        </p:spPr>
      </p:sp>
      <p:sp>
        <p:nvSpPr>
          <p:cNvPr id="7" name="Stage 2 text"/>
          <p:cNvSpPr txBox="1"/>
          <p:nvPr/>
        </p:nvSpPr>
        <p:spPr>
          <a:xfrm>
            <a:off x="2240280" y="1371600"/>
            <a:ext cx="1234440" cy="1051560"/>
          </a:xfrm>
          <a:prstGeom prst="rect">
            <a:avLst/>
          </a:prstGeom>
          <a:noFill/>
          <a:ln/>
        </p:spPr>
        <p:txBody>
          <a:bodyPr wrap="square" lIns="0" tIns="0" rIns="0" bIns="0" rtlCol="0" anchor="ctr"/>
          <a:lstStyle/>
          <a:p>
            <a:pPr indent="0" marL="0">
              <a:buNone/>
            </a:pPr>
            <a:r>
              <a:rPr lang="en-US" sz="1300" b="1" dirty="0">
                <a:solidFill>
                  <a:schemeClr val="tx1"/>
                </a:solidFill>
              </a:rPr>
              <a:t>Validate, broadcast</a:t>
            </a:r>
            <a:endParaRPr lang="en-US" sz="1400" dirty="0"/>
          </a:p>
          <a:p>
            <a:pPr indent="0" marL="0">
              <a:buNone/>
            </a:pPr>
            <a:r>
              <a:rPr lang="en-US" sz="1000" dirty="0">
                <a:solidFill>
                  <a:schemeClr val="tx2"/>
                </a:solidFill>
              </a:rPr>
              <a:t>src/ops/elementwise.cpp</a:t>
            </a:r>
            <a:endParaRPr lang="en-US" sz="1400" dirty="0"/>
          </a:p>
        </p:txBody>
      </p:sp>
      <p:sp>
        <p:nvSpPr>
          <p:cNvPr id="8" name="Arrow 2"/>
          <p:cNvSpPr/>
          <p:nvPr/>
        </p:nvSpPr>
        <p:spPr>
          <a:xfrm>
            <a:off x="3593592" y="1897380"/>
            <a:ext cx="219456" cy="0"/>
          </a:xfrm>
          <a:prstGeom prst="line">
            <a:avLst/>
          </a:prstGeom>
          <a:noFill/>
          <a:ln w="19050">
            <a:solidFill>
              <a:schemeClr val="tx2"/>
            </a:solidFill>
            <a:prstDash val="solid"/>
            <a:tailEnd type="triangle"/>
          </a:ln>
        </p:spPr>
      </p:sp>
      <p:sp>
        <p:nvSpPr>
          <p:cNvPr id="9" name="Stage 3"/>
          <p:cNvSpPr/>
          <p:nvPr/>
        </p:nvSpPr>
        <p:spPr>
          <a:xfrm>
            <a:off x="3840480" y="1280160"/>
            <a:ext cx="1417320" cy="1234440"/>
          </a:xfrm>
          <a:prstGeom prst="roundRect">
            <a:avLst>
              <a:gd name="adj" fmla="val 5926"/>
            </a:avLst>
          </a:prstGeom>
          <a:solidFill>
            <a:schemeClr val="bg2"/>
          </a:solidFill>
          <a:ln/>
        </p:spPr>
      </p:sp>
      <p:sp>
        <p:nvSpPr>
          <p:cNvPr id="10" name="Stage 3 text"/>
          <p:cNvSpPr txBox="1"/>
          <p:nvPr/>
        </p:nvSpPr>
        <p:spPr>
          <a:xfrm>
            <a:off x="3931920" y="1371600"/>
            <a:ext cx="1234440" cy="1051560"/>
          </a:xfrm>
          <a:prstGeom prst="rect">
            <a:avLst/>
          </a:prstGeom>
          <a:noFill/>
          <a:ln/>
        </p:spPr>
        <p:txBody>
          <a:bodyPr wrap="square" lIns="0" tIns="0" rIns="0" bIns="0" rtlCol="0" anchor="ctr"/>
          <a:lstStyle/>
          <a:p>
            <a:pPr indent="0" marL="0">
              <a:buNone/>
            </a:pPr>
            <a:r>
              <a:rPr lang="en-US" sz="1300" b="1" dirty="0">
                <a:solidFill>
                  <a:schemeClr val="tx1"/>
                </a:solidFill>
              </a:rPr>
              <a:t>dispatch(Add)</a:t>
            </a:r>
            <a:endParaRPr lang="en-US" sz="1400" dirty="0"/>
          </a:p>
          <a:p>
            <a:pPr indent="0" marL="0">
              <a:buNone/>
            </a:pPr>
            <a:r>
              <a:rPr lang="en-US" sz="1000" dirty="0">
                <a:solidFill>
                  <a:schemeClr val="tx2"/>
                </a:solidFill>
              </a:rPr>
              <a:t>src/core/dispatcher.cpp</a:t>
            </a:r>
            <a:endParaRPr lang="en-US" sz="1400" dirty="0"/>
          </a:p>
        </p:txBody>
      </p:sp>
      <p:sp>
        <p:nvSpPr>
          <p:cNvPr id="11" name="Arrow 3"/>
          <p:cNvSpPr/>
          <p:nvPr/>
        </p:nvSpPr>
        <p:spPr>
          <a:xfrm>
            <a:off x="5285232" y="1897380"/>
            <a:ext cx="219456" cy="0"/>
          </a:xfrm>
          <a:prstGeom prst="line">
            <a:avLst/>
          </a:prstGeom>
          <a:noFill/>
          <a:ln w="19050">
            <a:solidFill>
              <a:schemeClr val="tx2"/>
            </a:solidFill>
            <a:prstDash val="solid"/>
            <a:tailEnd type="triangle"/>
          </a:ln>
        </p:spPr>
      </p:sp>
      <p:sp>
        <p:nvSpPr>
          <p:cNvPr id="12" name="Stage 4"/>
          <p:cNvSpPr/>
          <p:nvPr/>
        </p:nvSpPr>
        <p:spPr>
          <a:xfrm>
            <a:off x="5532120" y="1280160"/>
            <a:ext cx="1417320" cy="1234440"/>
          </a:xfrm>
          <a:prstGeom prst="roundRect">
            <a:avLst>
              <a:gd name="adj" fmla="val 5926"/>
            </a:avLst>
          </a:prstGeom>
          <a:solidFill>
            <a:schemeClr val="bg2"/>
          </a:solidFill>
          <a:ln/>
        </p:spPr>
      </p:sp>
      <p:sp>
        <p:nvSpPr>
          <p:cNvPr id="13" name="Stage 4 text"/>
          <p:cNvSpPr txBox="1"/>
          <p:nvPr/>
        </p:nvSpPr>
        <p:spPr>
          <a:xfrm>
            <a:off x="5623560" y="1371600"/>
            <a:ext cx="1234440" cy="1051560"/>
          </a:xfrm>
          <a:prstGeom prst="rect">
            <a:avLst/>
          </a:prstGeom>
          <a:noFill/>
          <a:ln/>
        </p:spPr>
        <p:txBody>
          <a:bodyPr wrap="square" lIns="0" tIns="0" rIns="0" bIns="0" rtlCol="0" anchor="ctr"/>
          <a:lstStyle/>
          <a:p>
            <a:pPr indent="0" marL="0">
              <a:buNone/>
            </a:pPr>
            <a:r>
              <a:rPr lang="en-US" sz="1300" b="1" dirty="0">
                <a:solidFill>
                  <a:schemeClr val="tx1"/>
                </a:solidFill>
              </a:rPr>
              <a:t>add_f32</a:t>
            </a:r>
            <a:endParaRPr lang="en-US" sz="1400" dirty="0"/>
          </a:p>
          <a:p>
            <a:pPr indent="0" marL="0">
              <a:buNone/>
            </a:pPr>
            <a:r>
              <a:rPr lang="en-US" sz="1000" dirty="0">
                <a:solidFill>
                  <a:schemeClr val="tx2"/>
                </a:solidFill>
              </a:rPr>
              <a:t>src/backends/cpu/elementwise.cpp</a:t>
            </a:r>
            <a:endParaRPr lang="en-US" sz="1400" dirty="0"/>
          </a:p>
        </p:txBody>
      </p:sp>
      <p:sp>
        <p:nvSpPr>
          <p:cNvPr id="14" name="Arrow 4"/>
          <p:cNvSpPr/>
          <p:nvPr/>
        </p:nvSpPr>
        <p:spPr>
          <a:xfrm>
            <a:off x="6976872" y="1897380"/>
            <a:ext cx="219456" cy="0"/>
          </a:xfrm>
          <a:prstGeom prst="line">
            <a:avLst/>
          </a:prstGeom>
          <a:noFill/>
          <a:ln w="19050">
            <a:solidFill>
              <a:schemeClr val="tx2"/>
            </a:solidFill>
            <a:prstDash val="solid"/>
            <a:tailEnd type="triangle"/>
          </a:ln>
        </p:spPr>
      </p:sp>
      <p:sp>
        <p:nvSpPr>
          <p:cNvPr id="15" name="Stage 5"/>
          <p:cNvSpPr/>
          <p:nvPr/>
        </p:nvSpPr>
        <p:spPr>
          <a:xfrm>
            <a:off x="7223760" y="1280160"/>
            <a:ext cx="1417320" cy="1234440"/>
          </a:xfrm>
          <a:prstGeom prst="roundRect">
            <a:avLst>
              <a:gd name="adj" fmla="val 5926"/>
            </a:avLst>
          </a:prstGeom>
          <a:solidFill>
            <a:schemeClr val="accent1"/>
          </a:solidFill>
          <a:ln/>
        </p:spPr>
      </p:sp>
      <p:sp>
        <p:nvSpPr>
          <p:cNvPr id="16" name="Stage 5 text"/>
          <p:cNvSpPr txBox="1"/>
          <p:nvPr/>
        </p:nvSpPr>
        <p:spPr>
          <a:xfrm>
            <a:off x="7315200" y="1371600"/>
            <a:ext cx="1234440" cy="1051560"/>
          </a:xfrm>
          <a:prstGeom prst="rect">
            <a:avLst/>
          </a:prstGeom>
          <a:noFill/>
          <a:ln/>
        </p:spPr>
        <p:txBody>
          <a:bodyPr wrap="square" lIns="0" tIns="0" rIns="0" bIns="0" rtlCol="0" anchor="ctr"/>
          <a:lstStyle/>
          <a:p>
            <a:pPr indent="0" marL="0">
              <a:buNone/>
            </a:pPr>
            <a:r>
              <a:rPr lang="en-US" sz="1300" b="1" dirty="0">
                <a:solidFill>
                  <a:schemeClr val="tx1"/>
                </a:solidFill>
              </a:rPr>
              <a:t>parallel_for</a:t>
            </a:r>
            <a:endParaRPr lang="en-US" sz="1400" dirty="0"/>
          </a:p>
          <a:p>
            <a:pPr indent="0" marL="0">
              <a:buNone/>
            </a:pPr>
            <a:r>
              <a:rPr lang="en-US" sz="1000" dirty="0">
                <a:solidFill>
                  <a:schemeClr val="tx2"/>
                </a:solidFill>
              </a:rPr>
              <a:t>src/backends/cpu/parallel.hpp</a:t>
            </a:r>
            <a:endParaRPr lang="en-US" sz="1400" dirty="0"/>
          </a:p>
        </p:txBody>
      </p:sp>
      <p:sp>
        <p:nvSpPr>
          <p:cNvPr id="17" name="Card 1"/>
          <p:cNvSpPr/>
          <p:nvPr/>
        </p:nvSpPr>
        <p:spPr>
          <a:xfrm>
            <a:off x="457200" y="2926080"/>
            <a:ext cx="2606040" cy="1463040"/>
          </a:xfrm>
          <a:prstGeom prst="roundRect">
            <a:avLst>
              <a:gd name="adj" fmla="val 5000"/>
            </a:avLst>
          </a:prstGeom>
          <a:solidFill>
            <a:schemeClr val="bg2"/>
          </a:solidFill>
          <a:ln/>
        </p:spPr>
      </p:sp>
      <p:sp>
        <p:nvSpPr>
          <p:cNvPr id="18" name="Card 1 dot"/>
          <p:cNvSpPr/>
          <p:nvPr/>
        </p:nvSpPr>
        <p:spPr>
          <a:xfrm>
            <a:off x="640080" y="3063240"/>
            <a:ext cx="274320" cy="274320"/>
          </a:xfrm>
          <a:prstGeom prst="ellipse">
            <a:avLst/>
          </a:prstGeom>
          <a:solidFill>
            <a:schemeClr val="accent1"/>
          </a:solidFill>
          <a:ln/>
        </p:spPr>
      </p:sp>
      <p:sp>
        <p:nvSpPr>
          <p:cNvPr id="19" name="Card 1 dot label"/>
          <p:cNvSpPr txBox="1"/>
          <p:nvPr/>
        </p:nvSpPr>
        <p:spPr>
          <a:xfrm>
            <a:off x="640080" y="3063240"/>
            <a:ext cx="274320" cy="274320"/>
          </a:xfrm>
          <a:prstGeom prst="rect">
            <a:avLst/>
          </a:prstGeom>
          <a:noFill/>
          <a:ln/>
        </p:spPr>
        <p:txBody>
          <a:bodyPr wrap="square" lIns="0" tIns="0" rIns="0" bIns="0" rtlCol="0" anchor="ctr"/>
          <a:lstStyle/>
          <a:p>
            <a:pPr algn="ctr" indent="0" marL="0">
              <a:buNone/>
            </a:pPr>
            <a:endParaRPr lang="en-US" sz="1400" dirty="0"/>
          </a:p>
        </p:txBody>
      </p:sp>
      <p:sp>
        <p:nvSpPr>
          <p:cNvPr id="20" name="Card 1 title"/>
          <p:cNvSpPr txBox="1"/>
          <p:nvPr/>
        </p:nvSpPr>
        <p:spPr>
          <a:xfrm>
            <a:off x="1005840" y="3063240"/>
            <a:ext cx="1920240" cy="274320"/>
          </a:xfrm>
          <a:prstGeom prst="rect">
            <a:avLst/>
          </a:prstGeom>
          <a:noFill/>
          <a:ln/>
        </p:spPr>
        <p:txBody>
          <a:bodyPr wrap="square" lIns="0" tIns="0" rIns="0" bIns="0" rtlCol="0" anchor="ctr"/>
          <a:lstStyle/>
          <a:p>
            <a:pPr indent="0" marL="0">
              <a:buNone/>
            </a:pPr>
            <a:r>
              <a:rPr lang="en-US" sz="1600" b="1" dirty="0">
                <a:solidFill>
                  <a:schemeClr val="tx1"/>
                </a:solidFill>
              </a:rPr>
              <a:t>Elementwise ops</a:t>
            </a:r>
            <a:endParaRPr lang="en-US" sz="1600" dirty="0"/>
          </a:p>
        </p:txBody>
      </p:sp>
      <p:sp>
        <p:nvSpPr>
          <p:cNvPr id="21" name="Card 1 text"/>
          <p:cNvSpPr txBox="1"/>
          <p:nvPr/>
        </p:nvSpPr>
        <p:spPr>
          <a:xfrm>
            <a:off x="640080" y="3474720"/>
            <a:ext cx="2240280" cy="868680"/>
          </a:xfrm>
          <a:prstGeom prst="rect">
            <a:avLst/>
          </a:prstGeom>
          <a:noFill/>
          <a:ln/>
        </p:spPr>
        <p:txBody>
          <a:bodyPr wrap="square" lIns="0" tIns="0" rIns="0" bIns="0" rtlCol="0" anchor="t"/>
          <a:lstStyle/>
          <a:p>
            <a:pPr indent="0" marL="0">
              <a:buNone/>
            </a:pPr>
            <a:r>
              <a:rPr lang="en-US" sz="1400" dirty="0">
                <a:solidFill>
                  <a:schemeClr val="tx1"/>
                </a:solidFill>
              </a:rPr>
              <a:t>add, sub, mul and div share one loop and call parallel_for.</a:t>
            </a:r>
            <a:endParaRPr lang="en-US" sz="1400" dirty="0"/>
          </a:p>
        </p:txBody>
      </p:sp>
      <p:sp>
        <p:nvSpPr>
          <p:cNvPr id="22" name="Card 2"/>
          <p:cNvSpPr/>
          <p:nvPr/>
        </p:nvSpPr>
        <p:spPr>
          <a:xfrm>
            <a:off x="3268980" y="2926080"/>
            <a:ext cx="2606040" cy="1463040"/>
          </a:xfrm>
          <a:prstGeom prst="roundRect">
            <a:avLst>
              <a:gd name="adj" fmla="val 5000"/>
            </a:avLst>
          </a:prstGeom>
          <a:solidFill>
            <a:schemeClr val="bg2"/>
          </a:solidFill>
          <a:ln/>
        </p:spPr>
      </p:sp>
      <p:sp>
        <p:nvSpPr>
          <p:cNvPr id="23" name="Card 2 dot"/>
          <p:cNvSpPr/>
          <p:nvPr/>
        </p:nvSpPr>
        <p:spPr>
          <a:xfrm>
            <a:off x="3451860" y="3063240"/>
            <a:ext cx="274320" cy="274320"/>
          </a:xfrm>
          <a:prstGeom prst="ellipse">
            <a:avLst/>
          </a:prstGeom>
          <a:solidFill>
            <a:schemeClr val="accent2"/>
          </a:solidFill>
          <a:ln/>
        </p:spPr>
      </p:sp>
      <p:sp>
        <p:nvSpPr>
          <p:cNvPr id="24" name="Card 2 dot label"/>
          <p:cNvSpPr txBox="1"/>
          <p:nvPr/>
        </p:nvSpPr>
        <p:spPr>
          <a:xfrm>
            <a:off x="3451860" y="3063240"/>
            <a:ext cx="274320" cy="274320"/>
          </a:xfrm>
          <a:prstGeom prst="rect">
            <a:avLst/>
          </a:prstGeom>
          <a:noFill/>
          <a:ln/>
        </p:spPr>
        <p:txBody>
          <a:bodyPr wrap="square" lIns="0" tIns="0" rIns="0" bIns="0" rtlCol="0" anchor="ctr"/>
          <a:lstStyle/>
          <a:p>
            <a:pPr algn="ctr" indent="0" marL="0">
              <a:buNone/>
            </a:pPr>
            <a:endParaRPr lang="en-US" sz="1400" dirty="0"/>
          </a:p>
        </p:txBody>
      </p:sp>
      <p:sp>
        <p:nvSpPr>
          <p:cNvPr id="25" name="Card 2 title"/>
          <p:cNvSpPr txBox="1"/>
          <p:nvPr/>
        </p:nvSpPr>
        <p:spPr>
          <a:xfrm>
            <a:off x="3817620" y="3063240"/>
            <a:ext cx="1920240" cy="274320"/>
          </a:xfrm>
          <a:prstGeom prst="rect">
            <a:avLst/>
          </a:prstGeom>
          <a:noFill/>
          <a:ln/>
        </p:spPr>
        <p:txBody>
          <a:bodyPr wrap="square" lIns="0" tIns="0" rIns="0" bIns="0" rtlCol="0" anchor="ctr"/>
          <a:lstStyle/>
          <a:p>
            <a:pPr indent="0" marL="0">
              <a:buNone/>
            </a:pPr>
            <a:r>
              <a:rPr lang="en-US" sz="1600" b="1" dirty="0">
                <a:solidFill>
                  <a:schemeClr val="tx1"/>
                </a:solidFill>
              </a:rPr>
              <a:t>Dot product</a:t>
            </a:r>
            <a:endParaRPr lang="en-US" sz="1600" dirty="0"/>
          </a:p>
        </p:txBody>
      </p:sp>
      <p:sp>
        <p:nvSpPr>
          <p:cNvPr id="26" name="Card 2 text"/>
          <p:cNvSpPr txBox="1"/>
          <p:nvPr/>
        </p:nvSpPr>
        <p:spPr>
          <a:xfrm>
            <a:off x="3451860" y="3474720"/>
            <a:ext cx="2240280" cy="868680"/>
          </a:xfrm>
          <a:prstGeom prst="rect">
            <a:avLst/>
          </a:prstGeom>
          <a:noFill/>
          <a:ln/>
        </p:spPr>
        <p:txBody>
          <a:bodyPr wrap="square" lIns="0" tIns="0" rIns="0" bIns="0" rtlCol="0" anchor="t"/>
          <a:lstStyle/>
          <a:p>
            <a:pPr indent="0" marL="0">
              <a:buNone/>
            </a:pPr>
            <a:r>
              <a:rPr lang="en-US" sz="1400" dirty="0">
                <a:solidFill>
                  <a:schemeClr val="tx1"/>
                </a:solidFill>
              </a:rPr>
              <a:t>dot sums per-thread partial results with parallel_sum.</a:t>
            </a:r>
            <a:endParaRPr lang="en-US" sz="1400" dirty="0"/>
          </a:p>
        </p:txBody>
      </p:sp>
      <p:sp>
        <p:nvSpPr>
          <p:cNvPr id="27" name="Card 3"/>
          <p:cNvSpPr/>
          <p:nvPr/>
        </p:nvSpPr>
        <p:spPr>
          <a:xfrm>
            <a:off x="6080760" y="2926080"/>
            <a:ext cx="2606040" cy="1463040"/>
          </a:xfrm>
          <a:prstGeom prst="roundRect">
            <a:avLst>
              <a:gd name="adj" fmla="val 5000"/>
            </a:avLst>
          </a:prstGeom>
          <a:solidFill>
            <a:schemeClr val="bg2"/>
          </a:solidFill>
          <a:ln/>
        </p:spPr>
      </p:sp>
      <p:sp>
        <p:nvSpPr>
          <p:cNvPr id="28" name="Card 3 dot"/>
          <p:cNvSpPr/>
          <p:nvPr/>
        </p:nvSpPr>
        <p:spPr>
          <a:xfrm>
            <a:off x="6263640" y="3063240"/>
            <a:ext cx="274320" cy="274320"/>
          </a:xfrm>
          <a:prstGeom prst="ellipse">
            <a:avLst/>
          </a:prstGeom>
          <a:solidFill>
            <a:schemeClr val="accent3"/>
          </a:solidFill>
          <a:ln/>
        </p:spPr>
      </p:sp>
      <p:sp>
        <p:nvSpPr>
          <p:cNvPr id="29" name="Card 3 dot label"/>
          <p:cNvSpPr txBox="1"/>
          <p:nvPr/>
        </p:nvSpPr>
        <p:spPr>
          <a:xfrm>
            <a:off x="6263640" y="3063240"/>
            <a:ext cx="274320" cy="274320"/>
          </a:xfrm>
          <a:prstGeom prst="rect">
            <a:avLst/>
          </a:prstGeom>
          <a:noFill/>
          <a:ln/>
        </p:spPr>
        <p:txBody>
          <a:bodyPr wrap="square" lIns="0" tIns="0" rIns="0" bIns="0" rtlCol="0" anchor="ctr"/>
          <a:lstStyle/>
          <a:p>
            <a:pPr algn="ctr" indent="0" marL="0">
              <a:buNone/>
            </a:pPr>
            <a:endParaRPr lang="en-US" sz="1400" dirty="0"/>
          </a:p>
        </p:txBody>
      </p:sp>
      <p:sp>
        <p:nvSpPr>
          <p:cNvPr id="30" name="Card 3 title"/>
          <p:cNvSpPr txBox="1"/>
          <p:nvPr/>
        </p:nvSpPr>
        <p:spPr>
          <a:xfrm>
            <a:off x="6629400" y="3063240"/>
            <a:ext cx="1920240" cy="274320"/>
          </a:xfrm>
          <a:prstGeom prst="rect">
            <a:avLst/>
          </a:prstGeom>
          <a:noFill/>
          <a:ln/>
        </p:spPr>
        <p:txBody>
          <a:bodyPr wrap="square" lIns="0" tIns="0" rIns="0" bIns="0" rtlCol="0" anchor="ctr"/>
          <a:lstStyle/>
          <a:p>
            <a:pPr indent="0" marL="0">
              <a:buNone/>
            </a:pPr>
            <a:r>
              <a:rPr lang="en-US" sz="1600" b="1" dirty="0">
                <a:solidFill>
                  <a:schemeClr val="tx1"/>
                </a:solidFill>
              </a:rPr>
              <a:t>GPU backends</a:t>
            </a:r>
            <a:endParaRPr lang="en-US" sz="1600" dirty="0"/>
          </a:p>
        </p:txBody>
      </p:sp>
      <p:sp>
        <p:nvSpPr>
          <p:cNvPr id="31" name="Card 3 text"/>
          <p:cNvSpPr txBox="1"/>
          <p:nvPr/>
        </p:nvSpPr>
        <p:spPr>
          <a:xfrm>
            <a:off x="6263640" y="3474720"/>
            <a:ext cx="2240280" cy="868680"/>
          </a:xfrm>
          <a:prstGeom prst="rect">
            <a:avLst/>
          </a:prstGeom>
          <a:noFill/>
          <a:ln/>
        </p:spPr>
        <p:txBody>
          <a:bodyPr wrap="square" lIns="0" tIns="0" rIns="0" bIns="0" rtlCol="0" anchor="t"/>
          <a:lstStyle/>
          <a:p>
            <a:pPr indent="0" marL="0">
              <a:buNone/>
            </a:pPr>
            <a:r>
              <a:rPr lang="en-US" sz="1400" dirty="0">
                <a:solidFill>
                  <a:schemeClr val="tx1"/>
                </a:solidFill>
              </a:rPr>
              <a:t>No OpenMP there: cuBLAS, rocBLAS and MPSGraph parallelise on their own.</a:t>
            </a:r>
            <a:endParaRPr lang="en-US" sz="1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3400" b="1" dirty="0">
                <a:solidFill>
                  <a:schemeClr val="tx1"/>
                </a:solidFill>
              </a:rPr>
              <a:t>The sequential baseline</a:t>
            </a:r>
            <a:endParaRPr lang="en-US" sz="3400" dirty="0"/>
          </a:p>
        </p:txBody>
      </p:sp>
      <p:sp>
        <p:nvSpPr>
          <p:cNvPr id="3" name="Sequential heading"/>
          <p:cNvSpPr txBox="1"/>
          <p:nvPr/>
        </p:nvSpPr>
        <p:spPr>
          <a:xfrm>
            <a:off x="457200" y="1097280"/>
            <a:ext cx="4023360" cy="274320"/>
          </a:xfrm>
          <a:prstGeom prst="rect">
            <a:avLst/>
          </a:prstGeom>
          <a:noFill/>
          <a:ln/>
        </p:spPr>
        <p:txBody>
          <a:bodyPr wrap="square" lIns="0" tIns="0" rIns="0" bIns="0" rtlCol="0" anchor="t"/>
          <a:lstStyle/>
          <a:p>
            <a:pPr indent="0" marL="0">
              <a:buNone/>
            </a:pPr>
            <a:r>
              <a:rPr lang="en-US" sz="1600" b="1" dirty="0">
                <a:solidFill>
                  <a:schemeClr val="tx1"/>
                </a:solidFill>
              </a:rPr>
              <a:t>Sequential</a:t>
            </a:r>
            <a:endParaRPr lang="en-US" sz="1600" dirty="0"/>
          </a:p>
        </p:txBody>
      </p:sp>
      <p:sp>
        <p:nvSpPr>
          <p:cNvPr id="4" name="Parallel heading"/>
          <p:cNvSpPr txBox="1"/>
          <p:nvPr/>
        </p:nvSpPr>
        <p:spPr>
          <a:xfrm>
            <a:off x="4663440" y="1097280"/>
            <a:ext cx="4023360" cy="274320"/>
          </a:xfrm>
          <a:prstGeom prst="rect">
            <a:avLst/>
          </a:prstGeom>
          <a:noFill/>
          <a:ln/>
        </p:spPr>
        <p:txBody>
          <a:bodyPr wrap="square" lIns="0" tIns="0" rIns="0" bIns="0" rtlCol="0" anchor="t"/>
          <a:lstStyle/>
          <a:p>
            <a:pPr indent="0" marL="0">
              <a:buNone/>
            </a:pPr>
            <a:r>
              <a:rPr lang="en-US" sz="1600" b="1" dirty="0">
                <a:solidFill>
                  <a:schemeClr val="tx1"/>
                </a:solidFill>
              </a:rPr>
              <a:t>Parallel</a:t>
            </a:r>
            <a:endParaRPr lang="en-US" sz="1600" dirty="0"/>
          </a:p>
        </p:txBody>
      </p:sp>
      <p:sp>
        <p:nvSpPr>
          <p:cNvPr id="5" name="sequential add code panel"/>
          <p:cNvSpPr/>
          <p:nvPr/>
        </p:nvSpPr>
        <p:spPr>
          <a:xfrm>
            <a:off x="457200" y="1463040"/>
            <a:ext cx="4023360" cy="1188720"/>
          </a:xfrm>
          <a:prstGeom prst="roundRect">
            <a:avLst>
              <a:gd name="adj" fmla="val 6154"/>
            </a:avLst>
          </a:prstGeom>
          <a:solidFill>
            <a:schemeClr val="tx2"/>
          </a:solidFill>
          <a:ln/>
        </p:spPr>
      </p:sp>
      <p:sp>
        <p:nvSpPr>
          <p:cNvPr id="6" name="sequential add code"/>
          <p:cNvSpPr txBox="1"/>
          <p:nvPr/>
        </p:nvSpPr>
        <p:spPr>
          <a:xfrm>
            <a:off x="621792" y="1591056"/>
            <a:ext cx="3694176" cy="932688"/>
          </a:xfrm>
          <a:prstGeom prst="rect">
            <a:avLst/>
          </a:prstGeom>
          <a:noFill/>
          <a:ln/>
        </p:spPr>
        <p:txBody>
          <a:bodyPr wrap="square" lIns="0" tIns="0" rIns="0" bIns="0" rtlCol="0" anchor="t"/>
          <a:lstStyle/>
          <a:p>
            <a:pPr indent="0" marL="0">
              <a:buNone/>
            </a:pPr>
            <a:r>
              <a:rPr lang="en-US" sz="1100" i="1" dirty="0">
                <a:solidFill>
                  <a:schemeClr val="accent6"/>
                </a:solidFill>
                <a:latin typeface="Courier New" pitchFamily="34" charset="0"/>
                <a:ea typeface="Courier New" pitchFamily="34" charset="-122"/>
                <a:cs typeface="Courier New" pitchFamily="34" charset="-120"/>
              </a:rPr>
              <a:t>// sequential.cpp: add</a:t>
            </a:r>
            <a:endParaRPr lang="en-US" sz="1100" dirty="0"/>
          </a:p>
          <a:p>
            <a:pPr indent="0" marL="0">
              <a:buNone/>
            </a:pPr>
            <a:r>
              <a:rPr lang="en-US" sz="1100" dirty="0">
                <a:solidFill>
                  <a:schemeClr val="accent5"/>
                </a:solidFill>
                <a:latin typeface="Courier New" pitchFamily="34" charset="0"/>
                <a:ea typeface="Courier New" pitchFamily="34" charset="-122"/>
                <a:cs typeface="Courier New" pitchFamily="34" charset="-120"/>
              </a:rPr>
              <a:t>for</a:t>
            </a:r>
            <a:pPr indent="0" marL="0">
              <a:buNone/>
            </a:pPr>
            <a:r>
              <a:rPr lang="en-US" sz="1100" dirty="0">
                <a:solidFill>
                  <a:schemeClr val="bg2"/>
                </a:solidFill>
                <a:latin typeface="Courier New" pitchFamily="34" charset="0"/>
                <a:ea typeface="Courier New" pitchFamily="34" charset="-122"/>
                <a:cs typeface="Courier New" pitchFamily="34" charset="-120"/>
              </a:rPr>
              <a:t> (</a:t>
            </a:r>
            <a:pPr indent="0" marL="0">
              <a:buNone/>
            </a:pPr>
            <a:r>
              <a:rPr lang="en-US" sz="1100" dirty="0">
                <a:solidFill>
                  <a:schemeClr val="accent5"/>
                </a:solidFill>
                <a:latin typeface="Courier New" pitchFamily="34" charset="0"/>
                <a:ea typeface="Courier New" pitchFamily="34" charset="-122"/>
                <a:cs typeface="Courier New" pitchFamily="34" charset="-120"/>
              </a:rPr>
              <a:t>auto</a:t>
            </a:r>
            <a:pPr indent="0" marL="0">
              <a:buNone/>
            </a:pPr>
            <a:r>
              <a:rPr lang="en-US" sz="1100" dirty="0">
                <a:solidFill>
                  <a:schemeClr val="bg2"/>
                </a:solidFill>
                <a:latin typeface="Courier New" pitchFamily="34" charset="0"/>
                <a:ea typeface="Courier New" pitchFamily="34" charset="-122"/>
                <a:cs typeface="Courier New" pitchFamily="34" charset="-120"/>
              </a:rPr>
              <a:t> i = </a:t>
            </a:r>
            <a:pPr indent="0" marL="0">
              <a:buNone/>
            </a:pPr>
            <a:r>
              <a:rPr lang="en-US" sz="1100" dirty="0">
                <a:solidFill>
                  <a:schemeClr val="accent2"/>
                </a:solidFill>
                <a:latin typeface="Courier New" pitchFamily="34" charset="0"/>
                <a:ea typeface="Courier New" pitchFamily="34" charset="-122"/>
                <a:cs typeface="Courier New" pitchFamily="34" charset="-120"/>
              </a:rPr>
              <a:t>0</a:t>
            </a:r>
            <a:pPr indent="0" marL="0">
              <a:buNone/>
            </a:pPr>
            <a:r>
              <a:rPr lang="en-US" sz="1100" dirty="0">
                <a:solidFill>
                  <a:schemeClr val="bg2"/>
                </a:solidFill>
                <a:latin typeface="Courier New" pitchFamily="34" charset="0"/>
                <a:ea typeface="Courier New" pitchFamily="34" charset="-122"/>
                <a:cs typeface="Courier New" pitchFamily="34" charset="-120"/>
              </a:rPr>
              <a:t>; i &lt; n; ++i)</a:t>
            </a:r>
            <a:endParaRPr lang="en-US" sz="1100" dirty="0"/>
          </a:p>
          <a:p>
            <a:pPr indent="0" marL="0">
              <a:buNone/>
            </a:pPr>
            <a:r>
              <a:rPr lang="en-US" sz="1100" dirty="0">
                <a:solidFill>
                  <a:schemeClr val="bg2"/>
                </a:solidFill>
                <a:latin typeface="Courier New" pitchFamily="34" charset="0"/>
                <a:ea typeface="Courier New" pitchFamily="34" charset="-122"/>
                <a:cs typeface="Courier New" pitchFamily="34" charset="-120"/>
              </a:rPr>
              <a:t>  out[i] = a[i] + b[i];</a:t>
            </a:r>
            <a:endParaRPr lang="en-US" sz="1100" dirty="0"/>
          </a:p>
        </p:txBody>
      </p:sp>
      <p:sp>
        <p:nvSpPr>
          <p:cNvPr id="7" name="parallel add code panel"/>
          <p:cNvSpPr/>
          <p:nvPr/>
        </p:nvSpPr>
        <p:spPr>
          <a:xfrm>
            <a:off x="4663440" y="1463040"/>
            <a:ext cx="4023360" cy="1188720"/>
          </a:xfrm>
          <a:prstGeom prst="roundRect">
            <a:avLst>
              <a:gd name="adj" fmla="val 6154"/>
            </a:avLst>
          </a:prstGeom>
          <a:solidFill>
            <a:schemeClr val="tx2"/>
          </a:solidFill>
          <a:ln/>
        </p:spPr>
      </p:sp>
      <p:sp>
        <p:nvSpPr>
          <p:cNvPr id="8" name="parallel add code"/>
          <p:cNvSpPr txBox="1"/>
          <p:nvPr/>
        </p:nvSpPr>
        <p:spPr>
          <a:xfrm>
            <a:off x="4828032" y="1591056"/>
            <a:ext cx="3694176" cy="932688"/>
          </a:xfrm>
          <a:prstGeom prst="rect">
            <a:avLst/>
          </a:prstGeom>
          <a:noFill/>
          <a:ln/>
        </p:spPr>
        <p:txBody>
          <a:bodyPr wrap="square" lIns="0" tIns="0" rIns="0" bIns="0" rtlCol="0" anchor="t"/>
          <a:lstStyle/>
          <a:p>
            <a:pPr indent="0" marL="0">
              <a:buNone/>
            </a:pPr>
            <a:r>
              <a:rPr lang="en-US" sz="1100" i="1" dirty="0">
                <a:solidFill>
                  <a:schemeClr val="accent6"/>
                </a:solidFill>
                <a:latin typeface="Courier New" pitchFamily="34" charset="0"/>
                <a:ea typeface="Courier New" pitchFamily="34" charset="-122"/>
                <a:cs typeface="Courier New" pitchFamily="34" charset="-120"/>
              </a:rPr>
              <a:t>// elementwise.cpp: add</a:t>
            </a:r>
            <a:endParaRPr lang="en-US" sz="1100" dirty="0"/>
          </a:p>
          <a:p>
            <a:pPr indent="0" marL="0">
              <a:buNone/>
            </a:pPr>
            <a:r>
              <a:rPr lang="en-US" sz="1100" dirty="0">
                <a:solidFill>
                  <a:schemeClr val="bg2"/>
                </a:solidFill>
                <a:latin typeface="Courier New" pitchFamily="34" charset="0"/>
                <a:ea typeface="Courier New" pitchFamily="34" charset="-122"/>
                <a:cs typeface="Courier New" pitchFamily="34" charset="-120"/>
              </a:rPr>
              <a:t>parallel_for(n, [=](</a:t>
            </a:r>
            <a:pPr indent="0" marL="0">
              <a:buNone/>
            </a:pPr>
            <a:r>
              <a:rPr lang="en-US" sz="1100" dirty="0">
                <a:solidFill>
                  <a:schemeClr val="accent5"/>
                </a:solidFill>
                <a:latin typeface="Courier New" pitchFamily="34" charset="0"/>
                <a:ea typeface="Courier New" pitchFamily="34" charset="-122"/>
                <a:cs typeface="Courier New" pitchFamily="34" charset="-120"/>
              </a:rPr>
              <a:t>auto</a:t>
            </a:r>
            <a:pPr indent="0" marL="0">
              <a:buNone/>
            </a:pPr>
            <a:r>
              <a:rPr lang="en-US" sz="1100" dirty="0">
                <a:solidFill>
                  <a:schemeClr val="bg2"/>
                </a:solidFill>
                <a:latin typeface="Courier New" pitchFamily="34" charset="0"/>
                <a:ea typeface="Courier New" pitchFamily="34" charset="-122"/>
                <a:cs typeface="Courier New" pitchFamily="34" charset="-120"/>
              </a:rPr>
              <a:t> lo, </a:t>
            </a:r>
            <a:pPr indent="0" marL="0">
              <a:buNone/>
            </a:pPr>
            <a:r>
              <a:rPr lang="en-US" sz="1100" dirty="0">
                <a:solidFill>
                  <a:schemeClr val="accent5"/>
                </a:solidFill>
                <a:latin typeface="Courier New" pitchFamily="34" charset="0"/>
                <a:ea typeface="Courier New" pitchFamily="34" charset="-122"/>
                <a:cs typeface="Courier New" pitchFamily="34" charset="-120"/>
              </a:rPr>
              <a:t>auto</a:t>
            </a:r>
            <a:pPr indent="0" marL="0">
              <a:buNone/>
            </a:pPr>
            <a:r>
              <a:rPr lang="en-US" sz="1100" dirty="0">
                <a:solidFill>
                  <a:schemeClr val="bg2"/>
                </a:solidFill>
                <a:latin typeface="Courier New" pitchFamily="34" charset="0"/>
                <a:ea typeface="Courier New" pitchFamily="34" charset="-122"/>
                <a:cs typeface="Courier New" pitchFamily="34" charset="-120"/>
              </a:rPr>
              <a:t> hi) {</a:t>
            </a:r>
            <a:endParaRPr lang="en-US" sz="1100" dirty="0"/>
          </a:p>
          <a:p>
            <a:pPr indent="0" marL="0">
              <a:buNone/>
            </a:pPr>
            <a:r>
              <a:rPr lang="en-US" sz="1100" dirty="0">
                <a:solidFill>
                  <a:schemeClr val="bg2"/>
                </a:solidFill>
                <a:latin typeface="Courier New" pitchFamily="34" charset="0"/>
                <a:ea typeface="Courier New" pitchFamily="34" charset="-122"/>
                <a:cs typeface="Courier New" pitchFamily="34" charset="-120"/>
              </a:rPr>
              <a:t>  </a:t>
            </a:r>
            <a:pPr indent="0" marL="0">
              <a:buNone/>
            </a:pPr>
            <a:r>
              <a:rPr lang="en-US" sz="1100" dirty="0">
                <a:solidFill>
                  <a:schemeClr val="accent5"/>
                </a:solidFill>
                <a:latin typeface="Courier New" pitchFamily="34" charset="0"/>
                <a:ea typeface="Courier New" pitchFamily="34" charset="-122"/>
                <a:cs typeface="Courier New" pitchFamily="34" charset="-120"/>
              </a:rPr>
              <a:t>for</a:t>
            </a:r>
            <a:pPr indent="0" marL="0">
              <a:buNone/>
            </a:pPr>
            <a:r>
              <a:rPr lang="en-US" sz="1100" dirty="0">
                <a:solidFill>
                  <a:schemeClr val="bg2"/>
                </a:solidFill>
                <a:latin typeface="Courier New" pitchFamily="34" charset="0"/>
                <a:ea typeface="Courier New" pitchFamily="34" charset="-122"/>
                <a:cs typeface="Courier New" pitchFamily="34" charset="-120"/>
              </a:rPr>
              <a:t> (</a:t>
            </a:r>
            <a:pPr indent="0" marL="0">
              <a:buNone/>
            </a:pPr>
            <a:r>
              <a:rPr lang="en-US" sz="1100" dirty="0">
                <a:solidFill>
                  <a:schemeClr val="accent5"/>
                </a:solidFill>
                <a:latin typeface="Courier New" pitchFamily="34" charset="0"/>
                <a:ea typeface="Courier New" pitchFamily="34" charset="-122"/>
                <a:cs typeface="Courier New" pitchFamily="34" charset="-120"/>
              </a:rPr>
              <a:t>auto</a:t>
            </a:r>
            <a:pPr indent="0" marL="0">
              <a:buNone/>
            </a:pPr>
            <a:r>
              <a:rPr lang="en-US" sz="1100" dirty="0">
                <a:solidFill>
                  <a:schemeClr val="bg2"/>
                </a:solidFill>
                <a:latin typeface="Courier New" pitchFamily="34" charset="0"/>
                <a:ea typeface="Courier New" pitchFamily="34" charset="-122"/>
                <a:cs typeface="Courier New" pitchFamily="34" charset="-120"/>
              </a:rPr>
              <a:t> i = lo; i &lt; hi; ++i)</a:t>
            </a:r>
            <a:endParaRPr lang="en-US" sz="1100" dirty="0"/>
          </a:p>
          <a:p>
            <a:pPr indent="0" marL="0">
              <a:buNone/>
            </a:pPr>
            <a:r>
              <a:rPr lang="en-US" sz="1100" dirty="0">
                <a:solidFill>
                  <a:schemeClr val="bg2"/>
                </a:solidFill>
                <a:latin typeface="Courier New" pitchFamily="34" charset="0"/>
                <a:ea typeface="Courier New" pitchFamily="34" charset="-122"/>
                <a:cs typeface="Courier New" pitchFamily="34" charset="-120"/>
              </a:rPr>
              <a:t>    out[i] = a[i] + b[i];</a:t>
            </a:r>
            <a:endParaRPr lang="en-US" sz="1100" dirty="0"/>
          </a:p>
          <a:p>
            <a:pPr indent="0" marL="0">
              <a:buNone/>
            </a:pPr>
            <a:r>
              <a:rPr lang="en-US" sz="1100" dirty="0">
                <a:solidFill>
                  <a:schemeClr val="bg2"/>
                </a:solidFill>
                <a:latin typeface="Courier New" pitchFamily="34" charset="0"/>
                <a:ea typeface="Courier New" pitchFamily="34" charset="-122"/>
                <a:cs typeface="Courier New" pitchFamily="34" charset="-120"/>
              </a:rPr>
              <a:t>});</a:t>
            </a:r>
            <a:endParaRPr lang="en-US" sz="1100" dirty="0"/>
          </a:p>
        </p:txBody>
      </p:sp>
      <p:sp>
        <p:nvSpPr>
          <p:cNvPr id="9" name="sequential dot code panel"/>
          <p:cNvSpPr/>
          <p:nvPr/>
        </p:nvSpPr>
        <p:spPr>
          <a:xfrm>
            <a:off x="457200" y="2788920"/>
            <a:ext cx="4023360" cy="1508760"/>
          </a:xfrm>
          <a:prstGeom prst="roundRect">
            <a:avLst>
              <a:gd name="adj" fmla="val 4848"/>
            </a:avLst>
          </a:prstGeom>
          <a:solidFill>
            <a:schemeClr val="tx2"/>
          </a:solidFill>
          <a:ln/>
        </p:spPr>
      </p:sp>
      <p:sp>
        <p:nvSpPr>
          <p:cNvPr id="10" name="sequential dot code"/>
          <p:cNvSpPr txBox="1"/>
          <p:nvPr/>
        </p:nvSpPr>
        <p:spPr>
          <a:xfrm>
            <a:off x="621792" y="2916936"/>
            <a:ext cx="3694176" cy="1252728"/>
          </a:xfrm>
          <a:prstGeom prst="rect">
            <a:avLst/>
          </a:prstGeom>
          <a:noFill/>
          <a:ln/>
        </p:spPr>
        <p:txBody>
          <a:bodyPr wrap="square" lIns="0" tIns="0" rIns="0" bIns="0" rtlCol="0" anchor="t"/>
          <a:lstStyle/>
          <a:p>
            <a:pPr indent="0" marL="0">
              <a:buNone/>
            </a:pPr>
            <a:r>
              <a:rPr lang="en-US" sz="1100" i="1" dirty="0">
                <a:solidFill>
                  <a:schemeClr val="accent6"/>
                </a:solidFill>
                <a:latin typeface="Courier New" pitchFamily="34" charset="0"/>
                <a:ea typeface="Courier New" pitchFamily="34" charset="-122"/>
                <a:cs typeface="Courier New" pitchFamily="34" charset="-120"/>
              </a:rPr>
              <a:t>// sequential.cpp: dot</a:t>
            </a:r>
            <a:endParaRPr lang="en-US" sz="1100" dirty="0"/>
          </a:p>
          <a:p>
            <a:pPr indent="0" marL="0">
              <a:buNone/>
            </a:pPr>
            <a:r>
              <a:rPr lang="en-US" sz="1100" dirty="0">
                <a:solidFill>
                  <a:schemeClr val="accent5"/>
                </a:solidFill>
                <a:latin typeface="Courier New" pitchFamily="34" charset="0"/>
                <a:ea typeface="Courier New" pitchFamily="34" charset="-122"/>
                <a:cs typeface="Courier New" pitchFamily="34" charset="-120"/>
              </a:rPr>
              <a:t>double</a:t>
            </a:r>
            <a:pPr indent="0" marL="0">
              <a:buNone/>
            </a:pPr>
            <a:r>
              <a:rPr lang="en-US" sz="1100" dirty="0">
                <a:solidFill>
                  <a:schemeClr val="bg2"/>
                </a:solidFill>
                <a:latin typeface="Courier New" pitchFamily="34" charset="0"/>
                <a:ea typeface="Courier New" pitchFamily="34" charset="-122"/>
                <a:cs typeface="Courier New" pitchFamily="34" charset="-120"/>
              </a:rPr>
              <a:t> sum = </a:t>
            </a:r>
            <a:pPr indent="0" marL="0">
              <a:buNone/>
            </a:pPr>
            <a:r>
              <a:rPr lang="en-US" sz="1100" dirty="0">
                <a:solidFill>
                  <a:schemeClr val="accent2"/>
                </a:solidFill>
                <a:latin typeface="Courier New" pitchFamily="34" charset="0"/>
                <a:ea typeface="Courier New" pitchFamily="34" charset="-122"/>
                <a:cs typeface="Courier New" pitchFamily="34" charset="-120"/>
              </a:rPr>
              <a:t>0.0</a:t>
            </a:r>
            <a:pPr indent="0" marL="0">
              <a:buNone/>
            </a:pPr>
            <a:r>
              <a:rPr lang="en-US" sz="1100" dirty="0">
                <a:solidFill>
                  <a:schemeClr val="bg2"/>
                </a:solidFill>
                <a:latin typeface="Courier New" pitchFamily="34" charset="0"/>
                <a:ea typeface="Courier New" pitchFamily="34" charset="-122"/>
                <a:cs typeface="Courier New" pitchFamily="34" charset="-120"/>
              </a:rPr>
              <a:t>;</a:t>
            </a:r>
            <a:endParaRPr lang="en-US" sz="1100" dirty="0"/>
          </a:p>
          <a:p>
            <a:pPr indent="0" marL="0">
              <a:buNone/>
            </a:pPr>
            <a:r>
              <a:rPr lang="en-US" sz="1100" dirty="0">
                <a:solidFill>
                  <a:schemeClr val="accent5"/>
                </a:solidFill>
                <a:latin typeface="Courier New" pitchFamily="34" charset="0"/>
                <a:ea typeface="Courier New" pitchFamily="34" charset="-122"/>
                <a:cs typeface="Courier New" pitchFamily="34" charset="-120"/>
              </a:rPr>
              <a:t>for</a:t>
            </a:r>
            <a:pPr indent="0" marL="0">
              <a:buNone/>
            </a:pPr>
            <a:r>
              <a:rPr lang="en-US" sz="1100" dirty="0">
                <a:solidFill>
                  <a:schemeClr val="bg2"/>
                </a:solidFill>
                <a:latin typeface="Courier New" pitchFamily="34" charset="0"/>
                <a:ea typeface="Courier New" pitchFamily="34" charset="-122"/>
                <a:cs typeface="Courier New" pitchFamily="34" charset="-120"/>
              </a:rPr>
              <a:t> (</a:t>
            </a:r>
            <a:pPr indent="0" marL="0">
              <a:buNone/>
            </a:pPr>
            <a:r>
              <a:rPr lang="en-US" sz="1100" dirty="0">
                <a:solidFill>
                  <a:schemeClr val="accent5"/>
                </a:solidFill>
                <a:latin typeface="Courier New" pitchFamily="34" charset="0"/>
                <a:ea typeface="Courier New" pitchFamily="34" charset="-122"/>
                <a:cs typeface="Courier New" pitchFamily="34" charset="-120"/>
              </a:rPr>
              <a:t>auto</a:t>
            </a:r>
            <a:pPr indent="0" marL="0">
              <a:buNone/>
            </a:pPr>
            <a:r>
              <a:rPr lang="en-US" sz="1100" dirty="0">
                <a:solidFill>
                  <a:schemeClr val="bg2"/>
                </a:solidFill>
                <a:latin typeface="Courier New" pitchFamily="34" charset="0"/>
                <a:ea typeface="Courier New" pitchFamily="34" charset="-122"/>
                <a:cs typeface="Courier New" pitchFamily="34" charset="-120"/>
              </a:rPr>
              <a:t> i = </a:t>
            </a:r>
            <a:pPr indent="0" marL="0">
              <a:buNone/>
            </a:pPr>
            <a:r>
              <a:rPr lang="en-US" sz="1100" dirty="0">
                <a:solidFill>
                  <a:schemeClr val="accent2"/>
                </a:solidFill>
                <a:latin typeface="Courier New" pitchFamily="34" charset="0"/>
                <a:ea typeface="Courier New" pitchFamily="34" charset="-122"/>
                <a:cs typeface="Courier New" pitchFamily="34" charset="-120"/>
              </a:rPr>
              <a:t>0</a:t>
            </a:r>
            <a:pPr indent="0" marL="0">
              <a:buNone/>
            </a:pPr>
            <a:r>
              <a:rPr lang="en-US" sz="1100" dirty="0">
                <a:solidFill>
                  <a:schemeClr val="bg2"/>
                </a:solidFill>
                <a:latin typeface="Courier New" pitchFamily="34" charset="0"/>
                <a:ea typeface="Courier New" pitchFamily="34" charset="-122"/>
                <a:cs typeface="Courier New" pitchFamily="34" charset="-120"/>
              </a:rPr>
              <a:t>; i &lt; n; ++i)</a:t>
            </a:r>
            <a:endParaRPr lang="en-US" sz="1100" dirty="0"/>
          </a:p>
          <a:p>
            <a:pPr indent="0" marL="0">
              <a:buNone/>
            </a:pPr>
            <a:r>
              <a:rPr lang="en-US" sz="1100" dirty="0">
                <a:solidFill>
                  <a:schemeClr val="bg2"/>
                </a:solidFill>
                <a:latin typeface="Courier New" pitchFamily="34" charset="0"/>
                <a:ea typeface="Courier New" pitchFamily="34" charset="-122"/>
                <a:cs typeface="Courier New" pitchFamily="34" charset="-120"/>
              </a:rPr>
              <a:t>  sum += </a:t>
            </a:r>
            <a:pPr indent="0" marL="0">
              <a:buNone/>
            </a:pPr>
            <a:r>
              <a:rPr lang="en-US" sz="1100" dirty="0">
                <a:solidFill>
                  <a:schemeClr val="accent5"/>
                </a:solidFill>
                <a:latin typeface="Courier New" pitchFamily="34" charset="0"/>
                <a:ea typeface="Courier New" pitchFamily="34" charset="-122"/>
                <a:cs typeface="Courier New" pitchFamily="34" charset="-120"/>
              </a:rPr>
              <a:t>double</a:t>
            </a:r>
            <a:pPr indent="0" marL="0">
              <a:buNone/>
            </a:pPr>
            <a:r>
              <a:rPr lang="en-US" sz="1100" dirty="0">
                <a:solidFill>
                  <a:schemeClr val="bg2"/>
                </a:solidFill>
                <a:latin typeface="Courier New" pitchFamily="34" charset="0"/>
                <a:ea typeface="Courier New" pitchFamily="34" charset="-122"/>
                <a:cs typeface="Courier New" pitchFamily="34" charset="-120"/>
              </a:rPr>
              <a:t>(x[i]) * </a:t>
            </a:r>
            <a:pPr indent="0" marL="0">
              <a:buNone/>
            </a:pPr>
            <a:r>
              <a:rPr lang="en-US" sz="1100" dirty="0">
                <a:solidFill>
                  <a:schemeClr val="accent5"/>
                </a:solidFill>
                <a:latin typeface="Courier New" pitchFamily="34" charset="0"/>
                <a:ea typeface="Courier New" pitchFamily="34" charset="-122"/>
                <a:cs typeface="Courier New" pitchFamily="34" charset="-120"/>
              </a:rPr>
              <a:t>double</a:t>
            </a:r>
            <a:pPr indent="0" marL="0">
              <a:buNone/>
            </a:pPr>
            <a:r>
              <a:rPr lang="en-US" sz="1100" dirty="0">
                <a:solidFill>
                  <a:schemeClr val="bg2"/>
                </a:solidFill>
                <a:latin typeface="Courier New" pitchFamily="34" charset="0"/>
                <a:ea typeface="Courier New" pitchFamily="34" charset="-122"/>
                <a:cs typeface="Courier New" pitchFamily="34" charset="-120"/>
              </a:rPr>
              <a:t>(y[i]);</a:t>
            </a:r>
            <a:endParaRPr lang="en-US" sz="1100" dirty="0"/>
          </a:p>
          <a:p>
            <a:pPr indent="0" marL="0">
              <a:buNone/>
            </a:pPr>
            <a:r>
              <a:rPr lang="en-US" sz="1100" dirty="0">
                <a:solidFill>
                  <a:schemeClr val="accent5"/>
                </a:solidFill>
                <a:latin typeface="Courier New" pitchFamily="34" charset="0"/>
                <a:ea typeface="Courier New" pitchFamily="34" charset="-122"/>
                <a:cs typeface="Courier New" pitchFamily="34" charset="-120"/>
              </a:rPr>
              <a:t>return</a:t>
            </a:r>
            <a:pPr indent="0" marL="0">
              <a:buNone/>
            </a:pPr>
            <a:r>
              <a:rPr lang="en-US" sz="1100" dirty="0">
                <a:solidFill>
                  <a:schemeClr val="bg2"/>
                </a:solidFill>
                <a:latin typeface="Courier New" pitchFamily="34" charset="0"/>
                <a:ea typeface="Courier New" pitchFamily="34" charset="-122"/>
                <a:cs typeface="Courier New" pitchFamily="34" charset="-120"/>
              </a:rPr>
              <a:t> </a:t>
            </a:r>
            <a:pPr indent="0" marL="0">
              <a:buNone/>
            </a:pPr>
            <a:r>
              <a:rPr lang="en-US" sz="1100" dirty="0">
                <a:solidFill>
                  <a:schemeClr val="accent5"/>
                </a:solidFill>
                <a:latin typeface="Courier New" pitchFamily="34" charset="0"/>
                <a:ea typeface="Courier New" pitchFamily="34" charset="-122"/>
                <a:cs typeface="Courier New" pitchFamily="34" charset="-120"/>
              </a:rPr>
              <a:t>float</a:t>
            </a:r>
            <a:pPr indent="0" marL="0">
              <a:buNone/>
            </a:pPr>
            <a:r>
              <a:rPr lang="en-US" sz="1100" dirty="0">
                <a:solidFill>
                  <a:schemeClr val="bg2"/>
                </a:solidFill>
                <a:latin typeface="Courier New" pitchFamily="34" charset="0"/>
                <a:ea typeface="Courier New" pitchFamily="34" charset="-122"/>
                <a:cs typeface="Courier New" pitchFamily="34" charset="-120"/>
              </a:rPr>
              <a:t>(sum);</a:t>
            </a:r>
            <a:endParaRPr lang="en-US" sz="1100" dirty="0"/>
          </a:p>
        </p:txBody>
      </p:sp>
      <p:sp>
        <p:nvSpPr>
          <p:cNvPr id="11" name="parallel dot code panel"/>
          <p:cNvSpPr/>
          <p:nvPr/>
        </p:nvSpPr>
        <p:spPr>
          <a:xfrm>
            <a:off x="4663440" y="2788920"/>
            <a:ext cx="4023360" cy="1508760"/>
          </a:xfrm>
          <a:prstGeom prst="roundRect">
            <a:avLst>
              <a:gd name="adj" fmla="val 4848"/>
            </a:avLst>
          </a:prstGeom>
          <a:solidFill>
            <a:schemeClr val="tx2"/>
          </a:solidFill>
          <a:ln/>
        </p:spPr>
      </p:sp>
      <p:sp>
        <p:nvSpPr>
          <p:cNvPr id="12" name="parallel dot code"/>
          <p:cNvSpPr txBox="1"/>
          <p:nvPr/>
        </p:nvSpPr>
        <p:spPr>
          <a:xfrm>
            <a:off x="4828032" y="2916936"/>
            <a:ext cx="3694176" cy="1252728"/>
          </a:xfrm>
          <a:prstGeom prst="rect">
            <a:avLst/>
          </a:prstGeom>
          <a:noFill/>
          <a:ln/>
        </p:spPr>
        <p:txBody>
          <a:bodyPr wrap="square" lIns="0" tIns="0" rIns="0" bIns="0" rtlCol="0" anchor="t"/>
          <a:lstStyle/>
          <a:p>
            <a:pPr indent="0" marL="0">
              <a:buNone/>
            </a:pPr>
            <a:r>
              <a:rPr lang="en-US" sz="1100" i="1" dirty="0">
                <a:solidFill>
                  <a:schemeClr val="accent6"/>
                </a:solidFill>
                <a:latin typeface="Courier New" pitchFamily="34" charset="0"/>
                <a:ea typeface="Courier New" pitchFamily="34" charset="-122"/>
                <a:cs typeface="Courier New" pitchFamily="34" charset="-120"/>
              </a:rPr>
              <a:t>// blas.cpp: dot</a:t>
            </a:r>
            <a:endParaRPr lang="en-US" sz="1100" dirty="0"/>
          </a:p>
          <a:p>
            <a:pPr indent="0" marL="0">
              <a:buNone/>
            </a:pPr>
            <a:r>
              <a:rPr lang="en-US" sz="1100" dirty="0">
                <a:solidFill>
                  <a:schemeClr val="bg2"/>
                </a:solidFill>
                <a:latin typeface="Courier New" pitchFamily="34" charset="0"/>
                <a:ea typeface="Courier New" pitchFamily="34" charset="-122"/>
                <a:cs typeface="Courier New" pitchFamily="34" charset="-120"/>
              </a:rPr>
              <a:t>parallel_sum(n, [=](</a:t>
            </a:r>
            <a:pPr indent="0" marL="0">
              <a:buNone/>
            </a:pPr>
            <a:r>
              <a:rPr lang="en-US" sz="1100" dirty="0">
                <a:solidFill>
                  <a:schemeClr val="accent5"/>
                </a:solidFill>
                <a:latin typeface="Courier New" pitchFamily="34" charset="0"/>
                <a:ea typeface="Courier New" pitchFamily="34" charset="-122"/>
                <a:cs typeface="Courier New" pitchFamily="34" charset="-120"/>
              </a:rPr>
              <a:t>auto</a:t>
            </a:r>
            <a:pPr indent="0" marL="0">
              <a:buNone/>
            </a:pPr>
            <a:r>
              <a:rPr lang="en-US" sz="1100" dirty="0">
                <a:solidFill>
                  <a:schemeClr val="bg2"/>
                </a:solidFill>
                <a:latin typeface="Courier New" pitchFamily="34" charset="0"/>
                <a:ea typeface="Courier New" pitchFamily="34" charset="-122"/>
                <a:cs typeface="Courier New" pitchFamily="34" charset="-120"/>
              </a:rPr>
              <a:t> lo, </a:t>
            </a:r>
            <a:pPr indent="0" marL="0">
              <a:buNone/>
            </a:pPr>
            <a:r>
              <a:rPr lang="en-US" sz="1100" dirty="0">
                <a:solidFill>
                  <a:schemeClr val="accent5"/>
                </a:solidFill>
                <a:latin typeface="Courier New" pitchFamily="34" charset="0"/>
                <a:ea typeface="Courier New" pitchFamily="34" charset="-122"/>
                <a:cs typeface="Courier New" pitchFamily="34" charset="-120"/>
              </a:rPr>
              <a:t>auto</a:t>
            </a:r>
            <a:pPr indent="0" marL="0">
              <a:buNone/>
            </a:pPr>
            <a:r>
              <a:rPr lang="en-US" sz="1100" dirty="0">
                <a:solidFill>
                  <a:schemeClr val="bg2"/>
                </a:solidFill>
                <a:latin typeface="Courier New" pitchFamily="34" charset="0"/>
                <a:ea typeface="Courier New" pitchFamily="34" charset="-122"/>
                <a:cs typeface="Courier New" pitchFamily="34" charset="-120"/>
              </a:rPr>
              <a:t> hi) {</a:t>
            </a:r>
            <a:endParaRPr lang="en-US" sz="1100" dirty="0"/>
          </a:p>
          <a:p>
            <a:pPr indent="0" marL="0">
              <a:buNone/>
            </a:pPr>
            <a:r>
              <a:rPr lang="en-US" sz="1100" dirty="0">
                <a:solidFill>
                  <a:schemeClr val="bg2"/>
                </a:solidFill>
                <a:latin typeface="Courier New" pitchFamily="34" charset="0"/>
                <a:ea typeface="Courier New" pitchFamily="34" charset="-122"/>
                <a:cs typeface="Courier New" pitchFamily="34" charset="-120"/>
              </a:rPr>
              <a:t>  </a:t>
            </a:r>
            <a:pPr indent="0" marL="0">
              <a:buNone/>
            </a:pPr>
            <a:r>
              <a:rPr lang="en-US" sz="1100" dirty="0">
                <a:solidFill>
                  <a:schemeClr val="accent5"/>
                </a:solidFill>
                <a:latin typeface="Courier New" pitchFamily="34" charset="0"/>
                <a:ea typeface="Courier New" pitchFamily="34" charset="-122"/>
                <a:cs typeface="Courier New" pitchFamily="34" charset="-120"/>
              </a:rPr>
              <a:t>double</a:t>
            </a:r>
            <a:pPr indent="0" marL="0">
              <a:buNone/>
            </a:pPr>
            <a:r>
              <a:rPr lang="en-US" sz="1100" dirty="0">
                <a:solidFill>
                  <a:schemeClr val="bg2"/>
                </a:solidFill>
                <a:latin typeface="Courier New" pitchFamily="34" charset="0"/>
                <a:ea typeface="Courier New" pitchFamily="34" charset="-122"/>
                <a:cs typeface="Courier New" pitchFamily="34" charset="-120"/>
              </a:rPr>
              <a:t> sum = </a:t>
            </a:r>
            <a:pPr indent="0" marL="0">
              <a:buNone/>
            </a:pPr>
            <a:r>
              <a:rPr lang="en-US" sz="1100" dirty="0">
                <a:solidFill>
                  <a:schemeClr val="accent2"/>
                </a:solidFill>
                <a:latin typeface="Courier New" pitchFamily="34" charset="0"/>
                <a:ea typeface="Courier New" pitchFamily="34" charset="-122"/>
                <a:cs typeface="Courier New" pitchFamily="34" charset="-120"/>
              </a:rPr>
              <a:t>0.0</a:t>
            </a:r>
            <a:pPr indent="0" marL="0">
              <a:buNone/>
            </a:pPr>
            <a:r>
              <a:rPr lang="en-US" sz="1100" dirty="0">
                <a:solidFill>
                  <a:schemeClr val="bg2"/>
                </a:solidFill>
                <a:latin typeface="Courier New" pitchFamily="34" charset="0"/>
                <a:ea typeface="Courier New" pitchFamily="34" charset="-122"/>
                <a:cs typeface="Courier New" pitchFamily="34" charset="-120"/>
              </a:rPr>
              <a:t>;</a:t>
            </a:r>
            <a:endParaRPr lang="en-US" sz="1100" dirty="0"/>
          </a:p>
          <a:p>
            <a:pPr indent="0" marL="0">
              <a:buNone/>
            </a:pPr>
            <a:r>
              <a:rPr lang="en-US" sz="1100" dirty="0">
                <a:solidFill>
                  <a:schemeClr val="bg2"/>
                </a:solidFill>
                <a:latin typeface="Courier New" pitchFamily="34" charset="0"/>
                <a:ea typeface="Courier New" pitchFamily="34" charset="-122"/>
                <a:cs typeface="Courier New" pitchFamily="34" charset="-120"/>
              </a:rPr>
              <a:t>  </a:t>
            </a:r>
            <a:pPr indent="0" marL="0">
              <a:buNone/>
            </a:pPr>
            <a:r>
              <a:rPr lang="en-US" sz="1100" dirty="0">
                <a:solidFill>
                  <a:schemeClr val="accent5"/>
                </a:solidFill>
                <a:latin typeface="Courier New" pitchFamily="34" charset="0"/>
                <a:ea typeface="Courier New" pitchFamily="34" charset="-122"/>
                <a:cs typeface="Courier New" pitchFamily="34" charset="-120"/>
              </a:rPr>
              <a:t>for</a:t>
            </a:r>
            <a:pPr indent="0" marL="0">
              <a:buNone/>
            </a:pPr>
            <a:r>
              <a:rPr lang="en-US" sz="1100" dirty="0">
                <a:solidFill>
                  <a:schemeClr val="bg2"/>
                </a:solidFill>
                <a:latin typeface="Courier New" pitchFamily="34" charset="0"/>
                <a:ea typeface="Courier New" pitchFamily="34" charset="-122"/>
                <a:cs typeface="Courier New" pitchFamily="34" charset="-120"/>
              </a:rPr>
              <a:t> (</a:t>
            </a:r>
            <a:pPr indent="0" marL="0">
              <a:buNone/>
            </a:pPr>
            <a:r>
              <a:rPr lang="en-US" sz="1100" dirty="0">
                <a:solidFill>
                  <a:schemeClr val="accent5"/>
                </a:solidFill>
                <a:latin typeface="Courier New" pitchFamily="34" charset="0"/>
                <a:ea typeface="Courier New" pitchFamily="34" charset="-122"/>
                <a:cs typeface="Courier New" pitchFamily="34" charset="-120"/>
              </a:rPr>
              <a:t>auto</a:t>
            </a:r>
            <a:pPr indent="0" marL="0">
              <a:buNone/>
            </a:pPr>
            <a:r>
              <a:rPr lang="en-US" sz="1100" dirty="0">
                <a:solidFill>
                  <a:schemeClr val="bg2"/>
                </a:solidFill>
                <a:latin typeface="Courier New" pitchFamily="34" charset="0"/>
                <a:ea typeface="Courier New" pitchFamily="34" charset="-122"/>
                <a:cs typeface="Courier New" pitchFamily="34" charset="-120"/>
              </a:rPr>
              <a:t> i = lo; i &lt; hi; ++i)</a:t>
            </a:r>
            <a:endParaRPr lang="en-US" sz="1100" dirty="0"/>
          </a:p>
          <a:p>
            <a:pPr indent="0" marL="0">
              <a:buNone/>
            </a:pPr>
            <a:r>
              <a:rPr lang="en-US" sz="1100" dirty="0">
                <a:solidFill>
                  <a:schemeClr val="bg2"/>
                </a:solidFill>
                <a:latin typeface="Courier New" pitchFamily="34" charset="0"/>
                <a:ea typeface="Courier New" pitchFamily="34" charset="-122"/>
                <a:cs typeface="Courier New" pitchFamily="34" charset="-120"/>
              </a:rPr>
              <a:t>    sum += </a:t>
            </a:r>
            <a:pPr indent="0" marL="0">
              <a:buNone/>
            </a:pPr>
            <a:r>
              <a:rPr lang="en-US" sz="1100" dirty="0">
                <a:solidFill>
                  <a:schemeClr val="accent5"/>
                </a:solidFill>
                <a:latin typeface="Courier New" pitchFamily="34" charset="0"/>
                <a:ea typeface="Courier New" pitchFamily="34" charset="-122"/>
                <a:cs typeface="Courier New" pitchFamily="34" charset="-120"/>
              </a:rPr>
              <a:t>double</a:t>
            </a:r>
            <a:pPr indent="0" marL="0">
              <a:buNone/>
            </a:pPr>
            <a:r>
              <a:rPr lang="en-US" sz="1100" dirty="0">
                <a:solidFill>
                  <a:schemeClr val="bg2"/>
                </a:solidFill>
                <a:latin typeface="Courier New" pitchFamily="34" charset="0"/>
                <a:ea typeface="Courier New" pitchFamily="34" charset="-122"/>
                <a:cs typeface="Courier New" pitchFamily="34" charset="-120"/>
              </a:rPr>
              <a:t>(x[i]) * </a:t>
            </a:r>
            <a:pPr indent="0" marL="0">
              <a:buNone/>
            </a:pPr>
            <a:r>
              <a:rPr lang="en-US" sz="1100" dirty="0">
                <a:solidFill>
                  <a:schemeClr val="accent5"/>
                </a:solidFill>
                <a:latin typeface="Courier New" pitchFamily="34" charset="0"/>
                <a:ea typeface="Courier New" pitchFamily="34" charset="-122"/>
                <a:cs typeface="Courier New" pitchFamily="34" charset="-120"/>
              </a:rPr>
              <a:t>double</a:t>
            </a:r>
            <a:pPr indent="0" marL="0">
              <a:buNone/>
            </a:pPr>
            <a:r>
              <a:rPr lang="en-US" sz="1100" dirty="0">
                <a:solidFill>
                  <a:schemeClr val="bg2"/>
                </a:solidFill>
                <a:latin typeface="Courier New" pitchFamily="34" charset="0"/>
                <a:ea typeface="Courier New" pitchFamily="34" charset="-122"/>
                <a:cs typeface="Courier New" pitchFamily="34" charset="-120"/>
              </a:rPr>
              <a:t>(y[i]);</a:t>
            </a:r>
            <a:endParaRPr lang="en-US" sz="1100" dirty="0"/>
          </a:p>
          <a:p>
            <a:pPr indent="0" marL="0">
              <a:buNone/>
            </a:pPr>
            <a:r>
              <a:rPr lang="en-US" sz="1100" dirty="0">
                <a:solidFill>
                  <a:schemeClr val="bg2"/>
                </a:solidFill>
                <a:latin typeface="Courier New" pitchFamily="34" charset="0"/>
                <a:ea typeface="Courier New" pitchFamily="34" charset="-122"/>
                <a:cs typeface="Courier New" pitchFamily="34" charset="-120"/>
              </a:rPr>
              <a:t>  </a:t>
            </a:r>
            <a:pPr indent="0" marL="0">
              <a:buNone/>
            </a:pPr>
            <a:r>
              <a:rPr lang="en-US" sz="1100" dirty="0">
                <a:solidFill>
                  <a:schemeClr val="accent5"/>
                </a:solidFill>
                <a:latin typeface="Courier New" pitchFamily="34" charset="0"/>
                <a:ea typeface="Courier New" pitchFamily="34" charset="-122"/>
                <a:cs typeface="Courier New" pitchFamily="34" charset="-120"/>
              </a:rPr>
              <a:t>return</a:t>
            </a:r>
            <a:pPr indent="0" marL="0">
              <a:buNone/>
            </a:pPr>
            <a:r>
              <a:rPr lang="en-US" sz="1100" dirty="0">
                <a:solidFill>
                  <a:schemeClr val="bg2"/>
                </a:solidFill>
                <a:latin typeface="Courier New" pitchFamily="34" charset="0"/>
                <a:ea typeface="Courier New" pitchFamily="34" charset="-122"/>
                <a:cs typeface="Courier New" pitchFamily="34" charset="-120"/>
              </a:rPr>
              <a:t> sum;</a:t>
            </a:r>
            <a:endParaRPr lang="en-US" sz="1100" dirty="0"/>
          </a:p>
          <a:p>
            <a:pPr indent="0" marL="0">
              <a:buNone/>
            </a:pPr>
            <a:r>
              <a:rPr lang="en-US" sz="1100" dirty="0">
                <a:solidFill>
                  <a:schemeClr val="bg2"/>
                </a:solidFill>
                <a:latin typeface="Courier New" pitchFamily="34" charset="0"/>
                <a:ea typeface="Courier New" pitchFamily="34" charset="-122"/>
                <a:cs typeface="Courier New" pitchFamily="34" charset="-120"/>
              </a:rPr>
              <a:t>});</a:t>
            </a:r>
            <a:endParaRPr lang="en-US" sz="1100" dirty="0"/>
          </a:p>
        </p:txBody>
      </p:sp>
      <p:sp>
        <p:nvSpPr>
          <p:cNvPr id="13" name="Same results note"/>
          <p:cNvSpPr txBox="1"/>
          <p:nvPr/>
        </p:nvSpPr>
        <p:spPr>
          <a:xfrm>
            <a:off x="457200" y="4407408"/>
            <a:ext cx="7589520" cy="274320"/>
          </a:xfrm>
          <a:prstGeom prst="rect">
            <a:avLst/>
          </a:prstGeom>
          <a:noFill/>
          <a:ln/>
        </p:spPr>
        <p:txBody>
          <a:bodyPr wrap="square" lIns="0" tIns="0" rIns="0" bIns="0" rtlCol="0" anchor="t"/>
          <a:lstStyle/>
          <a:p>
            <a:pPr indent="0" marL="0">
              <a:buNone/>
            </a:pPr>
            <a:r>
              <a:rPr lang="en-US" sz="1400" dirty="0">
                <a:solidFill>
                  <a:schemeClr val="tx1"/>
                </a:solidFill>
              </a:rPr>
              <a:t>Same results: bit-identical for add, and within float rounding for dot (checked by tests).</a:t>
            </a:r>
            <a:endParaRPr lang="en-US" sz="1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3400" b="1" dirty="0">
                <a:solidFill>
                  <a:schemeClr val="tx1"/>
                </a:solidFill>
              </a:rPr>
              <a:t>Splitting the array</a:t>
            </a:r>
            <a:endParaRPr lang="en-US" sz="3400" dirty="0"/>
          </a:p>
        </p:txBody>
      </p:sp>
      <p:sp>
        <p:nvSpPr>
          <p:cNvPr id="3" name="Text 1"/>
          <p:cNvSpPr txBox="1"/>
          <p:nvPr/>
        </p:nvSpPr>
        <p:spPr>
          <a:xfrm>
            <a:off x="457200" y="1097280"/>
            <a:ext cx="8229600" cy="457200"/>
          </a:xfrm>
          <a:prstGeom prst="rect">
            <a:avLst/>
          </a:prstGeom>
          <a:noFill/>
          <a:ln/>
        </p:spPr>
        <p:txBody>
          <a:bodyPr wrap="square" lIns="0" tIns="0" rIns="0" bIns="0" rtlCol="0" anchor="t"/>
          <a:lstStyle/>
          <a:p>
            <a:pPr indent="0" marL="0">
              <a:buNone/>
            </a:pPr>
            <a:r>
              <a:rPr lang="en-US" sz="1400" dirty="0">
                <a:solidFill>
                  <a:schemeClr val="tx1"/>
                </a:solidFill>
              </a:rPr>
              <a:t>Every thread gets one contiguous block. Block size is rounded up to a multiple of 16 floats.</a:t>
            </a:r>
            <a:endParaRPr lang="en-US" sz="1400" dirty="0"/>
          </a:p>
        </p:txBody>
      </p:sp>
      <p:sp>
        <p:nvSpPr>
          <p:cNvPr id="4" name="Row A label"/>
          <p:cNvSpPr txBox="1"/>
          <p:nvPr/>
        </p:nvSpPr>
        <p:spPr>
          <a:xfrm>
            <a:off x="457200" y="1645920"/>
            <a:ext cx="5486400" cy="274320"/>
          </a:xfrm>
          <a:prstGeom prst="rect">
            <a:avLst/>
          </a:prstGeom>
          <a:noFill/>
          <a:ln/>
        </p:spPr>
        <p:txBody>
          <a:bodyPr wrap="square" lIns="0" tIns="0" rIns="0" bIns="0" rtlCol="0" anchor="t"/>
          <a:lstStyle/>
          <a:p>
            <a:pPr indent="0" marL="0">
              <a:buNone/>
            </a:pPr>
            <a:r>
              <a:rPr lang="en-US" sz="1400" b="1" dirty="0">
                <a:solidFill>
                  <a:schemeClr val="tx1"/>
                </a:solidFill>
              </a:rPr>
              <a:t>n = 100, 4 threads: chunk = 25, rounded up to 32</a:t>
            </a:r>
            <a:endParaRPr lang="en-US" sz="1400" dirty="0"/>
          </a:p>
        </p:txBody>
      </p:sp>
      <p:sp>
        <p:nvSpPr>
          <p:cNvPr id="5" name="Row A T0"/>
          <p:cNvSpPr/>
          <p:nvPr/>
        </p:nvSpPr>
        <p:spPr>
          <a:xfrm>
            <a:off x="457200" y="2011680"/>
            <a:ext cx="2633472" cy="502920"/>
          </a:xfrm>
          <a:prstGeom prst="rect">
            <a:avLst/>
          </a:prstGeom>
          <a:solidFill>
            <a:schemeClr val="accent1"/>
          </a:solidFill>
          <a:ln/>
        </p:spPr>
      </p:sp>
      <p:sp>
        <p:nvSpPr>
          <p:cNvPr id="6" name="Row A T0 label"/>
          <p:cNvSpPr txBox="1"/>
          <p:nvPr/>
        </p:nvSpPr>
        <p:spPr>
          <a:xfrm>
            <a:off x="457200" y="2011680"/>
            <a:ext cx="2633472" cy="502920"/>
          </a:xfrm>
          <a:prstGeom prst="rect">
            <a:avLst/>
          </a:prstGeom>
          <a:noFill/>
          <a:ln/>
        </p:spPr>
        <p:txBody>
          <a:bodyPr wrap="square" lIns="0" tIns="0" rIns="0" bIns="0" rtlCol="0" anchor="ctr"/>
          <a:lstStyle/>
          <a:p>
            <a:pPr algn="ctr" indent="0" marL="0">
              <a:buNone/>
            </a:pPr>
            <a:r>
              <a:rPr lang="en-US" sz="1600" b="1" dirty="0">
                <a:solidFill>
                  <a:schemeClr val="tx1"/>
                </a:solidFill>
              </a:rPr>
              <a:t>T0</a:t>
            </a:r>
            <a:endParaRPr lang="en-US" sz="1600" dirty="0"/>
          </a:p>
        </p:txBody>
      </p:sp>
      <p:sp>
        <p:nvSpPr>
          <p:cNvPr id="7" name="Row A T0 range"/>
          <p:cNvSpPr txBox="1"/>
          <p:nvPr/>
        </p:nvSpPr>
        <p:spPr>
          <a:xfrm>
            <a:off x="457200" y="2578608"/>
            <a:ext cx="2633472" cy="228600"/>
          </a:xfrm>
          <a:prstGeom prst="rect">
            <a:avLst/>
          </a:prstGeom>
          <a:noFill/>
          <a:ln/>
        </p:spPr>
        <p:txBody>
          <a:bodyPr wrap="square" lIns="0" tIns="0" rIns="0" bIns="0" rtlCol="0" anchor="t"/>
          <a:lstStyle/>
          <a:p>
            <a:pPr algn="ctr" indent="0" marL="0">
              <a:buNone/>
            </a:pPr>
            <a:r>
              <a:rPr lang="en-US" sz="1200" dirty="0">
                <a:solidFill>
                  <a:schemeClr val="tx1"/>
                </a:solidFill>
              </a:rPr>
              <a:t>[0, 32)</a:t>
            </a:r>
            <a:endParaRPr lang="en-US" sz="1200" dirty="0"/>
          </a:p>
        </p:txBody>
      </p:sp>
      <p:sp>
        <p:nvSpPr>
          <p:cNvPr id="8" name="Row A T1"/>
          <p:cNvSpPr/>
          <p:nvPr/>
        </p:nvSpPr>
        <p:spPr>
          <a:xfrm>
            <a:off x="3090672" y="2011680"/>
            <a:ext cx="2633472" cy="502920"/>
          </a:xfrm>
          <a:prstGeom prst="rect">
            <a:avLst/>
          </a:prstGeom>
          <a:solidFill>
            <a:schemeClr val="accent2"/>
          </a:solidFill>
          <a:ln/>
        </p:spPr>
      </p:sp>
      <p:sp>
        <p:nvSpPr>
          <p:cNvPr id="9" name="Row A T1 label"/>
          <p:cNvSpPr txBox="1"/>
          <p:nvPr/>
        </p:nvSpPr>
        <p:spPr>
          <a:xfrm>
            <a:off x="3090672" y="2011680"/>
            <a:ext cx="2633472" cy="502920"/>
          </a:xfrm>
          <a:prstGeom prst="rect">
            <a:avLst/>
          </a:prstGeom>
          <a:noFill/>
          <a:ln/>
        </p:spPr>
        <p:txBody>
          <a:bodyPr wrap="square" lIns="0" tIns="0" rIns="0" bIns="0" rtlCol="0" anchor="ctr"/>
          <a:lstStyle/>
          <a:p>
            <a:pPr algn="ctr" indent="0" marL="0">
              <a:buNone/>
            </a:pPr>
            <a:r>
              <a:rPr lang="en-US" sz="1600" b="1" dirty="0">
                <a:solidFill>
                  <a:schemeClr val="tx1"/>
                </a:solidFill>
              </a:rPr>
              <a:t>T1</a:t>
            </a:r>
            <a:endParaRPr lang="en-US" sz="1600" dirty="0"/>
          </a:p>
        </p:txBody>
      </p:sp>
      <p:sp>
        <p:nvSpPr>
          <p:cNvPr id="10" name="Row A T1 range"/>
          <p:cNvSpPr txBox="1"/>
          <p:nvPr/>
        </p:nvSpPr>
        <p:spPr>
          <a:xfrm>
            <a:off x="3090672" y="2578608"/>
            <a:ext cx="2633472" cy="228600"/>
          </a:xfrm>
          <a:prstGeom prst="rect">
            <a:avLst/>
          </a:prstGeom>
          <a:noFill/>
          <a:ln/>
        </p:spPr>
        <p:txBody>
          <a:bodyPr wrap="square" lIns="0" tIns="0" rIns="0" bIns="0" rtlCol="0" anchor="t"/>
          <a:lstStyle/>
          <a:p>
            <a:pPr algn="ctr" indent="0" marL="0">
              <a:buNone/>
            </a:pPr>
            <a:r>
              <a:rPr lang="en-US" sz="1200" dirty="0">
                <a:solidFill>
                  <a:schemeClr val="tx1"/>
                </a:solidFill>
              </a:rPr>
              <a:t>[32, 64)</a:t>
            </a:r>
            <a:endParaRPr lang="en-US" sz="1200" dirty="0"/>
          </a:p>
        </p:txBody>
      </p:sp>
      <p:sp>
        <p:nvSpPr>
          <p:cNvPr id="11" name="Row A T2"/>
          <p:cNvSpPr/>
          <p:nvPr/>
        </p:nvSpPr>
        <p:spPr>
          <a:xfrm>
            <a:off x="5724144" y="2011680"/>
            <a:ext cx="2633472" cy="502920"/>
          </a:xfrm>
          <a:prstGeom prst="rect">
            <a:avLst/>
          </a:prstGeom>
          <a:solidFill>
            <a:schemeClr val="accent3"/>
          </a:solidFill>
          <a:ln/>
        </p:spPr>
      </p:sp>
      <p:sp>
        <p:nvSpPr>
          <p:cNvPr id="12" name="Row A T2 label"/>
          <p:cNvSpPr txBox="1"/>
          <p:nvPr/>
        </p:nvSpPr>
        <p:spPr>
          <a:xfrm>
            <a:off x="5724144" y="2011680"/>
            <a:ext cx="2633472" cy="502920"/>
          </a:xfrm>
          <a:prstGeom prst="rect">
            <a:avLst/>
          </a:prstGeom>
          <a:noFill/>
          <a:ln/>
        </p:spPr>
        <p:txBody>
          <a:bodyPr wrap="square" lIns="0" tIns="0" rIns="0" bIns="0" rtlCol="0" anchor="ctr"/>
          <a:lstStyle/>
          <a:p>
            <a:pPr algn="ctr" indent="0" marL="0">
              <a:buNone/>
            </a:pPr>
            <a:r>
              <a:rPr lang="en-US" sz="1600" b="1" dirty="0">
                <a:solidFill>
                  <a:schemeClr val="tx1"/>
                </a:solidFill>
              </a:rPr>
              <a:t>T2</a:t>
            </a:r>
            <a:endParaRPr lang="en-US" sz="1600" dirty="0"/>
          </a:p>
        </p:txBody>
      </p:sp>
      <p:sp>
        <p:nvSpPr>
          <p:cNvPr id="13" name="Row A T2 range"/>
          <p:cNvSpPr txBox="1"/>
          <p:nvPr/>
        </p:nvSpPr>
        <p:spPr>
          <a:xfrm>
            <a:off x="5724144" y="2578608"/>
            <a:ext cx="2633472" cy="228600"/>
          </a:xfrm>
          <a:prstGeom prst="rect">
            <a:avLst/>
          </a:prstGeom>
          <a:noFill/>
          <a:ln/>
        </p:spPr>
        <p:txBody>
          <a:bodyPr wrap="square" lIns="0" tIns="0" rIns="0" bIns="0" rtlCol="0" anchor="t"/>
          <a:lstStyle/>
          <a:p>
            <a:pPr algn="ctr" indent="0" marL="0">
              <a:buNone/>
            </a:pPr>
            <a:r>
              <a:rPr lang="en-US" sz="1200" dirty="0">
                <a:solidFill>
                  <a:schemeClr val="tx1"/>
                </a:solidFill>
              </a:rPr>
              <a:t>[64, 96)</a:t>
            </a:r>
            <a:endParaRPr lang="en-US" sz="1200" dirty="0"/>
          </a:p>
        </p:txBody>
      </p:sp>
      <p:sp>
        <p:nvSpPr>
          <p:cNvPr id="14" name="Row A T3"/>
          <p:cNvSpPr/>
          <p:nvPr/>
        </p:nvSpPr>
        <p:spPr>
          <a:xfrm>
            <a:off x="8357616" y="2011680"/>
            <a:ext cx="329184" cy="502920"/>
          </a:xfrm>
          <a:prstGeom prst="rect">
            <a:avLst/>
          </a:prstGeom>
          <a:solidFill>
            <a:schemeClr val="accent4"/>
          </a:solidFill>
          <a:ln/>
        </p:spPr>
      </p:sp>
      <p:sp>
        <p:nvSpPr>
          <p:cNvPr id="15" name="Row A T3 label"/>
          <p:cNvSpPr txBox="1"/>
          <p:nvPr/>
        </p:nvSpPr>
        <p:spPr>
          <a:xfrm>
            <a:off x="8357616" y="2011680"/>
            <a:ext cx="329184" cy="502920"/>
          </a:xfrm>
          <a:prstGeom prst="rect">
            <a:avLst/>
          </a:prstGeom>
          <a:noFill/>
          <a:ln/>
        </p:spPr>
        <p:txBody>
          <a:bodyPr wrap="square" lIns="0" tIns="0" rIns="0" bIns="0" rtlCol="0" anchor="ctr"/>
          <a:lstStyle/>
          <a:p>
            <a:pPr algn="ctr" indent="0" marL="0">
              <a:buNone/>
            </a:pPr>
            <a:r>
              <a:rPr lang="en-US" sz="1200" b="1" dirty="0">
                <a:solidFill>
                  <a:schemeClr val="tx1"/>
                </a:solidFill>
              </a:rPr>
              <a:t>T3</a:t>
            </a:r>
            <a:endParaRPr lang="en-US" sz="1200" dirty="0"/>
          </a:p>
        </p:txBody>
      </p:sp>
      <p:sp>
        <p:nvSpPr>
          <p:cNvPr id="16" name="Row A T3 range"/>
          <p:cNvSpPr txBox="1"/>
          <p:nvPr/>
        </p:nvSpPr>
        <p:spPr>
          <a:xfrm>
            <a:off x="7772400" y="2578608"/>
            <a:ext cx="914400" cy="228600"/>
          </a:xfrm>
          <a:prstGeom prst="rect">
            <a:avLst/>
          </a:prstGeom>
          <a:noFill/>
          <a:ln/>
        </p:spPr>
        <p:txBody>
          <a:bodyPr wrap="square" lIns="0" tIns="0" rIns="0" bIns="0" rtlCol="0" anchor="t"/>
          <a:lstStyle/>
          <a:p>
            <a:pPr algn="r" indent="0" marL="0">
              <a:buNone/>
            </a:pPr>
            <a:r>
              <a:rPr lang="en-US" sz="1200" dirty="0">
                <a:solidFill>
                  <a:schemeClr val="tx1"/>
                </a:solidFill>
              </a:rPr>
              <a:t>[96, 100)</a:t>
            </a:r>
            <a:endParaRPr lang="en-US" sz="1200" dirty="0"/>
          </a:p>
        </p:txBody>
      </p:sp>
      <p:sp>
        <p:nvSpPr>
          <p:cNvPr id="17" name="Row B label"/>
          <p:cNvSpPr txBox="1"/>
          <p:nvPr/>
        </p:nvSpPr>
        <p:spPr>
          <a:xfrm>
            <a:off x="457200" y="3017520"/>
            <a:ext cx="5486400" cy="274320"/>
          </a:xfrm>
          <a:prstGeom prst="rect">
            <a:avLst/>
          </a:prstGeom>
          <a:noFill/>
          <a:ln/>
        </p:spPr>
        <p:txBody>
          <a:bodyPr wrap="square" lIns="0" tIns="0" rIns="0" bIns="0" rtlCol="0" anchor="t"/>
          <a:lstStyle/>
          <a:p>
            <a:pPr indent="0" marL="0">
              <a:buNone/>
            </a:pPr>
            <a:r>
              <a:rPr lang="en-US" sz="1400" b="1" dirty="0">
                <a:solidFill>
                  <a:schemeClr val="tx1"/>
                </a:solidFill>
              </a:rPr>
              <a:t>n = 20, 4 threads: chunk = 5, rounded up to 16</a:t>
            </a:r>
            <a:endParaRPr lang="en-US" sz="1400" dirty="0"/>
          </a:p>
        </p:txBody>
      </p:sp>
      <p:sp>
        <p:nvSpPr>
          <p:cNvPr id="18" name="Row B T0"/>
          <p:cNvSpPr/>
          <p:nvPr/>
        </p:nvSpPr>
        <p:spPr>
          <a:xfrm>
            <a:off x="457200" y="3383280"/>
            <a:ext cx="6583680" cy="502920"/>
          </a:xfrm>
          <a:prstGeom prst="rect">
            <a:avLst/>
          </a:prstGeom>
          <a:solidFill>
            <a:schemeClr val="accent1"/>
          </a:solidFill>
          <a:ln/>
        </p:spPr>
      </p:sp>
      <p:sp>
        <p:nvSpPr>
          <p:cNvPr id="19" name="Row B T0 label"/>
          <p:cNvSpPr txBox="1"/>
          <p:nvPr/>
        </p:nvSpPr>
        <p:spPr>
          <a:xfrm>
            <a:off x="457200" y="3383280"/>
            <a:ext cx="6583680" cy="502920"/>
          </a:xfrm>
          <a:prstGeom prst="rect">
            <a:avLst/>
          </a:prstGeom>
          <a:noFill/>
          <a:ln/>
        </p:spPr>
        <p:txBody>
          <a:bodyPr wrap="square" lIns="0" tIns="0" rIns="0" bIns="0" rtlCol="0" anchor="ctr"/>
          <a:lstStyle/>
          <a:p>
            <a:pPr algn="ctr" indent="0" marL="0">
              <a:buNone/>
            </a:pPr>
            <a:r>
              <a:rPr lang="en-US" sz="1600" b="1" dirty="0">
                <a:solidFill>
                  <a:schemeClr val="tx1"/>
                </a:solidFill>
              </a:rPr>
              <a:t>T0</a:t>
            </a:r>
            <a:endParaRPr lang="en-US" sz="1600" dirty="0"/>
          </a:p>
        </p:txBody>
      </p:sp>
      <p:sp>
        <p:nvSpPr>
          <p:cNvPr id="20" name="Row B T0 range"/>
          <p:cNvSpPr txBox="1"/>
          <p:nvPr/>
        </p:nvSpPr>
        <p:spPr>
          <a:xfrm>
            <a:off x="457200" y="3950208"/>
            <a:ext cx="6583680" cy="228600"/>
          </a:xfrm>
          <a:prstGeom prst="rect">
            <a:avLst/>
          </a:prstGeom>
          <a:noFill/>
          <a:ln/>
        </p:spPr>
        <p:txBody>
          <a:bodyPr wrap="square" lIns="0" tIns="0" rIns="0" bIns="0" rtlCol="0" anchor="t"/>
          <a:lstStyle/>
          <a:p>
            <a:pPr algn="ctr" indent="0" marL="0">
              <a:buNone/>
            </a:pPr>
            <a:r>
              <a:rPr lang="en-US" sz="1200" dirty="0">
                <a:solidFill>
                  <a:schemeClr val="tx1"/>
                </a:solidFill>
              </a:rPr>
              <a:t>[0, 16)</a:t>
            </a:r>
            <a:endParaRPr lang="en-US" sz="1200" dirty="0"/>
          </a:p>
        </p:txBody>
      </p:sp>
      <p:sp>
        <p:nvSpPr>
          <p:cNvPr id="21" name="Row B T1"/>
          <p:cNvSpPr/>
          <p:nvPr/>
        </p:nvSpPr>
        <p:spPr>
          <a:xfrm>
            <a:off x="7040880" y="3383280"/>
            <a:ext cx="1645920" cy="502920"/>
          </a:xfrm>
          <a:prstGeom prst="rect">
            <a:avLst/>
          </a:prstGeom>
          <a:solidFill>
            <a:schemeClr val="accent2"/>
          </a:solidFill>
          <a:ln/>
        </p:spPr>
      </p:sp>
      <p:sp>
        <p:nvSpPr>
          <p:cNvPr id="22" name="Row B T1 label"/>
          <p:cNvSpPr txBox="1"/>
          <p:nvPr/>
        </p:nvSpPr>
        <p:spPr>
          <a:xfrm>
            <a:off x="7040880" y="3383280"/>
            <a:ext cx="1645920" cy="502920"/>
          </a:xfrm>
          <a:prstGeom prst="rect">
            <a:avLst/>
          </a:prstGeom>
          <a:noFill/>
          <a:ln/>
        </p:spPr>
        <p:txBody>
          <a:bodyPr wrap="square" lIns="0" tIns="0" rIns="0" bIns="0" rtlCol="0" anchor="ctr"/>
          <a:lstStyle/>
          <a:p>
            <a:pPr algn="ctr" indent="0" marL="0">
              <a:buNone/>
            </a:pPr>
            <a:r>
              <a:rPr lang="en-US" sz="1600" b="1" dirty="0">
                <a:solidFill>
                  <a:schemeClr val="tx1"/>
                </a:solidFill>
              </a:rPr>
              <a:t>T1</a:t>
            </a:r>
            <a:endParaRPr lang="en-US" sz="1600" dirty="0"/>
          </a:p>
        </p:txBody>
      </p:sp>
      <p:sp>
        <p:nvSpPr>
          <p:cNvPr id="23" name="Row B T1 range"/>
          <p:cNvSpPr txBox="1"/>
          <p:nvPr/>
        </p:nvSpPr>
        <p:spPr>
          <a:xfrm>
            <a:off x="7040880" y="3950208"/>
            <a:ext cx="1645920" cy="228600"/>
          </a:xfrm>
          <a:prstGeom prst="rect">
            <a:avLst/>
          </a:prstGeom>
          <a:noFill/>
          <a:ln/>
        </p:spPr>
        <p:txBody>
          <a:bodyPr wrap="square" lIns="0" tIns="0" rIns="0" bIns="0" rtlCol="0" anchor="t"/>
          <a:lstStyle/>
          <a:p>
            <a:pPr algn="ctr" indent="0" marL="0">
              <a:buNone/>
            </a:pPr>
            <a:r>
              <a:rPr lang="en-US" sz="1200" dirty="0">
                <a:solidFill>
                  <a:schemeClr val="tx1"/>
                </a:solidFill>
              </a:rPr>
              <a:t>[16, 20)</a:t>
            </a:r>
            <a:endParaRPr lang="en-US" sz="1200" dirty="0"/>
          </a:p>
        </p:txBody>
      </p:sp>
      <p:sp>
        <p:nvSpPr>
          <p:cNvPr id="24" name="Empty T2"/>
          <p:cNvSpPr/>
          <p:nvPr/>
        </p:nvSpPr>
        <p:spPr>
          <a:xfrm>
            <a:off x="6172200" y="2990088"/>
            <a:ext cx="1188720" cy="310896"/>
          </a:xfrm>
          <a:prstGeom prst="roundRect">
            <a:avLst>
              <a:gd name="adj" fmla="val 23529"/>
            </a:avLst>
          </a:prstGeom>
          <a:ln w="19050">
            <a:solidFill>
              <a:schemeClr val="accent3"/>
            </a:solidFill>
            <a:prstDash val="dash"/>
          </a:ln>
        </p:spPr>
      </p:sp>
      <p:sp>
        <p:nvSpPr>
          <p:cNvPr id="25" name="Empty T2 label"/>
          <p:cNvSpPr txBox="1"/>
          <p:nvPr/>
        </p:nvSpPr>
        <p:spPr>
          <a:xfrm>
            <a:off x="6172200" y="2990088"/>
            <a:ext cx="1188720" cy="310896"/>
          </a:xfrm>
          <a:prstGeom prst="rect">
            <a:avLst/>
          </a:prstGeom>
          <a:noFill/>
          <a:ln/>
        </p:spPr>
        <p:txBody>
          <a:bodyPr wrap="square" lIns="0" tIns="0" rIns="0" bIns="0" rtlCol="0" anchor="ctr"/>
          <a:lstStyle/>
          <a:p>
            <a:pPr algn="ctr" indent="0" marL="0">
              <a:buNone/>
            </a:pPr>
            <a:r>
              <a:rPr lang="en-US" sz="1200" dirty="0">
                <a:solidFill>
                  <a:schemeClr val="tx1"/>
                </a:solidFill>
              </a:rPr>
              <a:t>T2: no work</a:t>
            </a:r>
            <a:endParaRPr lang="en-US" sz="1200" dirty="0"/>
          </a:p>
        </p:txBody>
      </p:sp>
      <p:sp>
        <p:nvSpPr>
          <p:cNvPr id="26" name="Empty T3"/>
          <p:cNvSpPr/>
          <p:nvPr/>
        </p:nvSpPr>
        <p:spPr>
          <a:xfrm>
            <a:off x="7452360" y="2990088"/>
            <a:ext cx="1188720" cy="310896"/>
          </a:xfrm>
          <a:prstGeom prst="roundRect">
            <a:avLst>
              <a:gd name="adj" fmla="val 23529"/>
            </a:avLst>
          </a:prstGeom>
          <a:ln w="19050">
            <a:solidFill>
              <a:schemeClr val="accent4"/>
            </a:solidFill>
            <a:prstDash val="dash"/>
          </a:ln>
        </p:spPr>
      </p:sp>
      <p:sp>
        <p:nvSpPr>
          <p:cNvPr id="27" name="Empty T3 label"/>
          <p:cNvSpPr txBox="1"/>
          <p:nvPr/>
        </p:nvSpPr>
        <p:spPr>
          <a:xfrm>
            <a:off x="7452360" y="2990088"/>
            <a:ext cx="1188720" cy="310896"/>
          </a:xfrm>
          <a:prstGeom prst="rect">
            <a:avLst/>
          </a:prstGeom>
          <a:noFill/>
          <a:ln/>
        </p:spPr>
        <p:txBody>
          <a:bodyPr wrap="square" lIns="0" tIns="0" rIns="0" bIns="0" rtlCol="0" anchor="ctr"/>
          <a:lstStyle/>
          <a:p>
            <a:pPr algn="ctr" indent="0" marL="0">
              <a:buNone/>
            </a:pPr>
            <a:r>
              <a:rPr lang="en-US" sz="1200" dirty="0">
                <a:solidFill>
                  <a:schemeClr val="tx1"/>
                </a:solidFill>
              </a:rPr>
              <a:t>T3: no work</a:t>
            </a:r>
            <a:endParaRPr lang="en-US" sz="1200" dirty="0"/>
          </a:p>
        </p:txBody>
      </p:sp>
      <p:sp>
        <p:nvSpPr>
          <p:cNvPr id="28" name="Footnote"/>
          <p:cNvSpPr txBox="1"/>
          <p:nvPr/>
        </p:nvSpPr>
        <p:spPr>
          <a:xfrm>
            <a:off x="457200" y="4434840"/>
            <a:ext cx="8229600" cy="274320"/>
          </a:xfrm>
          <a:prstGeom prst="rect">
            <a:avLst/>
          </a:prstGeom>
          <a:noFill/>
          <a:ln/>
        </p:spPr>
        <p:txBody>
          <a:bodyPr wrap="square" lIns="0" tIns="0" rIns="0" bIns="0" rtlCol="0" anchor="t"/>
          <a:lstStyle/>
          <a:p>
            <a:pPr indent="0" marL="0">
              <a:buNone/>
            </a:pPr>
            <a:r>
              <a:rPr lang="en-US" sz="1400" dirty="0">
                <a:solidFill>
                  <a:schemeClr val="tx1"/>
                </a:solidFill>
              </a:rPr>
              <a:t>A thread whose block starts past the end (begin &gt;= end) simply skips the work.</a:t>
            </a:r>
            <a:endParaRPr lang="en-US" sz="1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3400" b="1" dirty="0">
                <a:solidFill>
                  <a:schemeClr val="tx1"/>
                </a:solidFill>
              </a:rPr>
              <a:t>Computing each block</a:t>
            </a:r>
            <a:endParaRPr lang="en-US" sz="3400" dirty="0"/>
          </a:p>
        </p:txBody>
      </p:sp>
      <p:sp>
        <p:nvSpPr>
          <p:cNvPr id="3" name="block_range code panel"/>
          <p:cNvSpPr/>
          <p:nvPr/>
        </p:nvSpPr>
        <p:spPr>
          <a:xfrm>
            <a:off x="457200" y="1188720"/>
            <a:ext cx="8229600" cy="1508760"/>
          </a:xfrm>
          <a:prstGeom prst="roundRect">
            <a:avLst>
              <a:gd name="adj" fmla="val 4848"/>
            </a:avLst>
          </a:prstGeom>
          <a:solidFill>
            <a:schemeClr val="tx2"/>
          </a:solidFill>
          <a:ln/>
        </p:spPr>
      </p:sp>
      <p:sp>
        <p:nvSpPr>
          <p:cNvPr id="4" name="block_range code"/>
          <p:cNvSpPr txBox="1"/>
          <p:nvPr/>
        </p:nvSpPr>
        <p:spPr>
          <a:xfrm>
            <a:off x="621792" y="1316736"/>
            <a:ext cx="7900416" cy="1252728"/>
          </a:xfrm>
          <a:prstGeom prst="rect">
            <a:avLst/>
          </a:prstGeom>
          <a:noFill/>
          <a:ln/>
        </p:spPr>
        <p:txBody>
          <a:bodyPr wrap="square" lIns="0" tIns="0" rIns="0" bIns="0" rtlCol="0" anchor="t"/>
          <a:lstStyle/>
          <a:p>
            <a:pPr indent="0" marL="0">
              <a:buNone/>
            </a:pPr>
            <a:r>
              <a:rPr lang="en-US" sz="1100" dirty="0">
                <a:solidFill>
                  <a:schemeClr val="accent5"/>
                </a:solidFill>
                <a:latin typeface="Courier New" pitchFamily="34" charset="0"/>
                <a:ea typeface="Courier New" pitchFamily="34" charset="-122"/>
                <a:cs typeface="Courier New" pitchFamily="34" charset="-120"/>
              </a:rPr>
              <a:t>inline</a:t>
            </a:r>
            <a:pPr indent="0" marL="0">
              <a:buNone/>
            </a:pPr>
            <a:r>
              <a:rPr lang="en-US" sz="1100" dirty="0">
                <a:solidFill>
                  <a:schemeClr val="bg2"/>
                </a:solidFill>
                <a:latin typeface="Courier New" pitchFamily="34" charset="0"/>
                <a:ea typeface="Courier New" pitchFamily="34" charset="-122"/>
                <a:cs typeface="Courier New" pitchFamily="34" charset="-120"/>
              </a:rPr>
              <a:t> </a:t>
            </a:r>
            <a:pPr indent="0" marL="0">
              <a:buNone/>
            </a:pPr>
            <a:r>
              <a:rPr lang="en-US" sz="1100" dirty="0">
                <a:solidFill>
                  <a:schemeClr val="accent5"/>
                </a:solidFill>
                <a:latin typeface="Courier New" pitchFamily="34" charset="0"/>
                <a:ea typeface="Courier New" pitchFamily="34" charset="-122"/>
                <a:cs typeface="Courier New" pitchFamily="34" charset="-120"/>
              </a:rPr>
              <a:t>void</a:t>
            </a:r>
            <a:pPr indent="0" marL="0">
              <a:buNone/>
            </a:pPr>
            <a:r>
              <a:rPr lang="en-US" sz="1100" dirty="0">
                <a:solidFill>
                  <a:schemeClr val="bg2"/>
                </a:solidFill>
                <a:latin typeface="Courier New" pitchFamily="34" charset="0"/>
                <a:ea typeface="Courier New" pitchFamily="34" charset="-122"/>
                <a:cs typeface="Courier New" pitchFamily="34" charset="-120"/>
              </a:rPr>
              <a:t> block_range(std::int64_t n, std::int64_t threads, std::int64_t id,</a:t>
            </a:r>
            <a:endParaRPr lang="en-US" sz="1100" dirty="0"/>
          </a:p>
          <a:p>
            <a:pPr indent="0" marL="0">
              <a:buNone/>
            </a:pPr>
            <a:r>
              <a:rPr lang="en-US" sz="1100" dirty="0">
                <a:solidFill>
                  <a:schemeClr val="bg2"/>
                </a:solidFill>
                <a:latin typeface="Courier New" pitchFamily="34" charset="0"/>
                <a:ea typeface="Courier New" pitchFamily="34" charset="-122"/>
                <a:cs typeface="Courier New" pitchFamily="34" charset="-120"/>
              </a:rPr>
              <a:t>                        std::int64_t&amp; begin, std::int64_t&amp; end) {</a:t>
            </a:r>
            <a:endParaRPr lang="en-US" sz="1100" dirty="0"/>
          </a:p>
          <a:p>
            <a:pPr indent="0" marL="0">
              <a:buNone/>
            </a:pPr>
            <a:r>
              <a:rPr lang="en-US" sz="1100" dirty="0">
                <a:solidFill>
                  <a:schemeClr val="bg2"/>
                </a:solidFill>
                <a:latin typeface="Courier New" pitchFamily="34" charset="0"/>
                <a:ea typeface="Courier New" pitchFamily="34" charset="-122"/>
                <a:cs typeface="Courier New" pitchFamily="34" charset="-120"/>
              </a:rPr>
              <a:t>    </a:t>
            </a:r>
            <a:pPr indent="0" marL="0">
              <a:buNone/>
            </a:pPr>
            <a:r>
              <a:rPr lang="en-US" sz="1100" dirty="0">
                <a:solidFill>
                  <a:schemeClr val="accent5"/>
                </a:solidFill>
                <a:latin typeface="Courier New" pitchFamily="34" charset="0"/>
                <a:ea typeface="Courier New" pitchFamily="34" charset="-122"/>
                <a:cs typeface="Courier New" pitchFamily="34" charset="-120"/>
              </a:rPr>
              <a:t>const</a:t>
            </a:r>
            <a:pPr indent="0" marL="0">
              <a:buNone/>
            </a:pPr>
            <a:r>
              <a:rPr lang="en-US" sz="1100" dirty="0">
                <a:solidFill>
                  <a:schemeClr val="bg2"/>
                </a:solidFill>
                <a:latin typeface="Courier New" pitchFamily="34" charset="0"/>
                <a:ea typeface="Courier New" pitchFamily="34" charset="-122"/>
                <a:cs typeface="Courier New" pitchFamily="34" charset="-120"/>
              </a:rPr>
              <a:t> std::int64_t chunk = ((n + threads - </a:t>
            </a:r>
            <a:pPr indent="0" marL="0">
              <a:buNone/>
            </a:pPr>
            <a:r>
              <a:rPr lang="en-US" sz="1100" dirty="0">
                <a:solidFill>
                  <a:schemeClr val="accent2"/>
                </a:solidFill>
                <a:latin typeface="Courier New" pitchFamily="34" charset="0"/>
                <a:ea typeface="Courier New" pitchFamily="34" charset="-122"/>
                <a:cs typeface="Courier New" pitchFamily="34" charset="-120"/>
              </a:rPr>
              <a:t>1</a:t>
            </a:r>
            <a:pPr indent="0" marL="0">
              <a:buNone/>
            </a:pPr>
            <a:r>
              <a:rPr lang="en-US" sz="1100" dirty="0">
                <a:solidFill>
                  <a:schemeClr val="bg2"/>
                </a:solidFill>
                <a:latin typeface="Courier New" pitchFamily="34" charset="0"/>
                <a:ea typeface="Courier New" pitchFamily="34" charset="-122"/>
                <a:cs typeface="Courier New" pitchFamily="34" charset="-120"/>
              </a:rPr>
              <a:t>) / threads + </a:t>
            </a:r>
            <a:pPr indent="0" marL="0">
              <a:buNone/>
            </a:pPr>
            <a:r>
              <a:rPr lang="en-US" sz="1100" dirty="0">
                <a:solidFill>
                  <a:schemeClr val="accent2"/>
                </a:solidFill>
                <a:latin typeface="Courier New" pitchFamily="34" charset="0"/>
                <a:ea typeface="Courier New" pitchFamily="34" charset="-122"/>
                <a:cs typeface="Courier New" pitchFamily="34" charset="-120"/>
              </a:rPr>
              <a:t>15</a:t>
            </a:r>
            <a:pPr indent="0" marL="0">
              <a:buNone/>
            </a:pPr>
            <a:r>
              <a:rPr lang="en-US" sz="1100" dirty="0">
                <a:solidFill>
                  <a:schemeClr val="bg2"/>
                </a:solidFill>
                <a:latin typeface="Courier New" pitchFamily="34" charset="0"/>
                <a:ea typeface="Courier New" pitchFamily="34" charset="-122"/>
                <a:cs typeface="Courier New" pitchFamily="34" charset="-120"/>
              </a:rPr>
              <a:t>) / </a:t>
            </a:r>
            <a:pPr indent="0" marL="0">
              <a:buNone/>
            </a:pPr>
            <a:r>
              <a:rPr lang="en-US" sz="1100" dirty="0">
                <a:solidFill>
                  <a:schemeClr val="accent2"/>
                </a:solidFill>
                <a:latin typeface="Courier New" pitchFamily="34" charset="0"/>
                <a:ea typeface="Courier New" pitchFamily="34" charset="-122"/>
                <a:cs typeface="Courier New" pitchFamily="34" charset="-120"/>
              </a:rPr>
              <a:t>16</a:t>
            </a:r>
            <a:pPr indent="0" marL="0">
              <a:buNone/>
            </a:pPr>
            <a:r>
              <a:rPr lang="en-US" sz="1100" dirty="0">
                <a:solidFill>
                  <a:schemeClr val="bg2"/>
                </a:solidFill>
                <a:latin typeface="Courier New" pitchFamily="34" charset="0"/>
                <a:ea typeface="Courier New" pitchFamily="34" charset="-122"/>
                <a:cs typeface="Courier New" pitchFamily="34" charset="-120"/>
              </a:rPr>
              <a:t> * </a:t>
            </a:r>
            <a:pPr indent="0" marL="0">
              <a:buNone/>
            </a:pPr>
            <a:r>
              <a:rPr lang="en-US" sz="1100" dirty="0">
                <a:solidFill>
                  <a:schemeClr val="accent2"/>
                </a:solidFill>
                <a:latin typeface="Courier New" pitchFamily="34" charset="0"/>
                <a:ea typeface="Courier New" pitchFamily="34" charset="-122"/>
                <a:cs typeface="Courier New" pitchFamily="34" charset="-120"/>
              </a:rPr>
              <a:t>16</a:t>
            </a:r>
            <a:pPr indent="0" marL="0">
              <a:buNone/>
            </a:pPr>
            <a:r>
              <a:rPr lang="en-US" sz="1100" dirty="0">
                <a:solidFill>
                  <a:schemeClr val="bg2"/>
                </a:solidFill>
                <a:latin typeface="Courier New" pitchFamily="34" charset="0"/>
                <a:ea typeface="Courier New" pitchFamily="34" charset="-122"/>
                <a:cs typeface="Courier New" pitchFamily="34" charset="-120"/>
              </a:rPr>
              <a:t>;</a:t>
            </a:r>
            <a:endParaRPr lang="en-US" sz="1100" dirty="0"/>
          </a:p>
          <a:p>
            <a:pPr indent="0" marL="0">
              <a:buNone/>
            </a:pPr>
            <a:r>
              <a:rPr lang="en-US" sz="1100" dirty="0">
                <a:solidFill>
                  <a:schemeClr val="bg2"/>
                </a:solidFill>
                <a:latin typeface="Courier New" pitchFamily="34" charset="0"/>
                <a:ea typeface="Courier New" pitchFamily="34" charset="-122"/>
                <a:cs typeface="Courier New" pitchFamily="34" charset="-120"/>
              </a:rPr>
              <a:t>    begin = std::min(id * chunk, n);</a:t>
            </a:r>
            <a:endParaRPr lang="en-US" sz="1100" dirty="0"/>
          </a:p>
          <a:p>
            <a:pPr indent="0" marL="0">
              <a:buNone/>
            </a:pPr>
            <a:r>
              <a:rPr lang="en-US" sz="1100" dirty="0">
                <a:solidFill>
                  <a:schemeClr val="bg2"/>
                </a:solidFill>
                <a:latin typeface="Courier New" pitchFamily="34" charset="0"/>
                <a:ea typeface="Courier New" pitchFamily="34" charset="-122"/>
                <a:cs typeface="Courier New" pitchFamily="34" charset="-120"/>
              </a:rPr>
              <a:t>    end = std::min(begin + chunk, n);</a:t>
            </a:r>
            <a:endParaRPr lang="en-US" sz="1100" dirty="0"/>
          </a:p>
          <a:p>
            <a:pPr indent="0" marL="0">
              <a:buNone/>
            </a:pPr>
            <a:r>
              <a:rPr lang="en-US" sz="1100" dirty="0">
                <a:solidFill>
                  <a:schemeClr val="bg2"/>
                </a:solidFill>
                <a:latin typeface="Courier New" pitchFamily="34" charset="0"/>
                <a:ea typeface="Courier New" pitchFamily="34" charset="-122"/>
                <a:cs typeface="Courier New" pitchFamily="34" charset="-120"/>
              </a:rPr>
              <a:t>}</a:t>
            </a:r>
            <a:endParaRPr lang="en-US" sz="1100" dirty="0"/>
          </a:p>
        </p:txBody>
      </p:sp>
      <p:sp>
        <p:nvSpPr>
          <p:cNvPr id="5" name="Code source"/>
          <p:cNvSpPr txBox="1"/>
          <p:nvPr/>
        </p:nvSpPr>
        <p:spPr>
          <a:xfrm>
            <a:off x="5486400" y="2724912"/>
            <a:ext cx="3200400" cy="201168"/>
          </a:xfrm>
          <a:prstGeom prst="rect">
            <a:avLst/>
          </a:prstGeom>
          <a:noFill/>
          <a:ln/>
        </p:spPr>
        <p:txBody>
          <a:bodyPr wrap="square" lIns="0" tIns="0" rIns="0" bIns="0" rtlCol="0" anchor="t"/>
          <a:lstStyle/>
          <a:p>
            <a:pPr algn="r" indent="0" marL="0">
              <a:buNone/>
            </a:pPr>
            <a:r>
              <a:rPr lang="en-US" sz="1000" dirty="0">
                <a:solidFill>
                  <a:schemeClr val="tx2"/>
                </a:solidFill>
              </a:rPr>
              <a:t>src/backends/cpu/parallel.hpp</a:t>
            </a:r>
            <a:endParaRPr lang="en-US" sz="1000" dirty="0"/>
          </a:p>
        </p:txBody>
      </p:sp>
      <p:sp>
        <p:nvSpPr>
          <p:cNvPr id="6" name="Explain 1"/>
          <p:cNvSpPr/>
          <p:nvPr/>
        </p:nvSpPr>
        <p:spPr>
          <a:xfrm>
            <a:off x="457200" y="3063240"/>
            <a:ext cx="2606040" cy="1508760"/>
          </a:xfrm>
          <a:prstGeom prst="roundRect">
            <a:avLst>
              <a:gd name="adj" fmla="val 4848"/>
            </a:avLst>
          </a:prstGeom>
          <a:solidFill>
            <a:schemeClr val="bg2"/>
          </a:solidFill>
          <a:ln/>
        </p:spPr>
      </p:sp>
      <p:sp>
        <p:nvSpPr>
          <p:cNvPr id="7" name="Explain 1 badge"/>
          <p:cNvSpPr/>
          <p:nvPr/>
        </p:nvSpPr>
        <p:spPr>
          <a:xfrm>
            <a:off x="640080" y="3200400"/>
            <a:ext cx="310896" cy="310896"/>
          </a:xfrm>
          <a:prstGeom prst="ellipse">
            <a:avLst/>
          </a:prstGeom>
          <a:solidFill>
            <a:schemeClr val="accent1"/>
          </a:solidFill>
          <a:ln/>
        </p:spPr>
      </p:sp>
      <p:sp>
        <p:nvSpPr>
          <p:cNvPr id="8" name="Explain 1 badge label"/>
          <p:cNvSpPr txBox="1"/>
          <p:nvPr/>
        </p:nvSpPr>
        <p:spPr>
          <a:xfrm>
            <a:off x="640080" y="3200400"/>
            <a:ext cx="310896" cy="310896"/>
          </a:xfrm>
          <a:prstGeom prst="rect">
            <a:avLst/>
          </a:prstGeom>
          <a:noFill/>
          <a:ln/>
        </p:spPr>
        <p:txBody>
          <a:bodyPr wrap="square" lIns="0" tIns="0" rIns="0" bIns="0" rtlCol="0" anchor="ctr"/>
          <a:lstStyle/>
          <a:p>
            <a:pPr algn="ctr" indent="0" marL="0">
              <a:buNone/>
            </a:pPr>
            <a:r>
              <a:rPr lang="en-US" sz="1400" b="1" dirty="0">
                <a:solidFill>
                  <a:schemeClr val="tx1"/>
                </a:solidFill>
              </a:rPr>
              <a:t>1</a:t>
            </a:r>
            <a:endParaRPr lang="en-US" sz="1400" dirty="0"/>
          </a:p>
        </p:txBody>
      </p:sp>
      <p:sp>
        <p:nvSpPr>
          <p:cNvPr id="9" name="Explain 1 title"/>
          <p:cNvSpPr txBox="1"/>
          <p:nvPr/>
        </p:nvSpPr>
        <p:spPr>
          <a:xfrm>
            <a:off x="1051560" y="3200400"/>
            <a:ext cx="1828800" cy="310896"/>
          </a:xfrm>
          <a:prstGeom prst="rect">
            <a:avLst/>
          </a:prstGeom>
          <a:noFill/>
          <a:ln/>
        </p:spPr>
        <p:txBody>
          <a:bodyPr wrap="square" lIns="0" tIns="0" rIns="0" bIns="0" rtlCol="0" anchor="ctr"/>
          <a:lstStyle/>
          <a:p>
            <a:pPr indent="0" marL="0">
              <a:buNone/>
            </a:pPr>
            <a:r>
              <a:rPr lang="en-US" sz="1600" b="1" dirty="0">
                <a:solidFill>
                  <a:schemeClr val="tx1"/>
                </a:solidFill>
              </a:rPr>
              <a:t>Chunk size</a:t>
            </a:r>
            <a:endParaRPr lang="en-US" sz="1600" dirty="0"/>
          </a:p>
        </p:txBody>
      </p:sp>
      <p:sp>
        <p:nvSpPr>
          <p:cNvPr id="10" name="Explain 1 text"/>
          <p:cNvSpPr txBox="1"/>
          <p:nvPr/>
        </p:nvSpPr>
        <p:spPr>
          <a:xfrm>
            <a:off x="640080" y="3639312"/>
            <a:ext cx="2240280" cy="822960"/>
          </a:xfrm>
          <a:prstGeom prst="rect">
            <a:avLst/>
          </a:prstGeom>
          <a:noFill/>
          <a:ln/>
        </p:spPr>
        <p:txBody>
          <a:bodyPr wrap="square" lIns="0" tIns="0" rIns="0" bIns="0" rtlCol="0" anchor="t"/>
          <a:lstStyle/>
          <a:p>
            <a:pPr indent="0" marL="0">
              <a:buNone/>
            </a:pPr>
            <a:r>
              <a:rPr lang="en-US" sz="1400" dirty="0">
                <a:solidFill>
                  <a:schemeClr val="tx1"/>
                </a:solidFill>
              </a:rPr>
              <a:t>ceil(n / threads), so every element is covered.</a:t>
            </a:r>
            <a:endParaRPr lang="en-US" sz="1400" dirty="0"/>
          </a:p>
        </p:txBody>
      </p:sp>
      <p:sp>
        <p:nvSpPr>
          <p:cNvPr id="11" name="Explain 2"/>
          <p:cNvSpPr/>
          <p:nvPr/>
        </p:nvSpPr>
        <p:spPr>
          <a:xfrm>
            <a:off x="3268980" y="3063240"/>
            <a:ext cx="2606040" cy="1508760"/>
          </a:xfrm>
          <a:prstGeom prst="roundRect">
            <a:avLst>
              <a:gd name="adj" fmla="val 4848"/>
            </a:avLst>
          </a:prstGeom>
          <a:solidFill>
            <a:schemeClr val="bg2"/>
          </a:solidFill>
          <a:ln/>
        </p:spPr>
      </p:sp>
      <p:sp>
        <p:nvSpPr>
          <p:cNvPr id="12" name="Explain 2 badge"/>
          <p:cNvSpPr/>
          <p:nvPr/>
        </p:nvSpPr>
        <p:spPr>
          <a:xfrm>
            <a:off x="3451860" y="3200400"/>
            <a:ext cx="310896" cy="310896"/>
          </a:xfrm>
          <a:prstGeom prst="ellipse">
            <a:avLst/>
          </a:prstGeom>
          <a:solidFill>
            <a:schemeClr val="accent2"/>
          </a:solidFill>
          <a:ln/>
        </p:spPr>
      </p:sp>
      <p:sp>
        <p:nvSpPr>
          <p:cNvPr id="13" name="Explain 2 badge label"/>
          <p:cNvSpPr txBox="1"/>
          <p:nvPr/>
        </p:nvSpPr>
        <p:spPr>
          <a:xfrm>
            <a:off x="3451860" y="3200400"/>
            <a:ext cx="310896" cy="310896"/>
          </a:xfrm>
          <a:prstGeom prst="rect">
            <a:avLst/>
          </a:prstGeom>
          <a:noFill/>
          <a:ln/>
        </p:spPr>
        <p:txBody>
          <a:bodyPr wrap="square" lIns="0" tIns="0" rIns="0" bIns="0" rtlCol="0" anchor="ctr"/>
          <a:lstStyle/>
          <a:p>
            <a:pPr algn="ctr" indent="0" marL="0">
              <a:buNone/>
            </a:pPr>
            <a:r>
              <a:rPr lang="en-US" sz="1400" b="1" dirty="0">
                <a:solidFill>
                  <a:schemeClr val="tx1"/>
                </a:solidFill>
              </a:rPr>
              <a:t>2</a:t>
            </a:r>
            <a:endParaRPr lang="en-US" sz="1400" dirty="0"/>
          </a:p>
        </p:txBody>
      </p:sp>
      <p:sp>
        <p:nvSpPr>
          <p:cNvPr id="14" name="Explain 2 title"/>
          <p:cNvSpPr txBox="1"/>
          <p:nvPr/>
        </p:nvSpPr>
        <p:spPr>
          <a:xfrm>
            <a:off x="3863340" y="3200400"/>
            <a:ext cx="1828800" cy="310896"/>
          </a:xfrm>
          <a:prstGeom prst="rect">
            <a:avLst/>
          </a:prstGeom>
          <a:noFill/>
          <a:ln/>
        </p:spPr>
        <p:txBody>
          <a:bodyPr wrap="square" lIns="0" tIns="0" rIns="0" bIns="0" rtlCol="0" anchor="ctr"/>
          <a:lstStyle/>
          <a:p>
            <a:pPr indent="0" marL="0">
              <a:buNone/>
            </a:pPr>
            <a:r>
              <a:rPr lang="en-US" sz="1600" b="1" dirty="0">
                <a:solidFill>
                  <a:schemeClr val="tx1"/>
                </a:solidFill>
              </a:rPr>
              <a:t>Round up to 16</a:t>
            </a:r>
            <a:endParaRPr lang="en-US" sz="1600" dirty="0"/>
          </a:p>
        </p:txBody>
      </p:sp>
      <p:sp>
        <p:nvSpPr>
          <p:cNvPr id="15" name="Explain 2 text"/>
          <p:cNvSpPr txBox="1"/>
          <p:nvPr/>
        </p:nvSpPr>
        <p:spPr>
          <a:xfrm>
            <a:off x="3451860" y="3639312"/>
            <a:ext cx="2240280" cy="822960"/>
          </a:xfrm>
          <a:prstGeom prst="rect">
            <a:avLst/>
          </a:prstGeom>
          <a:noFill/>
          <a:ln/>
        </p:spPr>
        <p:txBody>
          <a:bodyPr wrap="square" lIns="0" tIns="0" rIns="0" bIns="0" rtlCol="0" anchor="t"/>
          <a:lstStyle/>
          <a:p>
            <a:pPr indent="0" marL="0">
              <a:buNone/>
            </a:pPr>
            <a:r>
              <a:rPr lang="en-US" sz="1400" dirty="0">
                <a:solidFill>
                  <a:schemeClr val="tx1"/>
                </a:solidFill>
              </a:rPr>
              <a:t>16 floats = 64 bytes = one cache line.</a:t>
            </a:r>
            <a:endParaRPr lang="en-US" sz="1400" dirty="0"/>
          </a:p>
        </p:txBody>
      </p:sp>
      <p:sp>
        <p:nvSpPr>
          <p:cNvPr id="16" name="Explain 3"/>
          <p:cNvSpPr/>
          <p:nvPr/>
        </p:nvSpPr>
        <p:spPr>
          <a:xfrm>
            <a:off x="6080760" y="3063240"/>
            <a:ext cx="2606040" cy="1508760"/>
          </a:xfrm>
          <a:prstGeom prst="roundRect">
            <a:avLst>
              <a:gd name="adj" fmla="val 4848"/>
            </a:avLst>
          </a:prstGeom>
          <a:solidFill>
            <a:schemeClr val="bg2"/>
          </a:solidFill>
          <a:ln/>
        </p:spPr>
      </p:sp>
      <p:sp>
        <p:nvSpPr>
          <p:cNvPr id="17" name="Explain 3 badge"/>
          <p:cNvSpPr/>
          <p:nvPr/>
        </p:nvSpPr>
        <p:spPr>
          <a:xfrm>
            <a:off x="6263640" y="3200400"/>
            <a:ext cx="310896" cy="310896"/>
          </a:xfrm>
          <a:prstGeom prst="ellipse">
            <a:avLst/>
          </a:prstGeom>
          <a:solidFill>
            <a:schemeClr val="accent3"/>
          </a:solidFill>
          <a:ln/>
        </p:spPr>
      </p:sp>
      <p:sp>
        <p:nvSpPr>
          <p:cNvPr id="18" name="Explain 3 badge label"/>
          <p:cNvSpPr txBox="1"/>
          <p:nvPr/>
        </p:nvSpPr>
        <p:spPr>
          <a:xfrm>
            <a:off x="6263640" y="3200400"/>
            <a:ext cx="310896" cy="310896"/>
          </a:xfrm>
          <a:prstGeom prst="rect">
            <a:avLst/>
          </a:prstGeom>
          <a:noFill/>
          <a:ln/>
        </p:spPr>
        <p:txBody>
          <a:bodyPr wrap="square" lIns="0" tIns="0" rIns="0" bIns="0" rtlCol="0" anchor="ctr"/>
          <a:lstStyle/>
          <a:p>
            <a:pPr algn="ctr" indent="0" marL="0">
              <a:buNone/>
            </a:pPr>
            <a:r>
              <a:rPr lang="en-US" sz="1400" b="1" dirty="0">
                <a:solidFill>
                  <a:schemeClr val="tx1"/>
                </a:solidFill>
              </a:rPr>
              <a:t>3</a:t>
            </a:r>
            <a:endParaRPr lang="en-US" sz="1400" dirty="0"/>
          </a:p>
        </p:txBody>
      </p:sp>
      <p:sp>
        <p:nvSpPr>
          <p:cNvPr id="19" name="Explain 3 title"/>
          <p:cNvSpPr txBox="1"/>
          <p:nvPr/>
        </p:nvSpPr>
        <p:spPr>
          <a:xfrm>
            <a:off x="6675120" y="3200400"/>
            <a:ext cx="1828800" cy="310896"/>
          </a:xfrm>
          <a:prstGeom prst="rect">
            <a:avLst/>
          </a:prstGeom>
          <a:noFill/>
          <a:ln/>
        </p:spPr>
        <p:txBody>
          <a:bodyPr wrap="square" lIns="0" tIns="0" rIns="0" bIns="0" rtlCol="0" anchor="ctr"/>
          <a:lstStyle/>
          <a:p>
            <a:pPr indent="0" marL="0">
              <a:buNone/>
            </a:pPr>
            <a:r>
              <a:rPr lang="en-US" sz="1600" b="1" dirty="0">
                <a:solidFill>
                  <a:schemeClr val="tx1"/>
                </a:solidFill>
              </a:rPr>
              <a:t>Clamp with min</a:t>
            </a:r>
            <a:endParaRPr lang="en-US" sz="1600" dirty="0"/>
          </a:p>
        </p:txBody>
      </p:sp>
      <p:sp>
        <p:nvSpPr>
          <p:cNvPr id="20" name="Explain 3 text"/>
          <p:cNvSpPr txBox="1"/>
          <p:nvPr/>
        </p:nvSpPr>
        <p:spPr>
          <a:xfrm>
            <a:off x="6263640" y="3639312"/>
            <a:ext cx="2240280" cy="822960"/>
          </a:xfrm>
          <a:prstGeom prst="rect">
            <a:avLst/>
          </a:prstGeom>
          <a:noFill/>
          <a:ln/>
        </p:spPr>
        <p:txBody>
          <a:bodyPr wrap="square" lIns="0" tIns="0" rIns="0" bIns="0" rtlCol="0" anchor="t"/>
          <a:lstStyle/>
          <a:p>
            <a:pPr indent="0" marL="0">
              <a:buNone/>
            </a:pPr>
            <a:r>
              <a:rPr lang="en-US" sz="1400" dirty="0">
                <a:solidFill>
                  <a:schemeClr val="tx1"/>
                </a:solidFill>
              </a:rPr>
              <a:t>The last thread gets a short block, or none.</a:t>
            </a:r>
            <a:endParaRPr lang="en-US" sz="1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3400" b="1" dirty="0">
                <a:solidFill>
                  <a:schemeClr val="tx1"/>
                </a:solidFill>
              </a:rPr>
              <a:t>Why blocks end on cache lines</a:t>
            </a:r>
            <a:endParaRPr lang="en-US" sz="3400" dirty="0"/>
          </a:p>
        </p:txBody>
      </p:sp>
      <p:sp>
        <p:nvSpPr>
          <p:cNvPr id="3" name="Aligned label"/>
          <p:cNvSpPr txBox="1"/>
          <p:nvPr/>
        </p:nvSpPr>
        <p:spPr>
          <a:xfrm>
            <a:off x="457200" y="1143000"/>
            <a:ext cx="8229600" cy="274320"/>
          </a:xfrm>
          <a:prstGeom prst="rect">
            <a:avLst/>
          </a:prstGeom>
          <a:noFill/>
          <a:ln/>
        </p:spPr>
        <p:txBody>
          <a:bodyPr wrap="square" lIns="0" tIns="0" rIns="0" bIns="0" rtlCol="0" anchor="t"/>
          <a:lstStyle/>
          <a:p>
            <a:pPr indent="0" marL="0">
              <a:buNone/>
            </a:pPr>
            <a:r>
              <a:rPr lang="en-US" sz="1400" b="1" dirty="0">
                <a:solidFill>
                  <a:schemeClr val="tx1"/>
                </a:solidFill>
              </a:rPr>
              <a:t>Split at 16 (what we do)</a:t>
            </a:r>
            <a:endParaRPr lang="en-US" sz="1400" dirty="0"/>
          </a:p>
        </p:txBody>
      </p:sp>
      <p:sp>
        <p:nvSpPr>
          <p:cNvPr id="4" name="Aligned float 0"/>
          <p:cNvSpPr/>
          <p:nvPr/>
        </p:nvSpPr>
        <p:spPr>
          <a:xfrm>
            <a:off x="621792" y="1554480"/>
            <a:ext cx="246888" cy="384048"/>
          </a:xfrm>
          <a:prstGeom prst="rect">
            <a:avLst/>
          </a:prstGeom>
          <a:solidFill>
            <a:schemeClr val="accent1"/>
          </a:solidFill>
          <a:ln w="9525">
            <a:solidFill>
              <a:schemeClr val="bg1"/>
            </a:solidFill>
            <a:prstDash val="solid"/>
          </a:ln>
        </p:spPr>
      </p:sp>
      <p:sp>
        <p:nvSpPr>
          <p:cNvPr id="5" name="Aligned float 1"/>
          <p:cNvSpPr/>
          <p:nvPr/>
        </p:nvSpPr>
        <p:spPr>
          <a:xfrm>
            <a:off x="868680" y="1554480"/>
            <a:ext cx="246888" cy="384048"/>
          </a:xfrm>
          <a:prstGeom prst="rect">
            <a:avLst/>
          </a:prstGeom>
          <a:solidFill>
            <a:schemeClr val="accent1"/>
          </a:solidFill>
          <a:ln w="9525">
            <a:solidFill>
              <a:schemeClr val="bg1"/>
            </a:solidFill>
            <a:prstDash val="solid"/>
          </a:ln>
        </p:spPr>
      </p:sp>
      <p:sp>
        <p:nvSpPr>
          <p:cNvPr id="6" name="Aligned float 2"/>
          <p:cNvSpPr/>
          <p:nvPr/>
        </p:nvSpPr>
        <p:spPr>
          <a:xfrm>
            <a:off x="1115568" y="1554480"/>
            <a:ext cx="246888" cy="384048"/>
          </a:xfrm>
          <a:prstGeom prst="rect">
            <a:avLst/>
          </a:prstGeom>
          <a:solidFill>
            <a:schemeClr val="accent1"/>
          </a:solidFill>
          <a:ln w="9525">
            <a:solidFill>
              <a:schemeClr val="bg1"/>
            </a:solidFill>
            <a:prstDash val="solid"/>
          </a:ln>
        </p:spPr>
      </p:sp>
      <p:sp>
        <p:nvSpPr>
          <p:cNvPr id="7" name="Aligned float 3"/>
          <p:cNvSpPr/>
          <p:nvPr/>
        </p:nvSpPr>
        <p:spPr>
          <a:xfrm>
            <a:off x="1362456" y="1554480"/>
            <a:ext cx="246888" cy="384048"/>
          </a:xfrm>
          <a:prstGeom prst="rect">
            <a:avLst/>
          </a:prstGeom>
          <a:solidFill>
            <a:schemeClr val="accent1"/>
          </a:solidFill>
          <a:ln w="9525">
            <a:solidFill>
              <a:schemeClr val="bg1"/>
            </a:solidFill>
            <a:prstDash val="solid"/>
          </a:ln>
        </p:spPr>
      </p:sp>
      <p:sp>
        <p:nvSpPr>
          <p:cNvPr id="8" name="Aligned float 4"/>
          <p:cNvSpPr/>
          <p:nvPr/>
        </p:nvSpPr>
        <p:spPr>
          <a:xfrm>
            <a:off x="1609344" y="1554480"/>
            <a:ext cx="246888" cy="384048"/>
          </a:xfrm>
          <a:prstGeom prst="rect">
            <a:avLst/>
          </a:prstGeom>
          <a:solidFill>
            <a:schemeClr val="accent1"/>
          </a:solidFill>
          <a:ln w="9525">
            <a:solidFill>
              <a:schemeClr val="bg1"/>
            </a:solidFill>
            <a:prstDash val="solid"/>
          </a:ln>
        </p:spPr>
      </p:sp>
      <p:sp>
        <p:nvSpPr>
          <p:cNvPr id="9" name="Aligned float 5"/>
          <p:cNvSpPr/>
          <p:nvPr/>
        </p:nvSpPr>
        <p:spPr>
          <a:xfrm>
            <a:off x="1856232" y="1554480"/>
            <a:ext cx="246888" cy="384048"/>
          </a:xfrm>
          <a:prstGeom prst="rect">
            <a:avLst/>
          </a:prstGeom>
          <a:solidFill>
            <a:schemeClr val="accent1"/>
          </a:solidFill>
          <a:ln w="9525">
            <a:solidFill>
              <a:schemeClr val="bg1"/>
            </a:solidFill>
            <a:prstDash val="solid"/>
          </a:ln>
        </p:spPr>
      </p:sp>
      <p:sp>
        <p:nvSpPr>
          <p:cNvPr id="10" name="Aligned float 6"/>
          <p:cNvSpPr/>
          <p:nvPr/>
        </p:nvSpPr>
        <p:spPr>
          <a:xfrm>
            <a:off x="2103120" y="1554480"/>
            <a:ext cx="246888" cy="384048"/>
          </a:xfrm>
          <a:prstGeom prst="rect">
            <a:avLst/>
          </a:prstGeom>
          <a:solidFill>
            <a:schemeClr val="accent1"/>
          </a:solidFill>
          <a:ln w="9525">
            <a:solidFill>
              <a:schemeClr val="bg1"/>
            </a:solidFill>
            <a:prstDash val="solid"/>
          </a:ln>
        </p:spPr>
      </p:sp>
      <p:sp>
        <p:nvSpPr>
          <p:cNvPr id="11" name="Aligned float 7"/>
          <p:cNvSpPr/>
          <p:nvPr/>
        </p:nvSpPr>
        <p:spPr>
          <a:xfrm>
            <a:off x="2350008" y="1554480"/>
            <a:ext cx="246888" cy="384048"/>
          </a:xfrm>
          <a:prstGeom prst="rect">
            <a:avLst/>
          </a:prstGeom>
          <a:solidFill>
            <a:schemeClr val="accent1"/>
          </a:solidFill>
          <a:ln w="9525">
            <a:solidFill>
              <a:schemeClr val="bg1"/>
            </a:solidFill>
            <a:prstDash val="solid"/>
          </a:ln>
        </p:spPr>
      </p:sp>
      <p:sp>
        <p:nvSpPr>
          <p:cNvPr id="12" name="Aligned float 8"/>
          <p:cNvSpPr/>
          <p:nvPr/>
        </p:nvSpPr>
        <p:spPr>
          <a:xfrm>
            <a:off x="2596896" y="1554480"/>
            <a:ext cx="246888" cy="384048"/>
          </a:xfrm>
          <a:prstGeom prst="rect">
            <a:avLst/>
          </a:prstGeom>
          <a:solidFill>
            <a:schemeClr val="accent1"/>
          </a:solidFill>
          <a:ln w="9525">
            <a:solidFill>
              <a:schemeClr val="bg1"/>
            </a:solidFill>
            <a:prstDash val="solid"/>
          </a:ln>
        </p:spPr>
      </p:sp>
      <p:sp>
        <p:nvSpPr>
          <p:cNvPr id="13" name="Aligned float 9"/>
          <p:cNvSpPr/>
          <p:nvPr/>
        </p:nvSpPr>
        <p:spPr>
          <a:xfrm>
            <a:off x="2843784" y="1554480"/>
            <a:ext cx="246888" cy="384048"/>
          </a:xfrm>
          <a:prstGeom prst="rect">
            <a:avLst/>
          </a:prstGeom>
          <a:solidFill>
            <a:schemeClr val="accent1"/>
          </a:solidFill>
          <a:ln w="9525">
            <a:solidFill>
              <a:schemeClr val="bg1"/>
            </a:solidFill>
            <a:prstDash val="solid"/>
          </a:ln>
        </p:spPr>
      </p:sp>
      <p:sp>
        <p:nvSpPr>
          <p:cNvPr id="14" name="Aligned float 10"/>
          <p:cNvSpPr/>
          <p:nvPr/>
        </p:nvSpPr>
        <p:spPr>
          <a:xfrm>
            <a:off x="3090672" y="1554480"/>
            <a:ext cx="246888" cy="384048"/>
          </a:xfrm>
          <a:prstGeom prst="rect">
            <a:avLst/>
          </a:prstGeom>
          <a:solidFill>
            <a:schemeClr val="accent1"/>
          </a:solidFill>
          <a:ln w="9525">
            <a:solidFill>
              <a:schemeClr val="bg1"/>
            </a:solidFill>
            <a:prstDash val="solid"/>
          </a:ln>
        </p:spPr>
      </p:sp>
      <p:sp>
        <p:nvSpPr>
          <p:cNvPr id="15" name="Aligned float 11"/>
          <p:cNvSpPr/>
          <p:nvPr/>
        </p:nvSpPr>
        <p:spPr>
          <a:xfrm>
            <a:off x="3337560" y="1554480"/>
            <a:ext cx="246888" cy="384048"/>
          </a:xfrm>
          <a:prstGeom prst="rect">
            <a:avLst/>
          </a:prstGeom>
          <a:solidFill>
            <a:schemeClr val="accent1"/>
          </a:solidFill>
          <a:ln w="9525">
            <a:solidFill>
              <a:schemeClr val="bg1"/>
            </a:solidFill>
            <a:prstDash val="solid"/>
          </a:ln>
        </p:spPr>
      </p:sp>
      <p:sp>
        <p:nvSpPr>
          <p:cNvPr id="16" name="Aligned float 12"/>
          <p:cNvSpPr/>
          <p:nvPr/>
        </p:nvSpPr>
        <p:spPr>
          <a:xfrm>
            <a:off x="3584448" y="1554480"/>
            <a:ext cx="246888" cy="384048"/>
          </a:xfrm>
          <a:prstGeom prst="rect">
            <a:avLst/>
          </a:prstGeom>
          <a:solidFill>
            <a:schemeClr val="accent1"/>
          </a:solidFill>
          <a:ln w="9525">
            <a:solidFill>
              <a:schemeClr val="bg1"/>
            </a:solidFill>
            <a:prstDash val="solid"/>
          </a:ln>
        </p:spPr>
      </p:sp>
      <p:sp>
        <p:nvSpPr>
          <p:cNvPr id="17" name="Aligned float 13"/>
          <p:cNvSpPr/>
          <p:nvPr/>
        </p:nvSpPr>
        <p:spPr>
          <a:xfrm>
            <a:off x="3831336" y="1554480"/>
            <a:ext cx="246888" cy="384048"/>
          </a:xfrm>
          <a:prstGeom prst="rect">
            <a:avLst/>
          </a:prstGeom>
          <a:solidFill>
            <a:schemeClr val="accent1"/>
          </a:solidFill>
          <a:ln w="9525">
            <a:solidFill>
              <a:schemeClr val="bg1"/>
            </a:solidFill>
            <a:prstDash val="solid"/>
          </a:ln>
        </p:spPr>
      </p:sp>
      <p:sp>
        <p:nvSpPr>
          <p:cNvPr id="18" name="Aligned float 14"/>
          <p:cNvSpPr/>
          <p:nvPr/>
        </p:nvSpPr>
        <p:spPr>
          <a:xfrm>
            <a:off x="4078224" y="1554480"/>
            <a:ext cx="246888" cy="384048"/>
          </a:xfrm>
          <a:prstGeom prst="rect">
            <a:avLst/>
          </a:prstGeom>
          <a:solidFill>
            <a:schemeClr val="accent1"/>
          </a:solidFill>
          <a:ln w="9525">
            <a:solidFill>
              <a:schemeClr val="bg1"/>
            </a:solidFill>
            <a:prstDash val="solid"/>
          </a:ln>
        </p:spPr>
      </p:sp>
      <p:sp>
        <p:nvSpPr>
          <p:cNvPr id="19" name="Aligned float 15"/>
          <p:cNvSpPr/>
          <p:nvPr/>
        </p:nvSpPr>
        <p:spPr>
          <a:xfrm>
            <a:off x="4325112" y="1554480"/>
            <a:ext cx="246888" cy="384048"/>
          </a:xfrm>
          <a:prstGeom prst="rect">
            <a:avLst/>
          </a:prstGeom>
          <a:solidFill>
            <a:schemeClr val="accent1"/>
          </a:solidFill>
          <a:ln w="9525">
            <a:solidFill>
              <a:schemeClr val="bg1"/>
            </a:solidFill>
            <a:prstDash val="solid"/>
          </a:ln>
        </p:spPr>
      </p:sp>
      <p:sp>
        <p:nvSpPr>
          <p:cNvPr id="20" name="Aligned float 16"/>
          <p:cNvSpPr/>
          <p:nvPr/>
        </p:nvSpPr>
        <p:spPr>
          <a:xfrm>
            <a:off x="4572000" y="1554480"/>
            <a:ext cx="246888" cy="384048"/>
          </a:xfrm>
          <a:prstGeom prst="rect">
            <a:avLst/>
          </a:prstGeom>
          <a:solidFill>
            <a:schemeClr val="accent2"/>
          </a:solidFill>
          <a:ln w="9525">
            <a:solidFill>
              <a:schemeClr val="bg1"/>
            </a:solidFill>
            <a:prstDash val="solid"/>
          </a:ln>
        </p:spPr>
      </p:sp>
      <p:sp>
        <p:nvSpPr>
          <p:cNvPr id="21" name="Aligned float 17"/>
          <p:cNvSpPr/>
          <p:nvPr/>
        </p:nvSpPr>
        <p:spPr>
          <a:xfrm>
            <a:off x="4818888" y="1554480"/>
            <a:ext cx="246888" cy="384048"/>
          </a:xfrm>
          <a:prstGeom prst="rect">
            <a:avLst/>
          </a:prstGeom>
          <a:solidFill>
            <a:schemeClr val="accent2"/>
          </a:solidFill>
          <a:ln w="9525">
            <a:solidFill>
              <a:schemeClr val="bg1"/>
            </a:solidFill>
            <a:prstDash val="solid"/>
          </a:ln>
        </p:spPr>
      </p:sp>
      <p:sp>
        <p:nvSpPr>
          <p:cNvPr id="22" name="Aligned float 18"/>
          <p:cNvSpPr/>
          <p:nvPr/>
        </p:nvSpPr>
        <p:spPr>
          <a:xfrm>
            <a:off x="5065776" y="1554480"/>
            <a:ext cx="246888" cy="384048"/>
          </a:xfrm>
          <a:prstGeom prst="rect">
            <a:avLst/>
          </a:prstGeom>
          <a:solidFill>
            <a:schemeClr val="accent2"/>
          </a:solidFill>
          <a:ln w="9525">
            <a:solidFill>
              <a:schemeClr val="bg1"/>
            </a:solidFill>
            <a:prstDash val="solid"/>
          </a:ln>
        </p:spPr>
      </p:sp>
      <p:sp>
        <p:nvSpPr>
          <p:cNvPr id="23" name="Aligned float 19"/>
          <p:cNvSpPr/>
          <p:nvPr/>
        </p:nvSpPr>
        <p:spPr>
          <a:xfrm>
            <a:off x="5312664" y="1554480"/>
            <a:ext cx="246888" cy="384048"/>
          </a:xfrm>
          <a:prstGeom prst="rect">
            <a:avLst/>
          </a:prstGeom>
          <a:solidFill>
            <a:schemeClr val="accent2"/>
          </a:solidFill>
          <a:ln w="9525">
            <a:solidFill>
              <a:schemeClr val="bg1"/>
            </a:solidFill>
            <a:prstDash val="solid"/>
          </a:ln>
        </p:spPr>
      </p:sp>
      <p:sp>
        <p:nvSpPr>
          <p:cNvPr id="24" name="Aligned float 20"/>
          <p:cNvSpPr/>
          <p:nvPr/>
        </p:nvSpPr>
        <p:spPr>
          <a:xfrm>
            <a:off x="5559552" y="1554480"/>
            <a:ext cx="246888" cy="384048"/>
          </a:xfrm>
          <a:prstGeom prst="rect">
            <a:avLst/>
          </a:prstGeom>
          <a:solidFill>
            <a:schemeClr val="accent2"/>
          </a:solidFill>
          <a:ln w="9525">
            <a:solidFill>
              <a:schemeClr val="bg1"/>
            </a:solidFill>
            <a:prstDash val="solid"/>
          </a:ln>
        </p:spPr>
      </p:sp>
      <p:sp>
        <p:nvSpPr>
          <p:cNvPr id="25" name="Aligned float 21"/>
          <p:cNvSpPr/>
          <p:nvPr/>
        </p:nvSpPr>
        <p:spPr>
          <a:xfrm>
            <a:off x="5806440" y="1554480"/>
            <a:ext cx="246888" cy="384048"/>
          </a:xfrm>
          <a:prstGeom prst="rect">
            <a:avLst/>
          </a:prstGeom>
          <a:solidFill>
            <a:schemeClr val="accent2"/>
          </a:solidFill>
          <a:ln w="9525">
            <a:solidFill>
              <a:schemeClr val="bg1"/>
            </a:solidFill>
            <a:prstDash val="solid"/>
          </a:ln>
        </p:spPr>
      </p:sp>
      <p:sp>
        <p:nvSpPr>
          <p:cNvPr id="26" name="Aligned float 22"/>
          <p:cNvSpPr/>
          <p:nvPr/>
        </p:nvSpPr>
        <p:spPr>
          <a:xfrm>
            <a:off x="6053328" y="1554480"/>
            <a:ext cx="246888" cy="384048"/>
          </a:xfrm>
          <a:prstGeom prst="rect">
            <a:avLst/>
          </a:prstGeom>
          <a:solidFill>
            <a:schemeClr val="accent2"/>
          </a:solidFill>
          <a:ln w="9525">
            <a:solidFill>
              <a:schemeClr val="bg1"/>
            </a:solidFill>
            <a:prstDash val="solid"/>
          </a:ln>
        </p:spPr>
      </p:sp>
      <p:sp>
        <p:nvSpPr>
          <p:cNvPr id="27" name="Aligned float 23"/>
          <p:cNvSpPr/>
          <p:nvPr/>
        </p:nvSpPr>
        <p:spPr>
          <a:xfrm>
            <a:off x="6300216" y="1554480"/>
            <a:ext cx="246888" cy="384048"/>
          </a:xfrm>
          <a:prstGeom prst="rect">
            <a:avLst/>
          </a:prstGeom>
          <a:solidFill>
            <a:schemeClr val="accent2"/>
          </a:solidFill>
          <a:ln w="9525">
            <a:solidFill>
              <a:schemeClr val="bg1"/>
            </a:solidFill>
            <a:prstDash val="solid"/>
          </a:ln>
        </p:spPr>
      </p:sp>
      <p:sp>
        <p:nvSpPr>
          <p:cNvPr id="28" name="Aligned float 24"/>
          <p:cNvSpPr/>
          <p:nvPr/>
        </p:nvSpPr>
        <p:spPr>
          <a:xfrm>
            <a:off x="6547104" y="1554480"/>
            <a:ext cx="246888" cy="384048"/>
          </a:xfrm>
          <a:prstGeom prst="rect">
            <a:avLst/>
          </a:prstGeom>
          <a:solidFill>
            <a:schemeClr val="accent2"/>
          </a:solidFill>
          <a:ln w="9525">
            <a:solidFill>
              <a:schemeClr val="bg1"/>
            </a:solidFill>
            <a:prstDash val="solid"/>
          </a:ln>
        </p:spPr>
      </p:sp>
      <p:sp>
        <p:nvSpPr>
          <p:cNvPr id="29" name="Aligned float 25"/>
          <p:cNvSpPr/>
          <p:nvPr/>
        </p:nvSpPr>
        <p:spPr>
          <a:xfrm>
            <a:off x="6793992" y="1554480"/>
            <a:ext cx="246888" cy="384048"/>
          </a:xfrm>
          <a:prstGeom prst="rect">
            <a:avLst/>
          </a:prstGeom>
          <a:solidFill>
            <a:schemeClr val="accent2"/>
          </a:solidFill>
          <a:ln w="9525">
            <a:solidFill>
              <a:schemeClr val="bg1"/>
            </a:solidFill>
            <a:prstDash val="solid"/>
          </a:ln>
        </p:spPr>
      </p:sp>
      <p:sp>
        <p:nvSpPr>
          <p:cNvPr id="30" name="Aligned float 26"/>
          <p:cNvSpPr/>
          <p:nvPr/>
        </p:nvSpPr>
        <p:spPr>
          <a:xfrm>
            <a:off x="7040880" y="1554480"/>
            <a:ext cx="246888" cy="384048"/>
          </a:xfrm>
          <a:prstGeom prst="rect">
            <a:avLst/>
          </a:prstGeom>
          <a:solidFill>
            <a:schemeClr val="accent2"/>
          </a:solidFill>
          <a:ln w="9525">
            <a:solidFill>
              <a:schemeClr val="bg1"/>
            </a:solidFill>
            <a:prstDash val="solid"/>
          </a:ln>
        </p:spPr>
      </p:sp>
      <p:sp>
        <p:nvSpPr>
          <p:cNvPr id="31" name="Aligned float 27"/>
          <p:cNvSpPr/>
          <p:nvPr/>
        </p:nvSpPr>
        <p:spPr>
          <a:xfrm>
            <a:off x="7287768" y="1554480"/>
            <a:ext cx="246888" cy="384048"/>
          </a:xfrm>
          <a:prstGeom prst="rect">
            <a:avLst/>
          </a:prstGeom>
          <a:solidFill>
            <a:schemeClr val="accent2"/>
          </a:solidFill>
          <a:ln w="9525">
            <a:solidFill>
              <a:schemeClr val="bg1"/>
            </a:solidFill>
            <a:prstDash val="solid"/>
          </a:ln>
        </p:spPr>
      </p:sp>
      <p:sp>
        <p:nvSpPr>
          <p:cNvPr id="32" name="Aligned float 28"/>
          <p:cNvSpPr/>
          <p:nvPr/>
        </p:nvSpPr>
        <p:spPr>
          <a:xfrm>
            <a:off x="7534656" y="1554480"/>
            <a:ext cx="246888" cy="384048"/>
          </a:xfrm>
          <a:prstGeom prst="rect">
            <a:avLst/>
          </a:prstGeom>
          <a:solidFill>
            <a:schemeClr val="accent2"/>
          </a:solidFill>
          <a:ln w="9525">
            <a:solidFill>
              <a:schemeClr val="bg1"/>
            </a:solidFill>
            <a:prstDash val="solid"/>
          </a:ln>
        </p:spPr>
      </p:sp>
      <p:sp>
        <p:nvSpPr>
          <p:cNvPr id="33" name="Aligned float 29"/>
          <p:cNvSpPr/>
          <p:nvPr/>
        </p:nvSpPr>
        <p:spPr>
          <a:xfrm>
            <a:off x="7781544" y="1554480"/>
            <a:ext cx="246888" cy="384048"/>
          </a:xfrm>
          <a:prstGeom prst="rect">
            <a:avLst/>
          </a:prstGeom>
          <a:solidFill>
            <a:schemeClr val="accent2"/>
          </a:solidFill>
          <a:ln w="9525">
            <a:solidFill>
              <a:schemeClr val="bg1"/>
            </a:solidFill>
            <a:prstDash val="solid"/>
          </a:ln>
        </p:spPr>
      </p:sp>
      <p:sp>
        <p:nvSpPr>
          <p:cNvPr id="34" name="Aligned float 30"/>
          <p:cNvSpPr/>
          <p:nvPr/>
        </p:nvSpPr>
        <p:spPr>
          <a:xfrm>
            <a:off x="8028432" y="1554480"/>
            <a:ext cx="246888" cy="384048"/>
          </a:xfrm>
          <a:prstGeom prst="rect">
            <a:avLst/>
          </a:prstGeom>
          <a:solidFill>
            <a:schemeClr val="accent2"/>
          </a:solidFill>
          <a:ln w="9525">
            <a:solidFill>
              <a:schemeClr val="bg1"/>
            </a:solidFill>
            <a:prstDash val="solid"/>
          </a:ln>
        </p:spPr>
      </p:sp>
      <p:sp>
        <p:nvSpPr>
          <p:cNvPr id="35" name="Aligned float 31"/>
          <p:cNvSpPr/>
          <p:nvPr/>
        </p:nvSpPr>
        <p:spPr>
          <a:xfrm>
            <a:off x="8275320" y="1554480"/>
            <a:ext cx="246888" cy="384048"/>
          </a:xfrm>
          <a:prstGeom prst="rect">
            <a:avLst/>
          </a:prstGeom>
          <a:solidFill>
            <a:schemeClr val="accent2"/>
          </a:solidFill>
          <a:ln w="9525">
            <a:solidFill>
              <a:schemeClr val="bg1"/>
            </a:solidFill>
            <a:prstDash val="solid"/>
          </a:ln>
        </p:spPr>
      </p:sp>
      <p:sp>
        <p:nvSpPr>
          <p:cNvPr id="36" name="Aligned cache line 0"/>
          <p:cNvSpPr/>
          <p:nvPr/>
        </p:nvSpPr>
        <p:spPr>
          <a:xfrm>
            <a:off x="603504" y="1508760"/>
            <a:ext cx="3986784" cy="475488"/>
          </a:xfrm>
          <a:prstGeom prst="rect">
            <a:avLst/>
          </a:prstGeom>
          <a:ln w="15875">
            <a:solidFill>
              <a:schemeClr val="tx1"/>
            </a:solidFill>
            <a:prstDash val="solid"/>
          </a:ln>
        </p:spPr>
      </p:sp>
      <p:sp>
        <p:nvSpPr>
          <p:cNvPr id="37" name="Aligned cache line 0 label"/>
          <p:cNvSpPr txBox="1"/>
          <p:nvPr/>
        </p:nvSpPr>
        <p:spPr>
          <a:xfrm>
            <a:off x="621792" y="2066544"/>
            <a:ext cx="3950208" cy="201168"/>
          </a:xfrm>
          <a:prstGeom prst="rect">
            <a:avLst/>
          </a:prstGeom>
          <a:noFill/>
          <a:ln/>
        </p:spPr>
        <p:txBody>
          <a:bodyPr wrap="square" lIns="0" tIns="0" rIns="0" bIns="0" rtlCol="0" anchor="t"/>
          <a:lstStyle/>
          <a:p>
            <a:pPr algn="ctr" indent="0" marL="0">
              <a:buNone/>
            </a:pPr>
            <a:r>
              <a:rPr lang="en-US" sz="1200" dirty="0">
                <a:solidFill>
                  <a:schemeClr val="tx1"/>
                </a:solidFill>
              </a:rPr>
              <a:t>cache line 0</a:t>
            </a:r>
            <a:endParaRPr lang="en-US" sz="1200" dirty="0"/>
          </a:p>
        </p:txBody>
      </p:sp>
      <p:sp>
        <p:nvSpPr>
          <p:cNvPr id="38" name="Aligned cache line 1"/>
          <p:cNvSpPr/>
          <p:nvPr/>
        </p:nvSpPr>
        <p:spPr>
          <a:xfrm>
            <a:off x="4553712" y="1508760"/>
            <a:ext cx="3986784" cy="475488"/>
          </a:xfrm>
          <a:prstGeom prst="rect">
            <a:avLst/>
          </a:prstGeom>
          <a:ln w="15875">
            <a:solidFill>
              <a:schemeClr val="tx1"/>
            </a:solidFill>
            <a:prstDash val="solid"/>
          </a:ln>
        </p:spPr>
      </p:sp>
      <p:sp>
        <p:nvSpPr>
          <p:cNvPr id="39" name="Aligned cache line 1 label"/>
          <p:cNvSpPr txBox="1"/>
          <p:nvPr/>
        </p:nvSpPr>
        <p:spPr>
          <a:xfrm>
            <a:off x="4572000" y="2066544"/>
            <a:ext cx="3950208" cy="201168"/>
          </a:xfrm>
          <a:prstGeom prst="rect">
            <a:avLst/>
          </a:prstGeom>
          <a:noFill/>
          <a:ln/>
        </p:spPr>
        <p:txBody>
          <a:bodyPr wrap="square" lIns="0" tIns="0" rIns="0" bIns="0" rtlCol="0" anchor="t"/>
          <a:lstStyle/>
          <a:p>
            <a:pPr algn="ctr" indent="0" marL="0">
              <a:buNone/>
            </a:pPr>
            <a:r>
              <a:rPr lang="en-US" sz="1200" dirty="0">
                <a:solidFill>
                  <a:schemeClr val="tx1"/>
                </a:solidFill>
              </a:rPr>
              <a:t>cache line 1</a:t>
            </a:r>
            <a:endParaRPr lang="en-US" sz="1200" dirty="0"/>
          </a:p>
        </p:txBody>
      </p:sp>
      <p:sp>
        <p:nvSpPr>
          <p:cNvPr id="40" name="Aligned mark"/>
          <p:cNvSpPr/>
          <p:nvPr/>
        </p:nvSpPr>
        <p:spPr>
          <a:xfrm>
            <a:off x="457200" y="2395728"/>
            <a:ext cx="274320" cy="274320"/>
          </a:xfrm>
          <a:prstGeom prst="ellipse">
            <a:avLst/>
          </a:prstGeom>
          <a:solidFill>
            <a:schemeClr val="accent1"/>
          </a:solidFill>
          <a:ln/>
        </p:spPr>
      </p:sp>
      <p:sp>
        <p:nvSpPr>
          <p:cNvPr id="41" name="Aligned mark label"/>
          <p:cNvSpPr txBox="1"/>
          <p:nvPr/>
        </p:nvSpPr>
        <p:spPr>
          <a:xfrm>
            <a:off x="457200" y="2395728"/>
            <a:ext cx="274320" cy="274320"/>
          </a:xfrm>
          <a:prstGeom prst="rect">
            <a:avLst/>
          </a:prstGeom>
          <a:noFill/>
          <a:ln/>
        </p:spPr>
        <p:txBody>
          <a:bodyPr wrap="square" lIns="0" tIns="0" rIns="0" bIns="0" rtlCol="0" anchor="ctr"/>
          <a:lstStyle/>
          <a:p>
            <a:pPr algn="ctr" indent="0" marL="0">
              <a:buNone/>
            </a:pPr>
            <a:endParaRPr lang="en-US" sz="1400" dirty="0"/>
          </a:p>
        </p:txBody>
      </p:sp>
      <p:sp>
        <p:nvSpPr>
          <p:cNvPr id="42" name="Aligned tick"/>
          <p:cNvSpPr txBox="1"/>
          <p:nvPr/>
        </p:nvSpPr>
        <p:spPr>
          <a:xfrm>
            <a:off x="457200" y="2395728"/>
            <a:ext cx="274320" cy="274320"/>
          </a:xfrm>
          <a:prstGeom prst="rect">
            <a:avLst/>
          </a:prstGeom>
          <a:noFill/>
          <a:ln/>
        </p:spPr>
        <p:txBody>
          <a:bodyPr wrap="square" lIns="0" tIns="0" rIns="0" bIns="0" rtlCol="0" anchor="ctr"/>
          <a:lstStyle/>
          <a:p>
            <a:pPr algn="ctr" indent="0" marL="0">
              <a:buNone/>
            </a:pPr>
            <a:r>
              <a:rPr lang="en-US" sz="1400" b="1" dirty="0">
                <a:solidFill>
                  <a:schemeClr val="tx1"/>
                </a:solidFill>
              </a:rPr>
              <a:t>✓</a:t>
            </a:r>
            <a:endParaRPr lang="en-US" sz="1400" dirty="0"/>
          </a:p>
        </p:txBody>
      </p:sp>
      <p:sp>
        <p:nvSpPr>
          <p:cNvPr id="43" name="Aligned note"/>
          <p:cNvSpPr txBox="1"/>
          <p:nvPr/>
        </p:nvSpPr>
        <p:spPr>
          <a:xfrm>
            <a:off x="822960" y="2395728"/>
            <a:ext cx="4572000" cy="274320"/>
          </a:xfrm>
          <a:prstGeom prst="rect">
            <a:avLst/>
          </a:prstGeom>
          <a:noFill/>
          <a:ln/>
        </p:spPr>
        <p:txBody>
          <a:bodyPr wrap="square" lIns="0" tIns="0" rIns="0" bIns="0" rtlCol="0" anchor="ctr"/>
          <a:lstStyle/>
          <a:p>
            <a:pPr indent="0" marL="0">
              <a:buNone/>
            </a:pPr>
            <a:r>
              <a:rPr lang="en-US" sz="1400" dirty="0">
                <a:solidFill>
                  <a:schemeClr val="tx1"/>
                </a:solidFill>
              </a:rPr>
              <a:t>Each cache line has one writer</a:t>
            </a:r>
            <a:endParaRPr lang="en-US" sz="1400" dirty="0"/>
          </a:p>
        </p:txBody>
      </p:sp>
      <p:sp>
        <p:nvSpPr>
          <p:cNvPr id="44" name="Naive label"/>
          <p:cNvSpPr txBox="1"/>
          <p:nvPr/>
        </p:nvSpPr>
        <p:spPr>
          <a:xfrm>
            <a:off x="457200" y="2834640"/>
            <a:ext cx="8229600" cy="274320"/>
          </a:xfrm>
          <a:prstGeom prst="rect">
            <a:avLst/>
          </a:prstGeom>
          <a:noFill/>
          <a:ln/>
        </p:spPr>
        <p:txBody>
          <a:bodyPr wrap="square" lIns="0" tIns="0" rIns="0" bIns="0" rtlCol="0" anchor="t"/>
          <a:lstStyle/>
          <a:p>
            <a:pPr indent="0" marL="0">
              <a:buNone/>
            </a:pPr>
            <a:r>
              <a:rPr lang="en-US" sz="1400" b="1" dirty="0">
                <a:solidFill>
                  <a:schemeClr val="tx1"/>
                </a:solidFill>
              </a:rPr>
              <a:t>Split at 12 (naive)</a:t>
            </a:r>
            <a:endParaRPr lang="en-US" sz="1400" dirty="0"/>
          </a:p>
        </p:txBody>
      </p:sp>
      <p:sp>
        <p:nvSpPr>
          <p:cNvPr id="45" name="Naive float 0"/>
          <p:cNvSpPr/>
          <p:nvPr/>
        </p:nvSpPr>
        <p:spPr>
          <a:xfrm>
            <a:off x="621792" y="3246120"/>
            <a:ext cx="246888" cy="384048"/>
          </a:xfrm>
          <a:prstGeom prst="rect">
            <a:avLst/>
          </a:prstGeom>
          <a:solidFill>
            <a:schemeClr val="accent1"/>
          </a:solidFill>
          <a:ln w="9525">
            <a:solidFill>
              <a:schemeClr val="bg1"/>
            </a:solidFill>
            <a:prstDash val="solid"/>
          </a:ln>
        </p:spPr>
      </p:sp>
      <p:sp>
        <p:nvSpPr>
          <p:cNvPr id="46" name="Naive float 1"/>
          <p:cNvSpPr/>
          <p:nvPr/>
        </p:nvSpPr>
        <p:spPr>
          <a:xfrm>
            <a:off x="868680" y="3246120"/>
            <a:ext cx="246888" cy="384048"/>
          </a:xfrm>
          <a:prstGeom prst="rect">
            <a:avLst/>
          </a:prstGeom>
          <a:solidFill>
            <a:schemeClr val="accent1"/>
          </a:solidFill>
          <a:ln w="9525">
            <a:solidFill>
              <a:schemeClr val="bg1"/>
            </a:solidFill>
            <a:prstDash val="solid"/>
          </a:ln>
        </p:spPr>
      </p:sp>
      <p:sp>
        <p:nvSpPr>
          <p:cNvPr id="47" name="Naive float 2"/>
          <p:cNvSpPr/>
          <p:nvPr/>
        </p:nvSpPr>
        <p:spPr>
          <a:xfrm>
            <a:off x="1115568" y="3246120"/>
            <a:ext cx="246888" cy="384048"/>
          </a:xfrm>
          <a:prstGeom prst="rect">
            <a:avLst/>
          </a:prstGeom>
          <a:solidFill>
            <a:schemeClr val="accent1"/>
          </a:solidFill>
          <a:ln w="9525">
            <a:solidFill>
              <a:schemeClr val="bg1"/>
            </a:solidFill>
            <a:prstDash val="solid"/>
          </a:ln>
        </p:spPr>
      </p:sp>
      <p:sp>
        <p:nvSpPr>
          <p:cNvPr id="48" name="Naive float 3"/>
          <p:cNvSpPr/>
          <p:nvPr/>
        </p:nvSpPr>
        <p:spPr>
          <a:xfrm>
            <a:off x="1362456" y="3246120"/>
            <a:ext cx="246888" cy="384048"/>
          </a:xfrm>
          <a:prstGeom prst="rect">
            <a:avLst/>
          </a:prstGeom>
          <a:solidFill>
            <a:schemeClr val="accent1"/>
          </a:solidFill>
          <a:ln w="9525">
            <a:solidFill>
              <a:schemeClr val="bg1"/>
            </a:solidFill>
            <a:prstDash val="solid"/>
          </a:ln>
        </p:spPr>
      </p:sp>
      <p:sp>
        <p:nvSpPr>
          <p:cNvPr id="49" name="Naive float 4"/>
          <p:cNvSpPr/>
          <p:nvPr/>
        </p:nvSpPr>
        <p:spPr>
          <a:xfrm>
            <a:off x="1609344" y="3246120"/>
            <a:ext cx="246888" cy="384048"/>
          </a:xfrm>
          <a:prstGeom prst="rect">
            <a:avLst/>
          </a:prstGeom>
          <a:solidFill>
            <a:schemeClr val="accent1"/>
          </a:solidFill>
          <a:ln w="9525">
            <a:solidFill>
              <a:schemeClr val="bg1"/>
            </a:solidFill>
            <a:prstDash val="solid"/>
          </a:ln>
        </p:spPr>
      </p:sp>
      <p:sp>
        <p:nvSpPr>
          <p:cNvPr id="50" name="Naive float 5"/>
          <p:cNvSpPr/>
          <p:nvPr/>
        </p:nvSpPr>
        <p:spPr>
          <a:xfrm>
            <a:off x="1856232" y="3246120"/>
            <a:ext cx="246888" cy="384048"/>
          </a:xfrm>
          <a:prstGeom prst="rect">
            <a:avLst/>
          </a:prstGeom>
          <a:solidFill>
            <a:schemeClr val="accent1"/>
          </a:solidFill>
          <a:ln w="9525">
            <a:solidFill>
              <a:schemeClr val="bg1"/>
            </a:solidFill>
            <a:prstDash val="solid"/>
          </a:ln>
        </p:spPr>
      </p:sp>
      <p:sp>
        <p:nvSpPr>
          <p:cNvPr id="51" name="Naive float 6"/>
          <p:cNvSpPr/>
          <p:nvPr/>
        </p:nvSpPr>
        <p:spPr>
          <a:xfrm>
            <a:off x="2103120" y="3246120"/>
            <a:ext cx="246888" cy="384048"/>
          </a:xfrm>
          <a:prstGeom prst="rect">
            <a:avLst/>
          </a:prstGeom>
          <a:solidFill>
            <a:schemeClr val="accent1"/>
          </a:solidFill>
          <a:ln w="9525">
            <a:solidFill>
              <a:schemeClr val="bg1"/>
            </a:solidFill>
            <a:prstDash val="solid"/>
          </a:ln>
        </p:spPr>
      </p:sp>
      <p:sp>
        <p:nvSpPr>
          <p:cNvPr id="52" name="Naive float 7"/>
          <p:cNvSpPr/>
          <p:nvPr/>
        </p:nvSpPr>
        <p:spPr>
          <a:xfrm>
            <a:off x="2350008" y="3246120"/>
            <a:ext cx="246888" cy="384048"/>
          </a:xfrm>
          <a:prstGeom prst="rect">
            <a:avLst/>
          </a:prstGeom>
          <a:solidFill>
            <a:schemeClr val="accent1"/>
          </a:solidFill>
          <a:ln w="9525">
            <a:solidFill>
              <a:schemeClr val="bg1"/>
            </a:solidFill>
            <a:prstDash val="solid"/>
          </a:ln>
        </p:spPr>
      </p:sp>
      <p:sp>
        <p:nvSpPr>
          <p:cNvPr id="53" name="Naive float 8"/>
          <p:cNvSpPr/>
          <p:nvPr/>
        </p:nvSpPr>
        <p:spPr>
          <a:xfrm>
            <a:off x="2596896" y="3246120"/>
            <a:ext cx="246888" cy="384048"/>
          </a:xfrm>
          <a:prstGeom prst="rect">
            <a:avLst/>
          </a:prstGeom>
          <a:solidFill>
            <a:schemeClr val="accent1"/>
          </a:solidFill>
          <a:ln w="9525">
            <a:solidFill>
              <a:schemeClr val="bg1"/>
            </a:solidFill>
            <a:prstDash val="solid"/>
          </a:ln>
        </p:spPr>
      </p:sp>
      <p:sp>
        <p:nvSpPr>
          <p:cNvPr id="54" name="Naive float 9"/>
          <p:cNvSpPr/>
          <p:nvPr/>
        </p:nvSpPr>
        <p:spPr>
          <a:xfrm>
            <a:off x="2843784" y="3246120"/>
            <a:ext cx="246888" cy="384048"/>
          </a:xfrm>
          <a:prstGeom prst="rect">
            <a:avLst/>
          </a:prstGeom>
          <a:solidFill>
            <a:schemeClr val="accent1"/>
          </a:solidFill>
          <a:ln w="9525">
            <a:solidFill>
              <a:schemeClr val="bg1"/>
            </a:solidFill>
            <a:prstDash val="solid"/>
          </a:ln>
        </p:spPr>
      </p:sp>
      <p:sp>
        <p:nvSpPr>
          <p:cNvPr id="55" name="Naive float 10"/>
          <p:cNvSpPr/>
          <p:nvPr/>
        </p:nvSpPr>
        <p:spPr>
          <a:xfrm>
            <a:off x="3090672" y="3246120"/>
            <a:ext cx="246888" cy="384048"/>
          </a:xfrm>
          <a:prstGeom prst="rect">
            <a:avLst/>
          </a:prstGeom>
          <a:solidFill>
            <a:schemeClr val="accent1"/>
          </a:solidFill>
          <a:ln w="9525">
            <a:solidFill>
              <a:schemeClr val="bg1"/>
            </a:solidFill>
            <a:prstDash val="solid"/>
          </a:ln>
        </p:spPr>
      </p:sp>
      <p:sp>
        <p:nvSpPr>
          <p:cNvPr id="56" name="Naive float 11"/>
          <p:cNvSpPr/>
          <p:nvPr/>
        </p:nvSpPr>
        <p:spPr>
          <a:xfrm>
            <a:off x="3337560" y="3246120"/>
            <a:ext cx="246888" cy="384048"/>
          </a:xfrm>
          <a:prstGeom prst="rect">
            <a:avLst/>
          </a:prstGeom>
          <a:solidFill>
            <a:schemeClr val="accent1"/>
          </a:solidFill>
          <a:ln w="9525">
            <a:solidFill>
              <a:schemeClr val="bg1"/>
            </a:solidFill>
            <a:prstDash val="solid"/>
          </a:ln>
        </p:spPr>
      </p:sp>
      <p:sp>
        <p:nvSpPr>
          <p:cNvPr id="57" name="Naive float 12"/>
          <p:cNvSpPr/>
          <p:nvPr/>
        </p:nvSpPr>
        <p:spPr>
          <a:xfrm>
            <a:off x="3584448" y="3246120"/>
            <a:ext cx="246888" cy="384048"/>
          </a:xfrm>
          <a:prstGeom prst="rect">
            <a:avLst/>
          </a:prstGeom>
          <a:solidFill>
            <a:schemeClr val="accent2"/>
          </a:solidFill>
          <a:ln w="9525">
            <a:solidFill>
              <a:schemeClr val="bg1"/>
            </a:solidFill>
            <a:prstDash val="solid"/>
          </a:ln>
        </p:spPr>
      </p:sp>
      <p:sp>
        <p:nvSpPr>
          <p:cNvPr id="58" name="Naive float 13"/>
          <p:cNvSpPr/>
          <p:nvPr/>
        </p:nvSpPr>
        <p:spPr>
          <a:xfrm>
            <a:off x="3831336" y="3246120"/>
            <a:ext cx="246888" cy="384048"/>
          </a:xfrm>
          <a:prstGeom prst="rect">
            <a:avLst/>
          </a:prstGeom>
          <a:solidFill>
            <a:schemeClr val="accent2"/>
          </a:solidFill>
          <a:ln w="9525">
            <a:solidFill>
              <a:schemeClr val="bg1"/>
            </a:solidFill>
            <a:prstDash val="solid"/>
          </a:ln>
        </p:spPr>
      </p:sp>
      <p:sp>
        <p:nvSpPr>
          <p:cNvPr id="59" name="Naive float 14"/>
          <p:cNvSpPr/>
          <p:nvPr/>
        </p:nvSpPr>
        <p:spPr>
          <a:xfrm>
            <a:off x="4078224" y="3246120"/>
            <a:ext cx="246888" cy="384048"/>
          </a:xfrm>
          <a:prstGeom prst="rect">
            <a:avLst/>
          </a:prstGeom>
          <a:solidFill>
            <a:schemeClr val="accent2"/>
          </a:solidFill>
          <a:ln w="9525">
            <a:solidFill>
              <a:schemeClr val="bg1"/>
            </a:solidFill>
            <a:prstDash val="solid"/>
          </a:ln>
        </p:spPr>
      </p:sp>
      <p:sp>
        <p:nvSpPr>
          <p:cNvPr id="60" name="Naive float 15"/>
          <p:cNvSpPr/>
          <p:nvPr/>
        </p:nvSpPr>
        <p:spPr>
          <a:xfrm>
            <a:off x="4325112" y="3246120"/>
            <a:ext cx="246888" cy="384048"/>
          </a:xfrm>
          <a:prstGeom prst="rect">
            <a:avLst/>
          </a:prstGeom>
          <a:solidFill>
            <a:schemeClr val="accent2"/>
          </a:solidFill>
          <a:ln w="9525">
            <a:solidFill>
              <a:schemeClr val="bg1"/>
            </a:solidFill>
            <a:prstDash val="solid"/>
          </a:ln>
        </p:spPr>
      </p:sp>
      <p:sp>
        <p:nvSpPr>
          <p:cNvPr id="61" name="Naive float 16"/>
          <p:cNvSpPr/>
          <p:nvPr/>
        </p:nvSpPr>
        <p:spPr>
          <a:xfrm>
            <a:off x="4572000" y="3246120"/>
            <a:ext cx="246888" cy="384048"/>
          </a:xfrm>
          <a:prstGeom prst="rect">
            <a:avLst/>
          </a:prstGeom>
          <a:solidFill>
            <a:schemeClr val="accent2"/>
          </a:solidFill>
          <a:ln w="9525">
            <a:solidFill>
              <a:schemeClr val="bg1"/>
            </a:solidFill>
            <a:prstDash val="solid"/>
          </a:ln>
        </p:spPr>
      </p:sp>
      <p:sp>
        <p:nvSpPr>
          <p:cNvPr id="62" name="Naive float 17"/>
          <p:cNvSpPr/>
          <p:nvPr/>
        </p:nvSpPr>
        <p:spPr>
          <a:xfrm>
            <a:off x="4818888" y="3246120"/>
            <a:ext cx="246888" cy="384048"/>
          </a:xfrm>
          <a:prstGeom prst="rect">
            <a:avLst/>
          </a:prstGeom>
          <a:solidFill>
            <a:schemeClr val="accent2"/>
          </a:solidFill>
          <a:ln w="9525">
            <a:solidFill>
              <a:schemeClr val="bg1"/>
            </a:solidFill>
            <a:prstDash val="solid"/>
          </a:ln>
        </p:spPr>
      </p:sp>
      <p:sp>
        <p:nvSpPr>
          <p:cNvPr id="63" name="Naive float 18"/>
          <p:cNvSpPr/>
          <p:nvPr/>
        </p:nvSpPr>
        <p:spPr>
          <a:xfrm>
            <a:off x="5065776" y="3246120"/>
            <a:ext cx="246888" cy="384048"/>
          </a:xfrm>
          <a:prstGeom prst="rect">
            <a:avLst/>
          </a:prstGeom>
          <a:solidFill>
            <a:schemeClr val="accent2"/>
          </a:solidFill>
          <a:ln w="9525">
            <a:solidFill>
              <a:schemeClr val="bg1"/>
            </a:solidFill>
            <a:prstDash val="solid"/>
          </a:ln>
        </p:spPr>
      </p:sp>
      <p:sp>
        <p:nvSpPr>
          <p:cNvPr id="64" name="Naive float 19"/>
          <p:cNvSpPr/>
          <p:nvPr/>
        </p:nvSpPr>
        <p:spPr>
          <a:xfrm>
            <a:off x="5312664" y="3246120"/>
            <a:ext cx="246888" cy="384048"/>
          </a:xfrm>
          <a:prstGeom prst="rect">
            <a:avLst/>
          </a:prstGeom>
          <a:solidFill>
            <a:schemeClr val="accent2"/>
          </a:solidFill>
          <a:ln w="9525">
            <a:solidFill>
              <a:schemeClr val="bg1"/>
            </a:solidFill>
            <a:prstDash val="solid"/>
          </a:ln>
        </p:spPr>
      </p:sp>
      <p:sp>
        <p:nvSpPr>
          <p:cNvPr id="65" name="Naive float 20"/>
          <p:cNvSpPr/>
          <p:nvPr/>
        </p:nvSpPr>
        <p:spPr>
          <a:xfrm>
            <a:off x="5559552" y="3246120"/>
            <a:ext cx="246888" cy="384048"/>
          </a:xfrm>
          <a:prstGeom prst="rect">
            <a:avLst/>
          </a:prstGeom>
          <a:solidFill>
            <a:schemeClr val="accent2"/>
          </a:solidFill>
          <a:ln w="9525">
            <a:solidFill>
              <a:schemeClr val="bg1"/>
            </a:solidFill>
            <a:prstDash val="solid"/>
          </a:ln>
        </p:spPr>
      </p:sp>
      <p:sp>
        <p:nvSpPr>
          <p:cNvPr id="66" name="Naive float 21"/>
          <p:cNvSpPr/>
          <p:nvPr/>
        </p:nvSpPr>
        <p:spPr>
          <a:xfrm>
            <a:off x="5806440" y="3246120"/>
            <a:ext cx="246888" cy="384048"/>
          </a:xfrm>
          <a:prstGeom prst="rect">
            <a:avLst/>
          </a:prstGeom>
          <a:solidFill>
            <a:schemeClr val="accent2"/>
          </a:solidFill>
          <a:ln w="9525">
            <a:solidFill>
              <a:schemeClr val="bg1"/>
            </a:solidFill>
            <a:prstDash val="solid"/>
          </a:ln>
        </p:spPr>
      </p:sp>
      <p:sp>
        <p:nvSpPr>
          <p:cNvPr id="67" name="Naive float 22"/>
          <p:cNvSpPr/>
          <p:nvPr/>
        </p:nvSpPr>
        <p:spPr>
          <a:xfrm>
            <a:off x="6053328" y="3246120"/>
            <a:ext cx="246888" cy="384048"/>
          </a:xfrm>
          <a:prstGeom prst="rect">
            <a:avLst/>
          </a:prstGeom>
          <a:solidFill>
            <a:schemeClr val="accent2"/>
          </a:solidFill>
          <a:ln w="9525">
            <a:solidFill>
              <a:schemeClr val="bg1"/>
            </a:solidFill>
            <a:prstDash val="solid"/>
          </a:ln>
        </p:spPr>
      </p:sp>
      <p:sp>
        <p:nvSpPr>
          <p:cNvPr id="68" name="Naive float 23"/>
          <p:cNvSpPr/>
          <p:nvPr/>
        </p:nvSpPr>
        <p:spPr>
          <a:xfrm>
            <a:off x="6300216" y="3246120"/>
            <a:ext cx="246888" cy="384048"/>
          </a:xfrm>
          <a:prstGeom prst="rect">
            <a:avLst/>
          </a:prstGeom>
          <a:solidFill>
            <a:schemeClr val="accent2"/>
          </a:solidFill>
          <a:ln w="9525">
            <a:solidFill>
              <a:schemeClr val="bg1"/>
            </a:solidFill>
            <a:prstDash val="solid"/>
          </a:ln>
        </p:spPr>
      </p:sp>
      <p:sp>
        <p:nvSpPr>
          <p:cNvPr id="69" name="Naive float 24"/>
          <p:cNvSpPr/>
          <p:nvPr/>
        </p:nvSpPr>
        <p:spPr>
          <a:xfrm>
            <a:off x="6547104" y="3246120"/>
            <a:ext cx="246888" cy="384048"/>
          </a:xfrm>
          <a:prstGeom prst="rect">
            <a:avLst/>
          </a:prstGeom>
          <a:solidFill>
            <a:schemeClr val="accent2"/>
          </a:solidFill>
          <a:ln w="9525">
            <a:solidFill>
              <a:schemeClr val="bg1"/>
            </a:solidFill>
            <a:prstDash val="solid"/>
          </a:ln>
        </p:spPr>
      </p:sp>
      <p:sp>
        <p:nvSpPr>
          <p:cNvPr id="70" name="Naive float 25"/>
          <p:cNvSpPr/>
          <p:nvPr/>
        </p:nvSpPr>
        <p:spPr>
          <a:xfrm>
            <a:off x="6793992" y="3246120"/>
            <a:ext cx="246888" cy="384048"/>
          </a:xfrm>
          <a:prstGeom prst="rect">
            <a:avLst/>
          </a:prstGeom>
          <a:solidFill>
            <a:schemeClr val="accent2"/>
          </a:solidFill>
          <a:ln w="9525">
            <a:solidFill>
              <a:schemeClr val="bg1"/>
            </a:solidFill>
            <a:prstDash val="solid"/>
          </a:ln>
        </p:spPr>
      </p:sp>
      <p:sp>
        <p:nvSpPr>
          <p:cNvPr id="71" name="Naive float 26"/>
          <p:cNvSpPr/>
          <p:nvPr/>
        </p:nvSpPr>
        <p:spPr>
          <a:xfrm>
            <a:off x="7040880" y="3246120"/>
            <a:ext cx="246888" cy="384048"/>
          </a:xfrm>
          <a:prstGeom prst="rect">
            <a:avLst/>
          </a:prstGeom>
          <a:solidFill>
            <a:schemeClr val="accent2"/>
          </a:solidFill>
          <a:ln w="9525">
            <a:solidFill>
              <a:schemeClr val="bg1"/>
            </a:solidFill>
            <a:prstDash val="solid"/>
          </a:ln>
        </p:spPr>
      </p:sp>
      <p:sp>
        <p:nvSpPr>
          <p:cNvPr id="72" name="Naive float 27"/>
          <p:cNvSpPr/>
          <p:nvPr/>
        </p:nvSpPr>
        <p:spPr>
          <a:xfrm>
            <a:off x="7287768" y="3246120"/>
            <a:ext cx="246888" cy="384048"/>
          </a:xfrm>
          <a:prstGeom prst="rect">
            <a:avLst/>
          </a:prstGeom>
          <a:solidFill>
            <a:schemeClr val="accent2"/>
          </a:solidFill>
          <a:ln w="9525">
            <a:solidFill>
              <a:schemeClr val="bg1"/>
            </a:solidFill>
            <a:prstDash val="solid"/>
          </a:ln>
        </p:spPr>
      </p:sp>
      <p:sp>
        <p:nvSpPr>
          <p:cNvPr id="73" name="Naive float 28"/>
          <p:cNvSpPr/>
          <p:nvPr/>
        </p:nvSpPr>
        <p:spPr>
          <a:xfrm>
            <a:off x="7534656" y="3246120"/>
            <a:ext cx="246888" cy="384048"/>
          </a:xfrm>
          <a:prstGeom prst="rect">
            <a:avLst/>
          </a:prstGeom>
          <a:solidFill>
            <a:schemeClr val="accent2"/>
          </a:solidFill>
          <a:ln w="9525">
            <a:solidFill>
              <a:schemeClr val="bg1"/>
            </a:solidFill>
            <a:prstDash val="solid"/>
          </a:ln>
        </p:spPr>
      </p:sp>
      <p:sp>
        <p:nvSpPr>
          <p:cNvPr id="74" name="Naive float 29"/>
          <p:cNvSpPr/>
          <p:nvPr/>
        </p:nvSpPr>
        <p:spPr>
          <a:xfrm>
            <a:off x="7781544" y="3246120"/>
            <a:ext cx="246888" cy="384048"/>
          </a:xfrm>
          <a:prstGeom prst="rect">
            <a:avLst/>
          </a:prstGeom>
          <a:solidFill>
            <a:schemeClr val="accent2"/>
          </a:solidFill>
          <a:ln w="9525">
            <a:solidFill>
              <a:schemeClr val="bg1"/>
            </a:solidFill>
            <a:prstDash val="solid"/>
          </a:ln>
        </p:spPr>
      </p:sp>
      <p:sp>
        <p:nvSpPr>
          <p:cNvPr id="75" name="Naive float 30"/>
          <p:cNvSpPr/>
          <p:nvPr/>
        </p:nvSpPr>
        <p:spPr>
          <a:xfrm>
            <a:off x="8028432" y="3246120"/>
            <a:ext cx="246888" cy="384048"/>
          </a:xfrm>
          <a:prstGeom prst="rect">
            <a:avLst/>
          </a:prstGeom>
          <a:solidFill>
            <a:schemeClr val="accent2"/>
          </a:solidFill>
          <a:ln w="9525">
            <a:solidFill>
              <a:schemeClr val="bg1"/>
            </a:solidFill>
            <a:prstDash val="solid"/>
          </a:ln>
        </p:spPr>
      </p:sp>
      <p:sp>
        <p:nvSpPr>
          <p:cNvPr id="76" name="Naive float 31"/>
          <p:cNvSpPr/>
          <p:nvPr/>
        </p:nvSpPr>
        <p:spPr>
          <a:xfrm>
            <a:off x="8275320" y="3246120"/>
            <a:ext cx="246888" cy="384048"/>
          </a:xfrm>
          <a:prstGeom prst="rect">
            <a:avLst/>
          </a:prstGeom>
          <a:solidFill>
            <a:schemeClr val="accent2"/>
          </a:solidFill>
          <a:ln w="9525">
            <a:solidFill>
              <a:schemeClr val="bg1"/>
            </a:solidFill>
            <a:prstDash val="solid"/>
          </a:ln>
        </p:spPr>
      </p:sp>
      <p:sp>
        <p:nvSpPr>
          <p:cNvPr id="77" name="Naive cache line 0"/>
          <p:cNvSpPr/>
          <p:nvPr/>
        </p:nvSpPr>
        <p:spPr>
          <a:xfrm>
            <a:off x="603504" y="3200400"/>
            <a:ext cx="3986784" cy="475488"/>
          </a:xfrm>
          <a:prstGeom prst="rect">
            <a:avLst/>
          </a:prstGeom>
          <a:ln w="38100">
            <a:solidFill>
              <a:schemeClr val="accent3"/>
            </a:solidFill>
            <a:prstDash val="solid"/>
          </a:ln>
        </p:spPr>
      </p:sp>
      <p:sp>
        <p:nvSpPr>
          <p:cNvPr id="78" name="Naive cache line 0 label"/>
          <p:cNvSpPr txBox="1"/>
          <p:nvPr/>
        </p:nvSpPr>
        <p:spPr>
          <a:xfrm>
            <a:off x="621792" y="3758184"/>
            <a:ext cx="3950208" cy="201168"/>
          </a:xfrm>
          <a:prstGeom prst="rect">
            <a:avLst/>
          </a:prstGeom>
          <a:noFill/>
          <a:ln/>
        </p:spPr>
        <p:txBody>
          <a:bodyPr wrap="square" lIns="0" tIns="0" rIns="0" bIns="0" rtlCol="0" anchor="t"/>
          <a:lstStyle/>
          <a:p>
            <a:pPr algn="ctr" indent="0" marL="0">
              <a:buNone/>
            </a:pPr>
            <a:r>
              <a:rPr lang="en-US" sz="1200" dirty="0">
                <a:solidFill>
                  <a:schemeClr val="tx1"/>
                </a:solidFill>
              </a:rPr>
              <a:t>cache line 0</a:t>
            </a:r>
            <a:endParaRPr lang="en-US" sz="1200" dirty="0"/>
          </a:p>
        </p:txBody>
      </p:sp>
      <p:sp>
        <p:nvSpPr>
          <p:cNvPr id="79" name="Naive cache line 1"/>
          <p:cNvSpPr/>
          <p:nvPr/>
        </p:nvSpPr>
        <p:spPr>
          <a:xfrm>
            <a:off x="4553712" y="3200400"/>
            <a:ext cx="3986784" cy="475488"/>
          </a:xfrm>
          <a:prstGeom prst="rect">
            <a:avLst/>
          </a:prstGeom>
          <a:ln w="15875">
            <a:solidFill>
              <a:schemeClr val="tx1"/>
            </a:solidFill>
            <a:prstDash val="solid"/>
          </a:ln>
        </p:spPr>
      </p:sp>
      <p:sp>
        <p:nvSpPr>
          <p:cNvPr id="80" name="Naive cache line 1 label"/>
          <p:cNvSpPr txBox="1"/>
          <p:nvPr/>
        </p:nvSpPr>
        <p:spPr>
          <a:xfrm>
            <a:off x="4572000" y="3758184"/>
            <a:ext cx="3950208" cy="201168"/>
          </a:xfrm>
          <a:prstGeom prst="rect">
            <a:avLst/>
          </a:prstGeom>
          <a:noFill/>
          <a:ln/>
        </p:spPr>
        <p:txBody>
          <a:bodyPr wrap="square" lIns="0" tIns="0" rIns="0" bIns="0" rtlCol="0" anchor="t"/>
          <a:lstStyle/>
          <a:p>
            <a:pPr algn="ctr" indent="0" marL="0">
              <a:buNone/>
            </a:pPr>
            <a:r>
              <a:rPr lang="en-US" sz="1200" dirty="0">
                <a:solidFill>
                  <a:schemeClr val="tx1"/>
                </a:solidFill>
              </a:rPr>
              <a:t>cache line 1</a:t>
            </a:r>
            <a:endParaRPr lang="en-US" sz="1200" dirty="0"/>
          </a:p>
        </p:txBody>
      </p:sp>
      <p:sp>
        <p:nvSpPr>
          <p:cNvPr id="81" name="Naive mark"/>
          <p:cNvSpPr/>
          <p:nvPr/>
        </p:nvSpPr>
        <p:spPr>
          <a:xfrm>
            <a:off x="457200" y="4087368"/>
            <a:ext cx="274320" cy="274320"/>
          </a:xfrm>
          <a:prstGeom prst="ellipse">
            <a:avLst/>
          </a:prstGeom>
          <a:solidFill>
            <a:schemeClr val="accent3"/>
          </a:solidFill>
          <a:ln/>
        </p:spPr>
      </p:sp>
      <p:sp>
        <p:nvSpPr>
          <p:cNvPr id="82" name="Naive mark label"/>
          <p:cNvSpPr txBox="1"/>
          <p:nvPr/>
        </p:nvSpPr>
        <p:spPr>
          <a:xfrm>
            <a:off x="457200" y="4087368"/>
            <a:ext cx="274320" cy="274320"/>
          </a:xfrm>
          <a:prstGeom prst="rect">
            <a:avLst/>
          </a:prstGeom>
          <a:noFill/>
          <a:ln/>
        </p:spPr>
        <p:txBody>
          <a:bodyPr wrap="square" lIns="0" tIns="0" rIns="0" bIns="0" rtlCol="0" anchor="ctr"/>
          <a:lstStyle/>
          <a:p>
            <a:pPr algn="ctr" indent="0" marL="0">
              <a:buNone/>
            </a:pPr>
            <a:r>
              <a:rPr lang="en-US" sz="1400" b="1" dirty="0">
                <a:solidFill>
                  <a:schemeClr val="tx1"/>
                </a:solidFill>
              </a:rPr>
              <a:t>!</a:t>
            </a:r>
            <a:endParaRPr lang="en-US" sz="1400" dirty="0"/>
          </a:p>
        </p:txBody>
      </p:sp>
      <p:sp>
        <p:nvSpPr>
          <p:cNvPr id="83" name="Naive note"/>
          <p:cNvSpPr txBox="1"/>
          <p:nvPr/>
        </p:nvSpPr>
        <p:spPr>
          <a:xfrm>
            <a:off x="822960" y="4023360"/>
            <a:ext cx="7863840" cy="457200"/>
          </a:xfrm>
          <a:prstGeom prst="rect">
            <a:avLst/>
          </a:prstGeom>
          <a:noFill/>
          <a:ln/>
        </p:spPr>
        <p:txBody>
          <a:bodyPr wrap="square" lIns="0" tIns="0" rIns="0" bIns="0" rtlCol="0" anchor="ctr"/>
          <a:lstStyle/>
          <a:p>
            <a:pPr indent="0" marL="0">
              <a:buNone/>
            </a:pPr>
            <a:r>
              <a:rPr lang="en-US" sz="1400" dirty="0">
                <a:solidFill>
                  <a:schemeClr val="tx1"/>
                </a:solidFill>
              </a:rPr>
              <a:t>Line 0 is written by both threads: the cores keep invalidating each other's copy (false sharing)</a:t>
            </a:r>
            <a:endParaRPr lang="en-US" sz="1400" dirty="0"/>
          </a:p>
        </p:txBody>
      </p:sp>
      <p:sp>
        <p:nvSpPr>
          <p:cNvPr id="84" name="Legend"/>
          <p:cNvSpPr txBox="1"/>
          <p:nvPr/>
        </p:nvSpPr>
        <p:spPr>
          <a:xfrm>
            <a:off x="457200" y="4526280"/>
            <a:ext cx="7589520" cy="228600"/>
          </a:xfrm>
          <a:prstGeom prst="rect">
            <a:avLst/>
          </a:prstGeom>
          <a:noFill/>
          <a:ln/>
        </p:spPr>
        <p:txBody>
          <a:bodyPr wrap="square" lIns="0" tIns="0" rIns="0" bIns="0" rtlCol="0" anchor="t"/>
          <a:lstStyle/>
          <a:p>
            <a:pPr indent="0" marL="0">
              <a:buNone/>
            </a:pPr>
            <a:r>
              <a:rPr lang="en-US" sz="1200" dirty="0">
                <a:solidFill>
                  <a:schemeClr val="tx2"/>
                </a:solidFill>
              </a:rPr>
              <a:t>Each square is one float (4 bytes); 16 floats make one 64-byte cache line.</a:t>
            </a:r>
            <a:endParaRPr lang="en-US" sz="12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3400" b="1" dirty="0">
                <a:solidFill>
                  <a:schemeClr val="tx1"/>
                </a:solidFill>
              </a:rPr>
              <a:t>Running it: parallel_for</a:t>
            </a:r>
            <a:endParaRPr lang="en-US" sz="3400" dirty="0"/>
          </a:p>
        </p:txBody>
      </p:sp>
      <p:sp>
        <p:nvSpPr>
          <p:cNvPr id="3" name="parallel_for code panel"/>
          <p:cNvSpPr/>
          <p:nvPr/>
        </p:nvSpPr>
        <p:spPr>
          <a:xfrm>
            <a:off x="457200" y="1188720"/>
            <a:ext cx="4937760" cy="2103120"/>
          </a:xfrm>
          <a:prstGeom prst="roundRect">
            <a:avLst>
              <a:gd name="adj" fmla="val 3478"/>
            </a:avLst>
          </a:prstGeom>
          <a:solidFill>
            <a:schemeClr val="tx2"/>
          </a:solidFill>
          <a:ln/>
        </p:spPr>
      </p:sp>
      <p:sp>
        <p:nvSpPr>
          <p:cNvPr id="4" name="parallel_for code"/>
          <p:cNvSpPr txBox="1"/>
          <p:nvPr/>
        </p:nvSpPr>
        <p:spPr>
          <a:xfrm>
            <a:off x="621792" y="1316736"/>
            <a:ext cx="4608576" cy="1847088"/>
          </a:xfrm>
          <a:prstGeom prst="rect">
            <a:avLst/>
          </a:prstGeom>
          <a:noFill/>
          <a:ln/>
        </p:spPr>
        <p:txBody>
          <a:bodyPr wrap="square" lIns="0" tIns="0" rIns="0" bIns="0" rtlCol="0" anchor="t"/>
          <a:lstStyle/>
          <a:p>
            <a:pPr indent="0" marL="0">
              <a:buNone/>
            </a:pPr>
            <a:r>
              <a:rPr lang="en-US" sz="1100" dirty="0">
                <a:solidFill>
                  <a:schemeClr val="accent5"/>
                </a:solidFill>
                <a:latin typeface="Courier New" pitchFamily="34" charset="0"/>
                <a:ea typeface="Courier New" pitchFamily="34" charset="-122"/>
                <a:cs typeface="Courier New" pitchFamily="34" charset="-120"/>
              </a:rPr>
              <a:t>if</a:t>
            </a:r>
            <a:pPr indent="0" marL="0">
              <a:buNone/>
            </a:pPr>
            <a:r>
              <a:rPr lang="en-US" sz="1100" dirty="0">
                <a:solidFill>
                  <a:schemeClr val="bg2"/>
                </a:solidFill>
                <a:latin typeface="Courier New" pitchFamily="34" charset="0"/>
                <a:ea typeface="Courier New" pitchFamily="34" charset="-122"/>
                <a:cs typeface="Courier New" pitchFamily="34" charset="-120"/>
              </a:rPr>
              <a:t> (n &gt; grain &amp;&amp; omp_get_max_threads() &gt; </a:t>
            </a:r>
            <a:pPr indent="0" marL="0">
              <a:buNone/>
            </a:pPr>
            <a:r>
              <a:rPr lang="en-US" sz="1100" dirty="0">
                <a:solidFill>
                  <a:schemeClr val="accent2"/>
                </a:solidFill>
                <a:latin typeface="Courier New" pitchFamily="34" charset="0"/>
                <a:ea typeface="Courier New" pitchFamily="34" charset="-122"/>
                <a:cs typeface="Courier New" pitchFamily="34" charset="-120"/>
              </a:rPr>
              <a:t>1</a:t>
            </a:r>
            <a:pPr indent="0" marL="0">
              <a:buNone/>
            </a:pPr>
            <a:r>
              <a:rPr lang="en-US" sz="1100" dirty="0">
                <a:solidFill>
                  <a:schemeClr val="bg2"/>
                </a:solidFill>
                <a:latin typeface="Courier New" pitchFamily="34" charset="0"/>
                <a:ea typeface="Courier New" pitchFamily="34" charset="-122"/>
                <a:cs typeface="Courier New" pitchFamily="34" charset="-120"/>
              </a:rPr>
              <a:t>) {</a:t>
            </a:r>
            <a:endParaRPr lang="en-US" sz="1100" dirty="0"/>
          </a:p>
          <a:p>
            <a:pPr indent="0" marL="0">
              <a:buNone/>
            </a:pPr>
            <a:r>
              <a:rPr lang="en-US" sz="1100" dirty="0">
                <a:solidFill>
                  <a:schemeClr val="accent4"/>
                </a:solidFill>
                <a:latin typeface="Courier New" pitchFamily="34" charset="0"/>
                <a:ea typeface="Courier New" pitchFamily="34" charset="-122"/>
                <a:cs typeface="Courier New" pitchFamily="34" charset="-120"/>
              </a:rPr>
              <a:t>#pragma omp parallel</a:t>
            </a:r>
            <a:endParaRPr lang="en-US" sz="1100" dirty="0"/>
          </a:p>
          <a:p>
            <a:pPr indent="0" marL="0">
              <a:buNone/>
            </a:pPr>
            <a:r>
              <a:rPr lang="en-US" sz="1100" dirty="0">
                <a:solidFill>
                  <a:schemeClr val="bg2"/>
                </a:solidFill>
                <a:latin typeface="Courier New" pitchFamily="34" charset="0"/>
                <a:ea typeface="Courier New" pitchFamily="34" charset="-122"/>
                <a:cs typeface="Courier New" pitchFamily="34" charset="-120"/>
              </a:rPr>
              <a:t>  {</a:t>
            </a:r>
            <a:endParaRPr lang="en-US" sz="1100" dirty="0"/>
          </a:p>
          <a:p>
            <a:pPr indent="0" marL="0">
              <a:buNone/>
            </a:pPr>
            <a:r>
              <a:rPr lang="en-US" sz="1100" dirty="0">
                <a:solidFill>
                  <a:schemeClr val="bg2"/>
                </a:solidFill>
                <a:latin typeface="Courier New" pitchFamily="34" charset="0"/>
                <a:ea typeface="Courier New" pitchFamily="34" charset="-122"/>
                <a:cs typeface="Courier New" pitchFamily="34" charset="-120"/>
              </a:rPr>
              <a:t>    block_range(n, omp_get_num_threads(),</a:t>
            </a:r>
            <a:endParaRPr lang="en-US" sz="1100" dirty="0"/>
          </a:p>
          <a:p>
            <a:pPr indent="0" marL="0">
              <a:buNone/>
            </a:pPr>
            <a:r>
              <a:rPr lang="en-US" sz="1100" dirty="0">
                <a:solidFill>
                  <a:schemeClr val="bg2"/>
                </a:solidFill>
                <a:latin typeface="Courier New" pitchFamily="34" charset="0"/>
                <a:ea typeface="Courier New" pitchFamily="34" charset="-122"/>
                <a:cs typeface="Courier New" pitchFamily="34" charset="-120"/>
              </a:rPr>
              <a:t>                omp_get_thread_num(), b, e);</a:t>
            </a:r>
            <a:endParaRPr lang="en-US" sz="1100" dirty="0"/>
          </a:p>
          <a:p>
            <a:pPr indent="0" marL="0">
              <a:buNone/>
            </a:pPr>
            <a:r>
              <a:rPr lang="en-US" sz="1100" dirty="0">
                <a:solidFill>
                  <a:schemeClr val="bg2"/>
                </a:solidFill>
                <a:latin typeface="Courier New" pitchFamily="34" charset="0"/>
                <a:ea typeface="Courier New" pitchFamily="34" charset="-122"/>
                <a:cs typeface="Courier New" pitchFamily="34" charset="-120"/>
              </a:rPr>
              <a:t>    </a:t>
            </a:r>
            <a:pPr indent="0" marL="0">
              <a:buNone/>
            </a:pPr>
            <a:r>
              <a:rPr lang="en-US" sz="1100" dirty="0">
                <a:solidFill>
                  <a:schemeClr val="accent5"/>
                </a:solidFill>
                <a:latin typeface="Courier New" pitchFamily="34" charset="0"/>
                <a:ea typeface="Courier New" pitchFamily="34" charset="-122"/>
                <a:cs typeface="Courier New" pitchFamily="34" charset="-120"/>
              </a:rPr>
              <a:t>if</a:t>
            </a:r>
            <a:pPr indent="0" marL="0">
              <a:buNone/>
            </a:pPr>
            <a:r>
              <a:rPr lang="en-US" sz="1100" dirty="0">
                <a:solidFill>
                  <a:schemeClr val="bg2"/>
                </a:solidFill>
                <a:latin typeface="Courier New" pitchFamily="34" charset="0"/>
                <a:ea typeface="Courier New" pitchFamily="34" charset="-122"/>
                <a:cs typeface="Courier New" pitchFamily="34" charset="-120"/>
              </a:rPr>
              <a:t> (b &lt; e) body(b, e);</a:t>
            </a:r>
            <a:endParaRPr lang="en-US" sz="1100" dirty="0"/>
          </a:p>
          <a:p>
            <a:pPr indent="0" marL="0">
              <a:buNone/>
            </a:pPr>
            <a:r>
              <a:rPr lang="en-US" sz="1100" dirty="0">
                <a:solidFill>
                  <a:schemeClr val="bg2"/>
                </a:solidFill>
                <a:latin typeface="Courier New" pitchFamily="34" charset="0"/>
                <a:ea typeface="Courier New" pitchFamily="34" charset="-122"/>
                <a:cs typeface="Courier New" pitchFamily="34" charset="-120"/>
              </a:rPr>
              <a:t>  }</a:t>
            </a:r>
            <a:endParaRPr lang="en-US" sz="1100" dirty="0"/>
          </a:p>
          <a:p>
            <a:pPr indent="0" marL="0">
              <a:buNone/>
            </a:pPr>
            <a:r>
              <a:rPr lang="en-US" sz="1100" dirty="0">
                <a:solidFill>
                  <a:schemeClr val="bg2"/>
                </a:solidFill>
                <a:latin typeface="Courier New" pitchFamily="34" charset="0"/>
                <a:ea typeface="Courier New" pitchFamily="34" charset="-122"/>
                <a:cs typeface="Courier New" pitchFamily="34" charset="-120"/>
              </a:rPr>
              <a:t>  </a:t>
            </a:r>
            <a:pPr indent="0" marL="0">
              <a:buNone/>
            </a:pPr>
            <a:r>
              <a:rPr lang="en-US" sz="1100" dirty="0">
                <a:solidFill>
                  <a:schemeClr val="accent5"/>
                </a:solidFill>
                <a:latin typeface="Courier New" pitchFamily="34" charset="0"/>
                <a:ea typeface="Courier New" pitchFamily="34" charset="-122"/>
                <a:cs typeface="Courier New" pitchFamily="34" charset="-120"/>
              </a:rPr>
              <a:t>return</a:t>
            </a:r>
            <a:pPr indent="0" marL="0">
              <a:buNone/>
            </a:pPr>
            <a:r>
              <a:rPr lang="en-US" sz="1100" dirty="0">
                <a:solidFill>
                  <a:schemeClr val="bg2"/>
                </a:solidFill>
                <a:latin typeface="Courier New" pitchFamily="34" charset="0"/>
                <a:ea typeface="Courier New" pitchFamily="34" charset="-122"/>
                <a:cs typeface="Courier New" pitchFamily="34" charset="-120"/>
              </a:rPr>
              <a:t>;</a:t>
            </a:r>
            <a:endParaRPr lang="en-US" sz="1100" dirty="0"/>
          </a:p>
          <a:p>
            <a:pPr indent="0" marL="0">
              <a:buNone/>
            </a:pPr>
            <a:r>
              <a:rPr lang="en-US" sz="1100" dirty="0">
                <a:solidFill>
                  <a:schemeClr val="bg2"/>
                </a:solidFill>
                <a:latin typeface="Courier New" pitchFamily="34" charset="0"/>
                <a:ea typeface="Courier New" pitchFamily="34" charset="-122"/>
                <a:cs typeface="Courier New" pitchFamily="34" charset="-120"/>
              </a:rPr>
              <a:t>}</a:t>
            </a:r>
            <a:endParaRPr lang="en-US" sz="1100" dirty="0"/>
          </a:p>
          <a:p>
            <a:pPr indent="0" marL="0">
              <a:buNone/>
            </a:pPr>
            <a:r>
              <a:rPr lang="en-US" sz="1100" dirty="0">
                <a:solidFill>
                  <a:schemeClr val="bg2"/>
                </a:solidFill>
                <a:latin typeface="Courier New" pitchFamily="34" charset="0"/>
                <a:ea typeface="Courier New" pitchFamily="34" charset="-122"/>
                <a:cs typeface="Courier New" pitchFamily="34" charset="-120"/>
              </a:rPr>
              <a:t>body(</a:t>
            </a:r>
            <a:pPr indent="0" marL="0">
              <a:buNone/>
            </a:pPr>
            <a:r>
              <a:rPr lang="en-US" sz="1100" dirty="0">
                <a:solidFill>
                  <a:schemeClr val="accent2"/>
                </a:solidFill>
                <a:latin typeface="Courier New" pitchFamily="34" charset="0"/>
                <a:ea typeface="Courier New" pitchFamily="34" charset="-122"/>
                <a:cs typeface="Courier New" pitchFamily="34" charset="-120"/>
              </a:rPr>
              <a:t>0</a:t>
            </a:r>
            <a:pPr indent="0" marL="0">
              <a:buNone/>
            </a:pPr>
            <a:r>
              <a:rPr lang="en-US" sz="1100" dirty="0">
                <a:solidFill>
                  <a:schemeClr val="bg2"/>
                </a:solidFill>
                <a:latin typeface="Courier New" pitchFamily="34" charset="0"/>
                <a:ea typeface="Courier New" pitchFamily="34" charset="-122"/>
                <a:cs typeface="Courier New" pitchFamily="34" charset="-120"/>
              </a:rPr>
              <a:t>, n);  </a:t>
            </a:r>
            <a:pPr indent="0" marL="0">
              <a:buNone/>
            </a:pPr>
            <a:r>
              <a:rPr lang="en-US" sz="1100" i="1" dirty="0">
                <a:solidFill>
                  <a:schemeClr val="accent6"/>
                </a:solidFill>
                <a:latin typeface="Courier New" pitchFamily="34" charset="0"/>
                <a:ea typeface="Courier New" pitchFamily="34" charset="-122"/>
                <a:cs typeface="Courier New" pitchFamily="34" charset="-120"/>
              </a:rPr>
              <a:t>// small input: run serially</a:t>
            </a:r>
            <a:endParaRPr lang="en-US" sz="1100" dirty="0"/>
          </a:p>
        </p:txBody>
      </p:sp>
      <p:sp>
        <p:nvSpPr>
          <p:cNvPr id="5" name="kernel code panel"/>
          <p:cNvSpPr/>
          <p:nvPr/>
        </p:nvSpPr>
        <p:spPr>
          <a:xfrm>
            <a:off x="457200" y="3474720"/>
            <a:ext cx="4937760" cy="1051560"/>
          </a:xfrm>
          <a:prstGeom prst="roundRect">
            <a:avLst>
              <a:gd name="adj" fmla="val 6957"/>
            </a:avLst>
          </a:prstGeom>
          <a:solidFill>
            <a:schemeClr val="tx2"/>
          </a:solidFill>
          <a:ln/>
        </p:spPr>
      </p:sp>
      <p:sp>
        <p:nvSpPr>
          <p:cNvPr id="6" name="kernel code"/>
          <p:cNvSpPr txBox="1"/>
          <p:nvPr/>
        </p:nvSpPr>
        <p:spPr>
          <a:xfrm>
            <a:off x="621792" y="3602736"/>
            <a:ext cx="4608576" cy="795528"/>
          </a:xfrm>
          <a:prstGeom prst="rect">
            <a:avLst/>
          </a:prstGeom>
          <a:noFill/>
          <a:ln/>
        </p:spPr>
        <p:txBody>
          <a:bodyPr wrap="square" lIns="0" tIns="0" rIns="0" bIns="0" rtlCol="0" anchor="t"/>
          <a:lstStyle/>
          <a:p>
            <a:pPr indent="0" marL="0">
              <a:buNone/>
            </a:pPr>
            <a:r>
              <a:rPr lang="en-US" sz="1100" dirty="0">
                <a:solidFill>
                  <a:schemeClr val="bg2"/>
                </a:solidFill>
                <a:latin typeface="Courier New" pitchFamily="34" charset="0"/>
                <a:ea typeface="Courier New" pitchFamily="34" charset="-122"/>
                <a:cs typeface="Courier New" pitchFamily="34" charset="-120"/>
              </a:rPr>
              <a:t>parallel_for(n, [=](</a:t>
            </a:r>
            <a:pPr indent="0" marL="0">
              <a:buNone/>
            </a:pPr>
            <a:r>
              <a:rPr lang="en-US" sz="1100" dirty="0">
                <a:solidFill>
                  <a:schemeClr val="accent5"/>
                </a:solidFill>
                <a:latin typeface="Courier New" pitchFamily="34" charset="0"/>
                <a:ea typeface="Courier New" pitchFamily="34" charset="-122"/>
                <a:cs typeface="Courier New" pitchFamily="34" charset="-120"/>
              </a:rPr>
              <a:t>auto</a:t>
            </a:r>
            <a:pPr indent="0" marL="0">
              <a:buNone/>
            </a:pPr>
            <a:r>
              <a:rPr lang="en-US" sz="1100" dirty="0">
                <a:solidFill>
                  <a:schemeClr val="bg2"/>
                </a:solidFill>
                <a:latin typeface="Courier New" pitchFamily="34" charset="0"/>
                <a:ea typeface="Courier New" pitchFamily="34" charset="-122"/>
                <a:cs typeface="Courier New" pitchFamily="34" charset="-120"/>
              </a:rPr>
              <a:t> lo, </a:t>
            </a:r>
            <a:pPr indent="0" marL="0">
              <a:buNone/>
            </a:pPr>
            <a:r>
              <a:rPr lang="en-US" sz="1100" dirty="0">
                <a:solidFill>
                  <a:schemeClr val="accent5"/>
                </a:solidFill>
                <a:latin typeface="Courier New" pitchFamily="34" charset="0"/>
                <a:ea typeface="Courier New" pitchFamily="34" charset="-122"/>
                <a:cs typeface="Courier New" pitchFamily="34" charset="-120"/>
              </a:rPr>
              <a:t>auto</a:t>
            </a:r>
            <a:pPr indent="0" marL="0">
              <a:buNone/>
            </a:pPr>
            <a:r>
              <a:rPr lang="en-US" sz="1100" dirty="0">
                <a:solidFill>
                  <a:schemeClr val="bg2"/>
                </a:solidFill>
                <a:latin typeface="Courier New" pitchFamily="34" charset="0"/>
                <a:ea typeface="Courier New" pitchFamily="34" charset="-122"/>
                <a:cs typeface="Courier New" pitchFamily="34" charset="-120"/>
              </a:rPr>
              <a:t> hi) {</a:t>
            </a:r>
            <a:endParaRPr lang="en-US" sz="1100" dirty="0"/>
          </a:p>
          <a:p>
            <a:pPr indent="0" marL="0">
              <a:buNone/>
            </a:pPr>
            <a:r>
              <a:rPr lang="en-US" sz="1100" dirty="0">
                <a:solidFill>
                  <a:schemeClr val="bg2"/>
                </a:solidFill>
                <a:latin typeface="Courier New" pitchFamily="34" charset="0"/>
                <a:ea typeface="Courier New" pitchFamily="34" charset="-122"/>
                <a:cs typeface="Courier New" pitchFamily="34" charset="-120"/>
              </a:rPr>
              <a:t>  </a:t>
            </a:r>
            <a:pPr indent="0" marL="0">
              <a:buNone/>
            </a:pPr>
            <a:r>
              <a:rPr lang="en-US" sz="1100" dirty="0">
                <a:solidFill>
                  <a:schemeClr val="accent5"/>
                </a:solidFill>
                <a:latin typeface="Courier New" pitchFamily="34" charset="0"/>
                <a:ea typeface="Courier New" pitchFamily="34" charset="-122"/>
                <a:cs typeface="Courier New" pitchFamily="34" charset="-120"/>
              </a:rPr>
              <a:t>for</a:t>
            </a:r>
            <a:pPr indent="0" marL="0">
              <a:buNone/>
            </a:pPr>
            <a:r>
              <a:rPr lang="en-US" sz="1100" dirty="0">
                <a:solidFill>
                  <a:schemeClr val="bg2"/>
                </a:solidFill>
                <a:latin typeface="Courier New" pitchFamily="34" charset="0"/>
                <a:ea typeface="Courier New" pitchFamily="34" charset="-122"/>
                <a:cs typeface="Courier New" pitchFamily="34" charset="-120"/>
              </a:rPr>
              <a:t> (</a:t>
            </a:r>
            <a:pPr indent="0" marL="0">
              <a:buNone/>
            </a:pPr>
            <a:r>
              <a:rPr lang="en-US" sz="1100" dirty="0">
                <a:solidFill>
                  <a:schemeClr val="accent5"/>
                </a:solidFill>
                <a:latin typeface="Courier New" pitchFamily="34" charset="0"/>
                <a:ea typeface="Courier New" pitchFamily="34" charset="-122"/>
                <a:cs typeface="Courier New" pitchFamily="34" charset="-120"/>
              </a:rPr>
              <a:t>auto</a:t>
            </a:r>
            <a:pPr indent="0" marL="0">
              <a:buNone/>
            </a:pPr>
            <a:r>
              <a:rPr lang="en-US" sz="1100" dirty="0">
                <a:solidFill>
                  <a:schemeClr val="bg2"/>
                </a:solidFill>
                <a:latin typeface="Courier New" pitchFamily="34" charset="0"/>
                <a:ea typeface="Courier New" pitchFamily="34" charset="-122"/>
                <a:cs typeface="Courier New" pitchFamily="34" charset="-120"/>
              </a:rPr>
              <a:t> i = lo; i &lt; hi; ++i)</a:t>
            </a:r>
            <a:endParaRPr lang="en-US" sz="1100" dirty="0"/>
          </a:p>
          <a:p>
            <a:pPr indent="0" marL="0">
              <a:buNone/>
            </a:pPr>
            <a:r>
              <a:rPr lang="en-US" sz="1100" dirty="0">
                <a:solidFill>
                  <a:schemeClr val="bg2"/>
                </a:solidFill>
                <a:latin typeface="Courier New" pitchFamily="34" charset="0"/>
                <a:ea typeface="Courier New" pitchFamily="34" charset="-122"/>
                <a:cs typeface="Courier New" pitchFamily="34" charset="-120"/>
              </a:rPr>
              <a:t>    out[i] = op(a[i], b[i]);</a:t>
            </a:r>
            <a:endParaRPr lang="en-US" sz="1100" dirty="0"/>
          </a:p>
          <a:p>
            <a:pPr indent="0" marL="0">
              <a:buNone/>
            </a:pPr>
            <a:r>
              <a:rPr lang="en-US" sz="1100" dirty="0">
                <a:solidFill>
                  <a:schemeClr val="bg2"/>
                </a:solidFill>
                <a:latin typeface="Courier New" pitchFamily="34" charset="0"/>
                <a:ea typeface="Courier New" pitchFamily="34" charset="-122"/>
                <a:cs typeface="Courier New" pitchFamily="34" charset="-120"/>
              </a:rPr>
              <a:t>});   </a:t>
            </a:r>
            <a:pPr indent="0" marL="0">
              <a:buNone/>
            </a:pPr>
            <a:r>
              <a:rPr lang="en-US" sz="1100" i="1" dirty="0">
                <a:solidFill>
                  <a:schemeClr val="accent6"/>
                </a:solidFill>
                <a:latin typeface="Courier New" pitchFamily="34" charset="0"/>
                <a:ea typeface="Courier New" pitchFamily="34" charset="-122"/>
                <a:cs typeface="Courier New" pitchFamily="34" charset="-120"/>
              </a:rPr>
              <a:t>// the add / sub / mul / div kernel</a:t>
            </a:r>
            <a:endParaRPr lang="en-US" sz="1100" dirty="0"/>
          </a:p>
        </p:txBody>
      </p:sp>
      <p:sp>
        <p:nvSpPr>
          <p:cNvPr id="7" name="Excerpt note"/>
          <p:cNvSpPr txBox="1"/>
          <p:nvPr/>
        </p:nvSpPr>
        <p:spPr>
          <a:xfrm>
            <a:off x="3108960" y="4572000"/>
            <a:ext cx="2286000" cy="182880"/>
          </a:xfrm>
          <a:prstGeom prst="rect">
            <a:avLst/>
          </a:prstGeom>
          <a:noFill/>
          <a:ln/>
        </p:spPr>
        <p:txBody>
          <a:bodyPr wrap="square" lIns="0" tIns="0" rIns="0" bIns="0" rtlCol="0" anchor="t"/>
          <a:lstStyle/>
          <a:p>
            <a:pPr algn="r" indent="0" marL="0">
              <a:buNone/>
            </a:pPr>
            <a:r>
              <a:rPr lang="en-US" sz="1000" dirty="0">
                <a:solidFill>
                  <a:schemeClr val="tx2"/>
                </a:solidFill>
              </a:rPr>
              <a:t>simplified excerpts</a:t>
            </a:r>
            <a:endParaRPr lang="en-US" sz="1000" dirty="0"/>
          </a:p>
        </p:txBody>
      </p:sp>
      <p:sp>
        <p:nvSpPr>
          <p:cNvPr id="8" name="Note 1"/>
          <p:cNvSpPr/>
          <p:nvPr/>
        </p:nvSpPr>
        <p:spPr>
          <a:xfrm>
            <a:off x="5577840" y="1188720"/>
            <a:ext cx="3108960" cy="1005840"/>
          </a:xfrm>
          <a:prstGeom prst="roundRect">
            <a:avLst>
              <a:gd name="adj" fmla="val 7273"/>
            </a:avLst>
          </a:prstGeom>
          <a:solidFill>
            <a:schemeClr val="bg2"/>
          </a:solidFill>
          <a:ln/>
        </p:spPr>
      </p:sp>
      <p:sp>
        <p:nvSpPr>
          <p:cNvPr id="9" name="Note 1 badge"/>
          <p:cNvSpPr/>
          <p:nvPr/>
        </p:nvSpPr>
        <p:spPr>
          <a:xfrm>
            <a:off x="5715000" y="1316736"/>
            <a:ext cx="274320" cy="274320"/>
          </a:xfrm>
          <a:prstGeom prst="ellipse">
            <a:avLst/>
          </a:prstGeom>
          <a:solidFill>
            <a:schemeClr val="accent1"/>
          </a:solidFill>
          <a:ln/>
        </p:spPr>
      </p:sp>
      <p:sp>
        <p:nvSpPr>
          <p:cNvPr id="10" name="Note 1 badge label"/>
          <p:cNvSpPr txBox="1"/>
          <p:nvPr/>
        </p:nvSpPr>
        <p:spPr>
          <a:xfrm>
            <a:off x="5715000" y="1316736"/>
            <a:ext cx="274320" cy="274320"/>
          </a:xfrm>
          <a:prstGeom prst="rect">
            <a:avLst/>
          </a:prstGeom>
          <a:noFill/>
          <a:ln/>
        </p:spPr>
        <p:txBody>
          <a:bodyPr wrap="square" lIns="0" tIns="0" rIns="0" bIns="0" rtlCol="0" anchor="ctr"/>
          <a:lstStyle/>
          <a:p>
            <a:pPr algn="ctr" indent="0" marL="0">
              <a:buNone/>
            </a:pPr>
            <a:r>
              <a:rPr lang="en-US" sz="1400" b="1" dirty="0">
                <a:solidFill>
                  <a:schemeClr val="tx1"/>
                </a:solidFill>
              </a:rPr>
              <a:t>1</a:t>
            </a:r>
            <a:endParaRPr lang="en-US" sz="1400" dirty="0"/>
          </a:p>
        </p:txBody>
      </p:sp>
      <p:sp>
        <p:nvSpPr>
          <p:cNvPr id="11" name="Note 1 title"/>
          <p:cNvSpPr txBox="1"/>
          <p:nvPr/>
        </p:nvSpPr>
        <p:spPr>
          <a:xfrm>
            <a:off x="6080760" y="1316736"/>
            <a:ext cx="2468880" cy="274320"/>
          </a:xfrm>
          <a:prstGeom prst="rect">
            <a:avLst/>
          </a:prstGeom>
          <a:noFill/>
          <a:ln/>
        </p:spPr>
        <p:txBody>
          <a:bodyPr wrap="square" lIns="0" tIns="0" rIns="0" bIns="0" rtlCol="0" anchor="ctr"/>
          <a:lstStyle/>
          <a:p>
            <a:pPr indent="0" marL="0">
              <a:buNone/>
            </a:pPr>
            <a:r>
              <a:rPr lang="en-US" sz="1400" b="1" dirty="0">
                <a:solidFill>
                  <a:schemeClr val="tx1"/>
                </a:solidFill>
              </a:rPr>
              <a:t>Serial fallback</a:t>
            </a:r>
            <a:endParaRPr lang="en-US" sz="1400" dirty="0"/>
          </a:p>
        </p:txBody>
      </p:sp>
      <p:sp>
        <p:nvSpPr>
          <p:cNvPr id="12" name="Note 1 text"/>
          <p:cNvSpPr txBox="1"/>
          <p:nvPr/>
        </p:nvSpPr>
        <p:spPr>
          <a:xfrm>
            <a:off x="5715000" y="1645920"/>
            <a:ext cx="2834640" cy="502920"/>
          </a:xfrm>
          <a:prstGeom prst="rect">
            <a:avLst/>
          </a:prstGeom>
          <a:noFill/>
          <a:ln/>
        </p:spPr>
        <p:txBody>
          <a:bodyPr wrap="square" lIns="0" tIns="0" rIns="0" bIns="0" rtlCol="0" anchor="t"/>
          <a:lstStyle/>
          <a:p>
            <a:pPr indent="0" marL="0">
              <a:buNone/>
            </a:pPr>
            <a:r>
              <a:rPr lang="en-US" sz="1400" dirty="0">
                <a:solidFill>
                  <a:schemeClr val="tx1"/>
                </a:solidFill>
              </a:rPr>
              <a:t>n of 32,768 or fewer, or one thread: run body(0, n) directly.</a:t>
            </a:r>
            <a:endParaRPr lang="en-US" sz="1400" dirty="0"/>
          </a:p>
        </p:txBody>
      </p:sp>
      <p:sp>
        <p:nvSpPr>
          <p:cNvPr id="13" name="Note 2"/>
          <p:cNvSpPr/>
          <p:nvPr/>
        </p:nvSpPr>
        <p:spPr>
          <a:xfrm>
            <a:off x="5577840" y="2286000"/>
            <a:ext cx="3108960" cy="1005840"/>
          </a:xfrm>
          <a:prstGeom prst="roundRect">
            <a:avLst>
              <a:gd name="adj" fmla="val 7273"/>
            </a:avLst>
          </a:prstGeom>
          <a:solidFill>
            <a:schemeClr val="bg2"/>
          </a:solidFill>
          <a:ln/>
        </p:spPr>
      </p:sp>
      <p:sp>
        <p:nvSpPr>
          <p:cNvPr id="14" name="Note 2 badge"/>
          <p:cNvSpPr/>
          <p:nvPr/>
        </p:nvSpPr>
        <p:spPr>
          <a:xfrm>
            <a:off x="5715000" y="2414016"/>
            <a:ext cx="274320" cy="274320"/>
          </a:xfrm>
          <a:prstGeom prst="ellipse">
            <a:avLst/>
          </a:prstGeom>
          <a:solidFill>
            <a:schemeClr val="accent2"/>
          </a:solidFill>
          <a:ln/>
        </p:spPr>
      </p:sp>
      <p:sp>
        <p:nvSpPr>
          <p:cNvPr id="15" name="Note 2 badge label"/>
          <p:cNvSpPr txBox="1"/>
          <p:nvPr/>
        </p:nvSpPr>
        <p:spPr>
          <a:xfrm>
            <a:off x="5715000" y="2414016"/>
            <a:ext cx="274320" cy="274320"/>
          </a:xfrm>
          <a:prstGeom prst="rect">
            <a:avLst/>
          </a:prstGeom>
          <a:noFill/>
          <a:ln/>
        </p:spPr>
        <p:txBody>
          <a:bodyPr wrap="square" lIns="0" tIns="0" rIns="0" bIns="0" rtlCol="0" anchor="ctr"/>
          <a:lstStyle/>
          <a:p>
            <a:pPr algn="ctr" indent="0" marL="0">
              <a:buNone/>
            </a:pPr>
            <a:r>
              <a:rPr lang="en-US" sz="1400" b="1" dirty="0">
                <a:solidFill>
                  <a:schemeClr val="tx1"/>
                </a:solidFill>
              </a:rPr>
              <a:t>2</a:t>
            </a:r>
            <a:endParaRPr lang="en-US" sz="1400" dirty="0"/>
          </a:p>
        </p:txBody>
      </p:sp>
      <p:sp>
        <p:nvSpPr>
          <p:cNvPr id="16" name="Note 2 title"/>
          <p:cNvSpPr txBox="1"/>
          <p:nvPr/>
        </p:nvSpPr>
        <p:spPr>
          <a:xfrm>
            <a:off x="6080760" y="2414016"/>
            <a:ext cx="2468880" cy="274320"/>
          </a:xfrm>
          <a:prstGeom prst="rect">
            <a:avLst/>
          </a:prstGeom>
          <a:noFill/>
          <a:ln/>
        </p:spPr>
        <p:txBody>
          <a:bodyPr wrap="square" lIns="0" tIns="0" rIns="0" bIns="0" rtlCol="0" anchor="ctr"/>
          <a:lstStyle/>
          <a:p>
            <a:pPr indent="0" marL="0">
              <a:buNone/>
            </a:pPr>
            <a:r>
              <a:rPr lang="en-US" sz="1400" b="1" dirty="0">
                <a:solidFill>
                  <a:schemeClr val="tx1"/>
                </a:solidFill>
              </a:rPr>
              <a:t>One region</a:t>
            </a:r>
            <a:endParaRPr lang="en-US" sz="1400" dirty="0"/>
          </a:p>
        </p:txBody>
      </p:sp>
      <p:sp>
        <p:nvSpPr>
          <p:cNvPr id="17" name="Note 2 text"/>
          <p:cNvSpPr txBox="1"/>
          <p:nvPr/>
        </p:nvSpPr>
        <p:spPr>
          <a:xfrm>
            <a:off x="5715000" y="2743200"/>
            <a:ext cx="2834640" cy="502920"/>
          </a:xfrm>
          <a:prstGeom prst="rect">
            <a:avLst/>
          </a:prstGeom>
          <a:noFill/>
          <a:ln/>
        </p:spPr>
        <p:txBody>
          <a:bodyPr wrap="square" lIns="0" tIns="0" rIns="0" bIns="0" rtlCol="0" anchor="t"/>
          <a:lstStyle/>
          <a:p>
            <a:pPr indent="0" marL="0">
              <a:buNone/>
            </a:pPr>
            <a:r>
              <a:rPr lang="en-US" sz="1400" dirty="0">
                <a:solidFill>
                  <a:schemeClr val="tx1"/>
                </a:solidFill>
              </a:rPr>
              <a:t>Every thread computes its own range. No locks needed.</a:t>
            </a:r>
            <a:endParaRPr lang="en-US" sz="1400" dirty="0"/>
          </a:p>
        </p:txBody>
      </p:sp>
      <p:sp>
        <p:nvSpPr>
          <p:cNvPr id="18" name="Note 3"/>
          <p:cNvSpPr/>
          <p:nvPr/>
        </p:nvSpPr>
        <p:spPr>
          <a:xfrm>
            <a:off x="5577840" y="3383280"/>
            <a:ext cx="3108960" cy="1005840"/>
          </a:xfrm>
          <a:prstGeom prst="roundRect">
            <a:avLst>
              <a:gd name="adj" fmla="val 7273"/>
            </a:avLst>
          </a:prstGeom>
          <a:solidFill>
            <a:schemeClr val="bg2"/>
          </a:solidFill>
          <a:ln/>
        </p:spPr>
      </p:sp>
      <p:sp>
        <p:nvSpPr>
          <p:cNvPr id="19" name="Note 3 badge"/>
          <p:cNvSpPr/>
          <p:nvPr/>
        </p:nvSpPr>
        <p:spPr>
          <a:xfrm>
            <a:off x="5715000" y="3511296"/>
            <a:ext cx="274320" cy="274320"/>
          </a:xfrm>
          <a:prstGeom prst="ellipse">
            <a:avLst/>
          </a:prstGeom>
          <a:solidFill>
            <a:schemeClr val="accent3"/>
          </a:solidFill>
          <a:ln/>
        </p:spPr>
      </p:sp>
      <p:sp>
        <p:nvSpPr>
          <p:cNvPr id="20" name="Note 3 badge label"/>
          <p:cNvSpPr txBox="1"/>
          <p:nvPr/>
        </p:nvSpPr>
        <p:spPr>
          <a:xfrm>
            <a:off x="5715000" y="3511296"/>
            <a:ext cx="274320" cy="274320"/>
          </a:xfrm>
          <a:prstGeom prst="rect">
            <a:avLst/>
          </a:prstGeom>
          <a:noFill/>
          <a:ln/>
        </p:spPr>
        <p:txBody>
          <a:bodyPr wrap="square" lIns="0" tIns="0" rIns="0" bIns="0" rtlCol="0" anchor="ctr"/>
          <a:lstStyle/>
          <a:p>
            <a:pPr algn="ctr" indent="0" marL="0">
              <a:buNone/>
            </a:pPr>
            <a:r>
              <a:rPr lang="en-US" sz="1400" b="1" dirty="0">
                <a:solidFill>
                  <a:schemeClr val="tx1"/>
                </a:solidFill>
              </a:rPr>
              <a:t>3</a:t>
            </a:r>
            <a:endParaRPr lang="en-US" sz="1400" dirty="0"/>
          </a:p>
        </p:txBody>
      </p:sp>
      <p:sp>
        <p:nvSpPr>
          <p:cNvPr id="21" name="Note 3 title"/>
          <p:cNvSpPr txBox="1"/>
          <p:nvPr/>
        </p:nvSpPr>
        <p:spPr>
          <a:xfrm>
            <a:off x="6080760" y="3511296"/>
            <a:ext cx="2468880" cy="274320"/>
          </a:xfrm>
          <a:prstGeom prst="rect">
            <a:avLst/>
          </a:prstGeom>
          <a:noFill/>
          <a:ln/>
        </p:spPr>
        <p:txBody>
          <a:bodyPr wrap="square" lIns="0" tIns="0" rIns="0" bIns="0" rtlCol="0" anchor="ctr"/>
          <a:lstStyle/>
          <a:p>
            <a:pPr indent="0" marL="0">
              <a:buNone/>
            </a:pPr>
            <a:r>
              <a:rPr lang="en-US" sz="1400" b="1" dirty="0">
                <a:solidFill>
                  <a:schemeClr val="tx1"/>
                </a:solidFill>
              </a:rPr>
              <a:t>No pragmas in kernels</a:t>
            </a:r>
            <a:endParaRPr lang="en-US" sz="1400" dirty="0"/>
          </a:p>
        </p:txBody>
      </p:sp>
      <p:sp>
        <p:nvSpPr>
          <p:cNvPr id="22" name="Note 3 text"/>
          <p:cNvSpPr txBox="1"/>
          <p:nvPr/>
        </p:nvSpPr>
        <p:spPr>
          <a:xfrm>
            <a:off x="5715000" y="3840480"/>
            <a:ext cx="2834640" cy="502920"/>
          </a:xfrm>
          <a:prstGeom prst="rect">
            <a:avLst/>
          </a:prstGeom>
          <a:noFill/>
          <a:ln/>
        </p:spPr>
        <p:txBody>
          <a:bodyPr wrap="square" lIns="0" tIns="0" rIns="0" bIns="0" rtlCol="0" anchor="t"/>
          <a:lstStyle/>
          <a:p>
            <a:pPr indent="0" marL="0">
              <a:buNone/>
            </a:pPr>
            <a:r>
              <a:rPr lang="en-US" sz="1400" dirty="0">
                <a:solidFill>
                  <a:schemeClr val="tx1"/>
                </a:solidFill>
              </a:rPr>
              <a:t>add, sub, mul and div differ only in op.</a:t>
            </a:r>
            <a:endParaRPr lang="en-US" sz="1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3400" b="1" dirty="0">
                <a:solidFill>
                  <a:schemeClr val="tx1"/>
                </a:solidFill>
              </a:rPr>
              <a:t>Reductions without races</a:t>
            </a:r>
            <a:endParaRPr lang="en-US" sz="3400" dirty="0"/>
          </a:p>
        </p:txBody>
      </p:sp>
      <p:sp>
        <p:nvSpPr>
          <p:cNvPr id="3" name="Text 1"/>
          <p:cNvSpPr txBox="1"/>
          <p:nvPr/>
        </p:nvSpPr>
        <p:spPr>
          <a:xfrm>
            <a:off x="457200" y="1143000"/>
            <a:ext cx="4114800" cy="274320"/>
          </a:xfrm>
          <a:prstGeom prst="rect">
            <a:avLst/>
          </a:prstGeom>
          <a:noFill/>
          <a:ln/>
        </p:spPr>
        <p:txBody>
          <a:bodyPr wrap="square" lIns="0" tIns="0" rIns="0" bIns="0" rtlCol="0" anchor="t"/>
          <a:lstStyle/>
          <a:p>
            <a:pPr indent="0" marL="0">
              <a:buNone/>
            </a:pPr>
            <a:r>
              <a:rPr lang="en-US" sz="1400" b="1" dirty="0">
                <a:solidFill>
                  <a:schemeClr val="tx1"/>
                </a:solidFill>
              </a:rPr>
              <a:t>Each thread sums its own block</a:t>
            </a:r>
            <a:endParaRPr lang="en-US" sz="1400" dirty="0"/>
          </a:p>
        </p:txBody>
      </p:sp>
      <p:sp>
        <p:nvSpPr>
          <p:cNvPr id="4" name="Seg T0"/>
          <p:cNvSpPr/>
          <p:nvPr/>
        </p:nvSpPr>
        <p:spPr>
          <a:xfrm>
            <a:off x="457200" y="1508760"/>
            <a:ext cx="1005840" cy="457200"/>
          </a:xfrm>
          <a:prstGeom prst="rect">
            <a:avLst/>
          </a:prstGeom>
          <a:solidFill>
            <a:schemeClr val="accent1"/>
          </a:solidFill>
          <a:ln/>
        </p:spPr>
      </p:sp>
      <p:sp>
        <p:nvSpPr>
          <p:cNvPr id="5" name="Seg T0 label"/>
          <p:cNvSpPr txBox="1"/>
          <p:nvPr/>
        </p:nvSpPr>
        <p:spPr>
          <a:xfrm>
            <a:off x="457200" y="1508760"/>
            <a:ext cx="1005840" cy="457200"/>
          </a:xfrm>
          <a:prstGeom prst="rect">
            <a:avLst/>
          </a:prstGeom>
          <a:noFill/>
          <a:ln/>
        </p:spPr>
        <p:txBody>
          <a:bodyPr wrap="square" lIns="0" tIns="0" rIns="0" bIns="0" rtlCol="0" anchor="ctr"/>
          <a:lstStyle/>
          <a:p>
            <a:pPr algn="ctr" indent="0" marL="0">
              <a:buNone/>
            </a:pPr>
            <a:r>
              <a:rPr lang="en-US" sz="1600" b="1" dirty="0">
                <a:solidFill>
                  <a:schemeClr val="tx1"/>
                </a:solidFill>
              </a:rPr>
              <a:t>T0</a:t>
            </a:r>
            <a:endParaRPr lang="en-US" sz="1600" dirty="0"/>
          </a:p>
        </p:txBody>
      </p:sp>
      <p:sp>
        <p:nvSpPr>
          <p:cNvPr id="6" name="Down 0"/>
          <p:cNvSpPr/>
          <p:nvPr/>
        </p:nvSpPr>
        <p:spPr>
          <a:xfrm>
            <a:off x="960120" y="1984248"/>
            <a:ext cx="0" cy="365760"/>
          </a:xfrm>
          <a:prstGeom prst="line">
            <a:avLst/>
          </a:prstGeom>
          <a:noFill/>
          <a:ln w="19050">
            <a:solidFill>
              <a:schemeClr val="tx2"/>
            </a:solidFill>
            <a:prstDash val="solid"/>
            <a:tailEnd type="triangle"/>
          </a:ln>
        </p:spPr>
      </p:sp>
      <p:sp>
        <p:nvSpPr>
          <p:cNvPr id="7" name="Partial 0"/>
          <p:cNvSpPr/>
          <p:nvPr/>
        </p:nvSpPr>
        <p:spPr>
          <a:xfrm>
            <a:off x="548640" y="2377440"/>
            <a:ext cx="822960" cy="457200"/>
          </a:xfrm>
          <a:prstGeom prst="roundRect">
            <a:avLst>
              <a:gd name="adj" fmla="val 16000"/>
            </a:avLst>
          </a:prstGeom>
          <a:solidFill>
            <a:schemeClr val="accent1"/>
          </a:solidFill>
          <a:ln/>
        </p:spPr>
      </p:sp>
      <p:sp>
        <p:nvSpPr>
          <p:cNvPr id="8" name="Partial 0 label"/>
          <p:cNvSpPr txBox="1"/>
          <p:nvPr/>
        </p:nvSpPr>
        <p:spPr>
          <a:xfrm>
            <a:off x="548640" y="2377440"/>
            <a:ext cx="822960" cy="457200"/>
          </a:xfrm>
          <a:prstGeom prst="rect">
            <a:avLst/>
          </a:prstGeom>
          <a:noFill/>
          <a:ln/>
        </p:spPr>
        <p:txBody>
          <a:bodyPr wrap="square" lIns="0" tIns="0" rIns="0" bIns="0" rtlCol="0" anchor="ctr"/>
          <a:lstStyle/>
          <a:p>
            <a:pPr algn="ctr" indent="0" marL="0">
              <a:buNone/>
            </a:pPr>
            <a:r>
              <a:rPr lang="en-US" sz="1600" b="1" dirty="0">
                <a:solidFill>
                  <a:schemeClr val="tx1"/>
                </a:solidFill>
              </a:rPr>
              <a:t>p0</a:t>
            </a:r>
            <a:endParaRPr lang="en-US" sz="1600" dirty="0"/>
          </a:p>
        </p:txBody>
      </p:sp>
      <p:sp>
        <p:nvSpPr>
          <p:cNvPr id="9" name="Bus drop 0"/>
          <p:cNvSpPr/>
          <p:nvPr/>
        </p:nvSpPr>
        <p:spPr>
          <a:xfrm>
            <a:off x="960120" y="2834640"/>
            <a:ext cx="0" cy="228600"/>
          </a:xfrm>
          <a:prstGeom prst="line">
            <a:avLst/>
          </a:prstGeom>
          <a:noFill/>
          <a:ln w="19050">
            <a:solidFill>
              <a:schemeClr val="tx2"/>
            </a:solidFill>
            <a:prstDash val="solid"/>
          </a:ln>
        </p:spPr>
      </p:sp>
      <p:sp>
        <p:nvSpPr>
          <p:cNvPr id="10" name="Seg T1"/>
          <p:cNvSpPr/>
          <p:nvPr/>
        </p:nvSpPr>
        <p:spPr>
          <a:xfrm>
            <a:off x="1463040" y="1508760"/>
            <a:ext cx="1005840" cy="457200"/>
          </a:xfrm>
          <a:prstGeom prst="rect">
            <a:avLst/>
          </a:prstGeom>
          <a:solidFill>
            <a:schemeClr val="accent2"/>
          </a:solidFill>
          <a:ln/>
        </p:spPr>
      </p:sp>
      <p:sp>
        <p:nvSpPr>
          <p:cNvPr id="11" name="Seg T1 label"/>
          <p:cNvSpPr txBox="1"/>
          <p:nvPr/>
        </p:nvSpPr>
        <p:spPr>
          <a:xfrm>
            <a:off x="1463040" y="1508760"/>
            <a:ext cx="1005840" cy="457200"/>
          </a:xfrm>
          <a:prstGeom prst="rect">
            <a:avLst/>
          </a:prstGeom>
          <a:noFill/>
          <a:ln/>
        </p:spPr>
        <p:txBody>
          <a:bodyPr wrap="square" lIns="0" tIns="0" rIns="0" bIns="0" rtlCol="0" anchor="ctr"/>
          <a:lstStyle/>
          <a:p>
            <a:pPr algn="ctr" indent="0" marL="0">
              <a:buNone/>
            </a:pPr>
            <a:r>
              <a:rPr lang="en-US" sz="1600" b="1" dirty="0">
                <a:solidFill>
                  <a:schemeClr val="tx1"/>
                </a:solidFill>
              </a:rPr>
              <a:t>T1</a:t>
            </a:r>
            <a:endParaRPr lang="en-US" sz="1600" dirty="0"/>
          </a:p>
        </p:txBody>
      </p:sp>
      <p:sp>
        <p:nvSpPr>
          <p:cNvPr id="12" name="Down 1"/>
          <p:cNvSpPr/>
          <p:nvPr/>
        </p:nvSpPr>
        <p:spPr>
          <a:xfrm>
            <a:off x="1965960" y="1984248"/>
            <a:ext cx="0" cy="365760"/>
          </a:xfrm>
          <a:prstGeom prst="line">
            <a:avLst/>
          </a:prstGeom>
          <a:noFill/>
          <a:ln w="19050">
            <a:solidFill>
              <a:schemeClr val="tx2"/>
            </a:solidFill>
            <a:prstDash val="solid"/>
            <a:tailEnd type="triangle"/>
          </a:ln>
        </p:spPr>
      </p:sp>
      <p:sp>
        <p:nvSpPr>
          <p:cNvPr id="13" name="Partial 1"/>
          <p:cNvSpPr/>
          <p:nvPr/>
        </p:nvSpPr>
        <p:spPr>
          <a:xfrm>
            <a:off x="1554480" y="2377440"/>
            <a:ext cx="822960" cy="457200"/>
          </a:xfrm>
          <a:prstGeom prst="roundRect">
            <a:avLst>
              <a:gd name="adj" fmla="val 16000"/>
            </a:avLst>
          </a:prstGeom>
          <a:solidFill>
            <a:schemeClr val="accent2"/>
          </a:solidFill>
          <a:ln/>
        </p:spPr>
      </p:sp>
      <p:sp>
        <p:nvSpPr>
          <p:cNvPr id="14" name="Partial 1 label"/>
          <p:cNvSpPr txBox="1"/>
          <p:nvPr/>
        </p:nvSpPr>
        <p:spPr>
          <a:xfrm>
            <a:off x="1554480" y="2377440"/>
            <a:ext cx="822960" cy="457200"/>
          </a:xfrm>
          <a:prstGeom prst="rect">
            <a:avLst/>
          </a:prstGeom>
          <a:noFill/>
          <a:ln/>
        </p:spPr>
        <p:txBody>
          <a:bodyPr wrap="square" lIns="0" tIns="0" rIns="0" bIns="0" rtlCol="0" anchor="ctr"/>
          <a:lstStyle/>
          <a:p>
            <a:pPr algn="ctr" indent="0" marL="0">
              <a:buNone/>
            </a:pPr>
            <a:r>
              <a:rPr lang="en-US" sz="1600" b="1" dirty="0">
                <a:solidFill>
                  <a:schemeClr val="tx1"/>
                </a:solidFill>
              </a:rPr>
              <a:t>p1</a:t>
            </a:r>
            <a:endParaRPr lang="en-US" sz="1600" dirty="0"/>
          </a:p>
        </p:txBody>
      </p:sp>
      <p:sp>
        <p:nvSpPr>
          <p:cNvPr id="15" name="Bus drop 1"/>
          <p:cNvSpPr/>
          <p:nvPr/>
        </p:nvSpPr>
        <p:spPr>
          <a:xfrm>
            <a:off x="1965960" y="2834640"/>
            <a:ext cx="0" cy="228600"/>
          </a:xfrm>
          <a:prstGeom prst="line">
            <a:avLst/>
          </a:prstGeom>
          <a:noFill/>
          <a:ln w="19050">
            <a:solidFill>
              <a:schemeClr val="tx2"/>
            </a:solidFill>
            <a:prstDash val="solid"/>
          </a:ln>
        </p:spPr>
      </p:sp>
      <p:sp>
        <p:nvSpPr>
          <p:cNvPr id="16" name="Seg T2"/>
          <p:cNvSpPr/>
          <p:nvPr/>
        </p:nvSpPr>
        <p:spPr>
          <a:xfrm>
            <a:off x="2468880" y="1508760"/>
            <a:ext cx="1005840" cy="457200"/>
          </a:xfrm>
          <a:prstGeom prst="rect">
            <a:avLst/>
          </a:prstGeom>
          <a:solidFill>
            <a:schemeClr val="accent3"/>
          </a:solidFill>
          <a:ln/>
        </p:spPr>
      </p:sp>
      <p:sp>
        <p:nvSpPr>
          <p:cNvPr id="17" name="Seg T2 label"/>
          <p:cNvSpPr txBox="1"/>
          <p:nvPr/>
        </p:nvSpPr>
        <p:spPr>
          <a:xfrm>
            <a:off x="2468880" y="1508760"/>
            <a:ext cx="1005840" cy="457200"/>
          </a:xfrm>
          <a:prstGeom prst="rect">
            <a:avLst/>
          </a:prstGeom>
          <a:noFill/>
          <a:ln/>
        </p:spPr>
        <p:txBody>
          <a:bodyPr wrap="square" lIns="0" tIns="0" rIns="0" bIns="0" rtlCol="0" anchor="ctr"/>
          <a:lstStyle/>
          <a:p>
            <a:pPr algn="ctr" indent="0" marL="0">
              <a:buNone/>
            </a:pPr>
            <a:r>
              <a:rPr lang="en-US" sz="1600" b="1" dirty="0">
                <a:solidFill>
                  <a:schemeClr val="tx1"/>
                </a:solidFill>
              </a:rPr>
              <a:t>T2</a:t>
            </a:r>
            <a:endParaRPr lang="en-US" sz="1600" dirty="0"/>
          </a:p>
        </p:txBody>
      </p:sp>
      <p:sp>
        <p:nvSpPr>
          <p:cNvPr id="18" name="Down 2"/>
          <p:cNvSpPr/>
          <p:nvPr/>
        </p:nvSpPr>
        <p:spPr>
          <a:xfrm>
            <a:off x="2971800" y="1984248"/>
            <a:ext cx="0" cy="365760"/>
          </a:xfrm>
          <a:prstGeom prst="line">
            <a:avLst/>
          </a:prstGeom>
          <a:noFill/>
          <a:ln w="19050">
            <a:solidFill>
              <a:schemeClr val="tx2"/>
            </a:solidFill>
            <a:prstDash val="solid"/>
            <a:tailEnd type="triangle"/>
          </a:ln>
        </p:spPr>
      </p:sp>
      <p:sp>
        <p:nvSpPr>
          <p:cNvPr id="19" name="Partial 2"/>
          <p:cNvSpPr/>
          <p:nvPr/>
        </p:nvSpPr>
        <p:spPr>
          <a:xfrm>
            <a:off x="2560320" y="2377440"/>
            <a:ext cx="822960" cy="457200"/>
          </a:xfrm>
          <a:prstGeom prst="roundRect">
            <a:avLst>
              <a:gd name="adj" fmla="val 16000"/>
            </a:avLst>
          </a:prstGeom>
          <a:solidFill>
            <a:schemeClr val="accent3"/>
          </a:solidFill>
          <a:ln/>
        </p:spPr>
      </p:sp>
      <p:sp>
        <p:nvSpPr>
          <p:cNvPr id="20" name="Partial 2 label"/>
          <p:cNvSpPr txBox="1"/>
          <p:nvPr/>
        </p:nvSpPr>
        <p:spPr>
          <a:xfrm>
            <a:off x="2560320" y="2377440"/>
            <a:ext cx="822960" cy="457200"/>
          </a:xfrm>
          <a:prstGeom prst="rect">
            <a:avLst/>
          </a:prstGeom>
          <a:noFill/>
          <a:ln/>
        </p:spPr>
        <p:txBody>
          <a:bodyPr wrap="square" lIns="0" tIns="0" rIns="0" bIns="0" rtlCol="0" anchor="ctr"/>
          <a:lstStyle/>
          <a:p>
            <a:pPr algn="ctr" indent="0" marL="0">
              <a:buNone/>
            </a:pPr>
            <a:r>
              <a:rPr lang="en-US" sz="1600" b="1" dirty="0">
                <a:solidFill>
                  <a:schemeClr val="tx1"/>
                </a:solidFill>
              </a:rPr>
              <a:t>p2</a:t>
            </a:r>
            <a:endParaRPr lang="en-US" sz="1600" dirty="0"/>
          </a:p>
        </p:txBody>
      </p:sp>
      <p:sp>
        <p:nvSpPr>
          <p:cNvPr id="21" name="Bus drop 2"/>
          <p:cNvSpPr/>
          <p:nvPr/>
        </p:nvSpPr>
        <p:spPr>
          <a:xfrm>
            <a:off x="2971800" y="2834640"/>
            <a:ext cx="0" cy="228600"/>
          </a:xfrm>
          <a:prstGeom prst="line">
            <a:avLst/>
          </a:prstGeom>
          <a:noFill/>
          <a:ln w="19050">
            <a:solidFill>
              <a:schemeClr val="tx2"/>
            </a:solidFill>
            <a:prstDash val="solid"/>
          </a:ln>
        </p:spPr>
      </p:sp>
      <p:sp>
        <p:nvSpPr>
          <p:cNvPr id="22" name="Seg T3"/>
          <p:cNvSpPr/>
          <p:nvPr/>
        </p:nvSpPr>
        <p:spPr>
          <a:xfrm>
            <a:off x="3474720" y="1508760"/>
            <a:ext cx="1005840" cy="457200"/>
          </a:xfrm>
          <a:prstGeom prst="rect">
            <a:avLst/>
          </a:prstGeom>
          <a:solidFill>
            <a:schemeClr val="accent4"/>
          </a:solidFill>
          <a:ln/>
        </p:spPr>
      </p:sp>
      <p:sp>
        <p:nvSpPr>
          <p:cNvPr id="23" name="Seg T3 label"/>
          <p:cNvSpPr txBox="1"/>
          <p:nvPr/>
        </p:nvSpPr>
        <p:spPr>
          <a:xfrm>
            <a:off x="3474720" y="1508760"/>
            <a:ext cx="1005840" cy="457200"/>
          </a:xfrm>
          <a:prstGeom prst="rect">
            <a:avLst/>
          </a:prstGeom>
          <a:noFill/>
          <a:ln/>
        </p:spPr>
        <p:txBody>
          <a:bodyPr wrap="square" lIns="0" tIns="0" rIns="0" bIns="0" rtlCol="0" anchor="ctr"/>
          <a:lstStyle/>
          <a:p>
            <a:pPr algn="ctr" indent="0" marL="0">
              <a:buNone/>
            </a:pPr>
            <a:r>
              <a:rPr lang="en-US" sz="1600" b="1" dirty="0">
                <a:solidFill>
                  <a:schemeClr val="tx1"/>
                </a:solidFill>
              </a:rPr>
              <a:t>T3</a:t>
            </a:r>
            <a:endParaRPr lang="en-US" sz="1600" dirty="0"/>
          </a:p>
        </p:txBody>
      </p:sp>
      <p:sp>
        <p:nvSpPr>
          <p:cNvPr id="24" name="Down 3"/>
          <p:cNvSpPr/>
          <p:nvPr/>
        </p:nvSpPr>
        <p:spPr>
          <a:xfrm>
            <a:off x="3977640" y="1984248"/>
            <a:ext cx="0" cy="365760"/>
          </a:xfrm>
          <a:prstGeom prst="line">
            <a:avLst/>
          </a:prstGeom>
          <a:noFill/>
          <a:ln w="19050">
            <a:solidFill>
              <a:schemeClr val="tx2"/>
            </a:solidFill>
            <a:prstDash val="solid"/>
            <a:tailEnd type="triangle"/>
          </a:ln>
        </p:spPr>
      </p:sp>
      <p:sp>
        <p:nvSpPr>
          <p:cNvPr id="25" name="Partial 3"/>
          <p:cNvSpPr/>
          <p:nvPr/>
        </p:nvSpPr>
        <p:spPr>
          <a:xfrm>
            <a:off x="3566160" y="2377440"/>
            <a:ext cx="822960" cy="457200"/>
          </a:xfrm>
          <a:prstGeom prst="roundRect">
            <a:avLst>
              <a:gd name="adj" fmla="val 16000"/>
            </a:avLst>
          </a:prstGeom>
          <a:solidFill>
            <a:schemeClr val="accent4"/>
          </a:solidFill>
          <a:ln/>
        </p:spPr>
      </p:sp>
      <p:sp>
        <p:nvSpPr>
          <p:cNvPr id="26" name="Partial 3 label"/>
          <p:cNvSpPr txBox="1"/>
          <p:nvPr/>
        </p:nvSpPr>
        <p:spPr>
          <a:xfrm>
            <a:off x="3566160" y="2377440"/>
            <a:ext cx="822960" cy="457200"/>
          </a:xfrm>
          <a:prstGeom prst="rect">
            <a:avLst/>
          </a:prstGeom>
          <a:noFill/>
          <a:ln/>
        </p:spPr>
        <p:txBody>
          <a:bodyPr wrap="square" lIns="0" tIns="0" rIns="0" bIns="0" rtlCol="0" anchor="ctr"/>
          <a:lstStyle/>
          <a:p>
            <a:pPr algn="ctr" indent="0" marL="0">
              <a:buNone/>
            </a:pPr>
            <a:r>
              <a:rPr lang="en-US" sz="1600" b="1" dirty="0">
                <a:solidFill>
                  <a:schemeClr val="tx1"/>
                </a:solidFill>
              </a:rPr>
              <a:t>p3</a:t>
            </a:r>
            <a:endParaRPr lang="en-US" sz="1600" dirty="0"/>
          </a:p>
        </p:txBody>
      </p:sp>
      <p:sp>
        <p:nvSpPr>
          <p:cNvPr id="27" name="Bus drop 3"/>
          <p:cNvSpPr/>
          <p:nvPr/>
        </p:nvSpPr>
        <p:spPr>
          <a:xfrm>
            <a:off x="3977640" y="2834640"/>
            <a:ext cx="0" cy="228600"/>
          </a:xfrm>
          <a:prstGeom prst="line">
            <a:avLst/>
          </a:prstGeom>
          <a:noFill/>
          <a:ln w="19050">
            <a:solidFill>
              <a:schemeClr val="tx2"/>
            </a:solidFill>
            <a:prstDash val="solid"/>
          </a:ln>
        </p:spPr>
      </p:sp>
      <p:sp>
        <p:nvSpPr>
          <p:cNvPr id="28" name="Bus"/>
          <p:cNvSpPr/>
          <p:nvPr/>
        </p:nvSpPr>
        <p:spPr>
          <a:xfrm>
            <a:off x="960120" y="3063240"/>
            <a:ext cx="3017520" cy="0"/>
          </a:xfrm>
          <a:prstGeom prst="line">
            <a:avLst/>
          </a:prstGeom>
          <a:noFill/>
          <a:ln w="19050">
            <a:solidFill>
              <a:schemeClr val="tx2"/>
            </a:solidFill>
            <a:prstDash val="solid"/>
          </a:ln>
        </p:spPr>
      </p:sp>
      <p:sp>
        <p:nvSpPr>
          <p:cNvPr id="29" name="Bus to total"/>
          <p:cNvSpPr/>
          <p:nvPr/>
        </p:nvSpPr>
        <p:spPr>
          <a:xfrm>
            <a:off x="2468880" y="3063240"/>
            <a:ext cx="0" cy="320040"/>
          </a:xfrm>
          <a:prstGeom prst="line">
            <a:avLst/>
          </a:prstGeom>
          <a:noFill/>
          <a:ln w="19050">
            <a:solidFill>
              <a:schemeClr val="tx2"/>
            </a:solidFill>
            <a:prstDash val="solid"/>
            <a:tailEnd type="triangle"/>
          </a:ln>
        </p:spPr>
      </p:sp>
      <p:sp>
        <p:nvSpPr>
          <p:cNvPr id="30" name="Total box"/>
          <p:cNvSpPr/>
          <p:nvPr/>
        </p:nvSpPr>
        <p:spPr>
          <a:xfrm>
            <a:off x="1371600" y="3401568"/>
            <a:ext cx="2194560" cy="502920"/>
          </a:xfrm>
          <a:prstGeom prst="roundRect">
            <a:avLst>
              <a:gd name="adj" fmla="val 14545"/>
            </a:avLst>
          </a:prstGeom>
          <a:solidFill>
            <a:schemeClr val="tx1"/>
          </a:solidFill>
          <a:ln/>
        </p:spPr>
      </p:sp>
      <p:sp>
        <p:nvSpPr>
          <p:cNvPr id="31" name="Total label"/>
          <p:cNvSpPr txBox="1"/>
          <p:nvPr/>
        </p:nvSpPr>
        <p:spPr>
          <a:xfrm>
            <a:off x="1371600" y="3401568"/>
            <a:ext cx="2194560" cy="502920"/>
          </a:xfrm>
          <a:prstGeom prst="rect">
            <a:avLst/>
          </a:prstGeom>
          <a:noFill/>
          <a:ln/>
        </p:spPr>
        <p:txBody>
          <a:bodyPr wrap="square" lIns="0" tIns="0" rIns="0" bIns="0" rtlCol="0" anchor="ctr"/>
          <a:lstStyle/>
          <a:p>
            <a:pPr algn="ctr" indent="0" marL="0">
              <a:buNone/>
            </a:pPr>
            <a:r>
              <a:rPr lang="en-US" sz="1400" b="1" dirty="0">
                <a:solidFill>
                  <a:schemeClr val="bg1"/>
                </a:solidFill>
              </a:rPr>
              <a:t>p0 + p1 + p2 + p3</a:t>
            </a:r>
            <a:endParaRPr lang="en-US" sz="1400" dirty="0"/>
          </a:p>
        </p:txBody>
      </p:sp>
      <p:sp>
        <p:nvSpPr>
          <p:cNvPr id="32" name="Reduction note"/>
          <p:cNvSpPr txBox="1"/>
          <p:nvPr/>
        </p:nvSpPr>
        <p:spPr>
          <a:xfrm>
            <a:off x="457200" y="4023360"/>
            <a:ext cx="4023360" cy="548640"/>
          </a:xfrm>
          <a:prstGeom prst="rect">
            <a:avLst/>
          </a:prstGeom>
          <a:noFill/>
          <a:ln/>
        </p:spPr>
        <p:txBody>
          <a:bodyPr wrap="square" lIns="0" tIns="0" rIns="0" bIns="0" rtlCol="0" anchor="t"/>
          <a:lstStyle/>
          <a:p>
            <a:pPr indent="0" marL="0">
              <a:buNone/>
            </a:pPr>
            <a:r>
              <a:rPr lang="en-US" sz="1400" dirty="0">
                <a:solidFill>
                  <a:schemeClr val="tx1"/>
                </a:solidFill>
              </a:rPr>
              <a:t>Partials are added in thread order, so a given thread count always gives the same answer.</a:t>
            </a:r>
            <a:endParaRPr lang="en-US" sz="1400" dirty="0"/>
          </a:p>
        </p:txBody>
      </p:sp>
      <p:sp>
        <p:nvSpPr>
          <p:cNvPr id="33" name="parallel_sum code panel"/>
          <p:cNvSpPr/>
          <p:nvPr/>
        </p:nvSpPr>
        <p:spPr>
          <a:xfrm>
            <a:off x="4754880" y="1188720"/>
            <a:ext cx="3931920" cy="1737360"/>
          </a:xfrm>
          <a:prstGeom prst="roundRect">
            <a:avLst>
              <a:gd name="adj" fmla="val 4211"/>
            </a:avLst>
          </a:prstGeom>
          <a:solidFill>
            <a:schemeClr val="tx2"/>
          </a:solidFill>
          <a:ln/>
        </p:spPr>
      </p:sp>
      <p:sp>
        <p:nvSpPr>
          <p:cNvPr id="34" name="parallel_sum code"/>
          <p:cNvSpPr txBox="1"/>
          <p:nvPr/>
        </p:nvSpPr>
        <p:spPr>
          <a:xfrm>
            <a:off x="4919472" y="1316736"/>
            <a:ext cx="3602736" cy="1481328"/>
          </a:xfrm>
          <a:prstGeom prst="rect">
            <a:avLst/>
          </a:prstGeom>
          <a:noFill/>
          <a:ln/>
        </p:spPr>
        <p:txBody>
          <a:bodyPr wrap="square" lIns="0" tIns="0" rIns="0" bIns="0" rtlCol="0" anchor="t"/>
          <a:lstStyle/>
          <a:p>
            <a:pPr indent="0" marL="0">
              <a:buNone/>
            </a:pPr>
            <a:r>
              <a:rPr lang="en-US" sz="1100" i="1" dirty="0">
                <a:solidFill>
                  <a:schemeClr val="accent6"/>
                </a:solidFill>
                <a:latin typeface="Courier New" pitchFamily="34" charset="0"/>
                <a:ea typeface="Courier New" pitchFamily="34" charset="-122"/>
                <a:cs typeface="Courier New" pitchFamily="34" charset="-120"/>
              </a:rPr>
              <a:t>// parallel_sum, simplified</a:t>
            </a:r>
            <a:endParaRPr lang="en-US" sz="1100" dirty="0"/>
          </a:p>
          <a:p>
            <a:pPr indent="0" marL="0">
              <a:buNone/>
            </a:pPr>
            <a:r>
              <a:rPr lang="en-US" sz="1100" dirty="0">
                <a:solidFill>
                  <a:schemeClr val="bg2"/>
                </a:solidFill>
                <a:latin typeface="Courier New" pitchFamily="34" charset="0"/>
                <a:ea typeface="Courier New" pitchFamily="34" charset="-122"/>
                <a:cs typeface="Courier New" pitchFamily="34" charset="-120"/>
              </a:rPr>
              <a:t>vector&lt;</a:t>
            </a:r>
            <a:pPr indent="0" marL="0">
              <a:buNone/>
            </a:pPr>
            <a:r>
              <a:rPr lang="en-US" sz="1100" dirty="0">
                <a:solidFill>
                  <a:schemeClr val="accent5"/>
                </a:solidFill>
                <a:latin typeface="Courier New" pitchFamily="34" charset="0"/>
                <a:ea typeface="Courier New" pitchFamily="34" charset="-122"/>
                <a:cs typeface="Courier New" pitchFamily="34" charset="-120"/>
              </a:rPr>
              <a:t>double</a:t>
            </a:r>
            <a:pPr indent="0" marL="0">
              <a:buNone/>
            </a:pPr>
            <a:r>
              <a:rPr lang="en-US" sz="1100" dirty="0">
                <a:solidFill>
                  <a:schemeClr val="bg2"/>
                </a:solidFill>
                <a:latin typeface="Courier New" pitchFamily="34" charset="0"/>
                <a:ea typeface="Courier New" pitchFamily="34" charset="-122"/>
                <a:cs typeface="Courier New" pitchFamily="34" charset="-120"/>
              </a:rPr>
              <a:t>&gt; partial(nthreads);</a:t>
            </a:r>
            <a:endParaRPr lang="en-US" sz="1100" dirty="0"/>
          </a:p>
          <a:p>
            <a:pPr indent="0" marL="0">
              <a:buNone/>
            </a:pPr>
            <a:r>
              <a:rPr lang="en-US" sz="1100" dirty="0">
                <a:solidFill>
                  <a:schemeClr val="accent4"/>
                </a:solidFill>
                <a:latin typeface="Courier New" pitchFamily="34" charset="0"/>
                <a:ea typeface="Courier New" pitchFamily="34" charset="-122"/>
                <a:cs typeface="Courier New" pitchFamily="34" charset="-120"/>
              </a:rPr>
              <a:t>#pragma omp parallel</a:t>
            </a:r>
            <a:endParaRPr lang="en-US" sz="1100" dirty="0"/>
          </a:p>
          <a:p>
            <a:pPr indent="0" marL="0">
              <a:buNone/>
            </a:pPr>
            <a:r>
              <a:rPr lang="en-US" sz="1100" dirty="0">
                <a:solidFill>
                  <a:schemeClr val="bg2"/>
                </a:solidFill>
                <a:latin typeface="Courier New" pitchFamily="34" charset="0"/>
                <a:ea typeface="Courier New" pitchFamily="34" charset="-122"/>
                <a:cs typeface="Courier New" pitchFamily="34" charset="-120"/>
              </a:rPr>
              <a:t>{</a:t>
            </a:r>
            <a:endParaRPr lang="en-US" sz="1100" dirty="0"/>
          </a:p>
          <a:p>
            <a:pPr indent="0" marL="0">
              <a:buNone/>
            </a:pPr>
            <a:r>
              <a:rPr lang="en-US" sz="1100" dirty="0">
                <a:solidFill>
                  <a:schemeClr val="bg2"/>
                </a:solidFill>
                <a:latin typeface="Courier New" pitchFamily="34" charset="0"/>
                <a:ea typeface="Courier New" pitchFamily="34" charset="-122"/>
                <a:cs typeface="Courier New" pitchFamily="34" charset="-120"/>
              </a:rPr>
              <a:t>  block_range(n, nthreads, id, b, e);</a:t>
            </a:r>
            <a:endParaRPr lang="en-US" sz="1100" dirty="0"/>
          </a:p>
          <a:p>
            <a:pPr indent="0" marL="0">
              <a:buNone/>
            </a:pPr>
            <a:r>
              <a:rPr lang="en-US" sz="1100" dirty="0">
                <a:solidFill>
                  <a:schemeClr val="bg2"/>
                </a:solidFill>
                <a:latin typeface="Courier New" pitchFamily="34" charset="0"/>
                <a:ea typeface="Courier New" pitchFamily="34" charset="-122"/>
                <a:cs typeface="Courier New" pitchFamily="34" charset="-120"/>
              </a:rPr>
              <a:t>  </a:t>
            </a:r>
            <a:pPr indent="0" marL="0">
              <a:buNone/>
            </a:pPr>
            <a:r>
              <a:rPr lang="en-US" sz="1100" dirty="0">
                <a:solidFill>
                  <a:schemeClr val="accent5"/>
                </a:solidFill>
                <a:latin typeface="Courier New" pitchFamily="34" charset="0"/>
                <a:ea typeface="Courier New" pitchFamily="34" charset="-122"/>
                <a:cs typeface="Courier New" pitchFamily="34" charset="-120"/>
              </a:rPr>
              <a:t>if</a:t>
            </a:r>
            <a:pPr indent="0" marL="0">
              <a:buNone/>
            </a:pPr>
            <a:r>
              <a:rPr lang="en-US" sz="1100" dirty="0">
                <a:solidFill>
                  <a:schemeClr val="bg2"/>
                </a:solidFill>
                <a:latin typeface="Courier New" pitchFamily="34" charset="0"/>
                <a:ea typeface="Courier New" pitchFamily="34" charset="-122"/>
                <a:cs typeface="Courier New" pitchFamily="34" charset="-120"/>
              </a:rPr>
              <a:t> (b &lt; e) partial[id] = body(b, e);</a:t>
            </a:r>
            <a:endParaRPr lang="en-US" sz="1100" dirty="0"/>
          </a:p>
          <a:p>
            <a:pPr indent="0" marL="0">
              <a:buNone/>
            </a:pPr>
            <a:r>
              <a:rPr lang="en-US" sz="1100" dirty="0">
                <a:solidFill>
                  <a:schemeClr val="bg2"/>
                </a:solidFill>
                <a:latin typeface="Courier New" pitchFamily="34" charset="0"/>
                <a:ea typeface="Courier New" pitchFamily="34" charset="-122"/>
                <a:cs typeface="Courier New" pitchFamily="34" charset="-120"/>
              </a:rPr>
              <a:t>}</a:t>
            </a:r>
            <a:endParaRPr lang="en-US" sz="1100" dirty="0"/>
          </a:p>
          <a:p>
            <a:pPr indent="0" marL="0">
              <a:buNone/>
            </a:pPr>
            <a:r>
              <a:rPr lang="en-US" sz="1100" dirty="0">
                <a:solidFill>
                  <a:schemeClr val="accent5"/>
                </a:solidFill>
                <a:latin typeface="Courier New" pitchFamily="34" charset="0"/>
                <a:ea typeface="Courier New" pitchFamily="34" charset="-122"/>
                <a:cs typeface="Courier New" pitchFamily="34" charset="-120"/>
              </a:rPr>
              <a:t>double</a:t>
            </a:r>
            <a:pPr indent="0" marL="0">
              <a:buNone/>
            </a:pPr>
            <a:r>
              <a:rPr lang="en-US" sz="1100" dirty="0">
                <a:solidFill>
                  <a:schemeClr val="bg2"/>
                </a:solidFill>
                <a:latin typeface="Courier New" pitchFamily="34" charset="0"/>
                <a:ea typeface="Courier New" pitchFamily="34" charset="-122"/>
                <a:cs typeface="Courier New" pitchFamily="34" charset="-120"/>
              </a:rPr>
              <a:t> total = </a:t>
            </a:r>
            <a:pPr indent="0" marL="0">
              <a:buNone/>
            </a:pPr>
            <a:r>
              <a:rPr lang="en-US" sz="1100" dirty="0">
                <a:solidFill>
                  <a:schemeClr val="accent2"/>
                </a:solidFill>
                <a:latin typeface="Courier New" pitchFamily="34" charset="0"/>
                <a:ea typeface="Courier New" pitchFamily="34" charset="-122"/>
                <a:cs typeface="Courier New" pitchFamily="34" charset="-120"/>
              </a:rPr>
              <a:t>0</a:t>
            </a:r>
            <a:pPr indent="0" marL="0">
              <a:buNone/>
            </a:pPr>
            <a:r>
              <a:rPr lang="en-US" sz="1100" dirty="0">
                <a:solidFill>
                  <a:schemeClr val="bg2"/>
                </a:solidFill>
                <a:latin typeface="Courier New" pitchFamily="34" charset="0"/>
                <a:ea typeface="Courier New" pitchFamily="34" charset="-122"/>
                <a:cs typeface="Courier New" pitchFamily="34" charset="-120"/>
              </a:rPr>
              <a:t>;</a:t>
            </a:r>
            <a:endParaRPr lang="en-US" sz="1100" dirty="0"/>
          </a:p>
          <a:p>
            <a:pPr indent="0" marL="0">
              <a:buNone/>
            </a:pPr>
            <a:r>
              <a:rPr lang="en-US" sz="1100" dirty="0">
                <a:solidFill>
                  <a:schemeClr val="accent5"/>
                </a:solidFill>
                <a:latin typeface="Courier New" pitchFamily="34" charset="0"/>
                <a:ea typeface="Courier New" pitchFamily="34" charset="-122"/>
                <a:cs typeface="Courier New" pitchFamily="34" charset="-120"/>
              </a:rPr>
              <a:t>for</a:t>
            </a:r>
            <a:pPr indent="0" marL="0">
              <a:buNone/>
            </a:pPr>
            <a:r>
              <a:rPr lang="en-US" sz="1100" dirty="0">
                <a:solidFill>
                  <a:schemeClr val="bg2"/>
                </a:solidFill>
                <a:latin typeface="Courier New" pitchFamily="34" charset="0"/>
                <a:ea typeface="Courier New" pitchFamily="34" charset="-122"/>
                <a:cs typeface="Courier New" pitchFamily="34" charset="-120"/>
              </a:rPr>
              <a:t> (</a:t>
            </a:r>
            <a:pPr indent="0" marL="0">
              <a:buNone/>
            </a:pPr>
            <a:r>
              <a:rPr lang="en-US" sz="1100" dirty="0">
                <a:solidFill>
                  <a:schemeClr val="accent5"/>
                </a:solidFill>
                <a:latin typeface="Courier New" pitchFamily="34" charset="0"/>
                <a:ea typeface="Courier New" pitchFamily="34" charset="-122"/>
                <a:cs typeface="Courier New" pitchFamily="34" charset="-120"/>
              </a:rPr>
              <a:t>double</a:t>
            </a:r>
            <a:pPr indent="0" marL="0">
              <a:buNone/>
            </a:pPr>
            <a:r>
              <a:rPr lang="en-US" sz="1100" dirty="0">
                <a:solidFill>
                  <a:schemeClr val="bg2"/>
                </a:solidFill>
                <a:latin typeface="Courier New" pitchFamily="34" charset="0"/>
                <a:ea typeface="Courier New" pitchFamily="34" charset="-122"/>
                <a:cs typeface="Courier New" pitchFamily="34" charset="-120"/>
              </a:rPr>
              <a:t> p : partial) total += p;</a:t>
            </a:r>
            <a:endParaRPr lang="en-US" sz="1100" dirty="0"/>
          </a:p>
        </p:txBody>
      </p:sp>
      <p:sp>
        <p:nvSpPr>
          <p:cNvPr id="35" name="dot body code panel"/>
          <p:cNvSpPr/>
          <p:nvPr/>
        </p:nvSpPr>
        <p:spPr>
          <a:xfrm>
            <a:off x="4754880" y="3108960"/>
            <a:ext cx="3931920" cy="1417320"/>
          </a:xfrm>
          <a:prstGeom prst="roundRect">
            <a:avLst>
              <a:gd name="adj" fmla="val 5161"/>
            </a:avLst>
          </a:prstGeom>
          <a:solidFill>
            <a:schemeClr val="tx2"/>
          </a:solidFill>
          <a:ln/>
        </p:spPr>
      </p:sp>
      <p:sp>
        <p:nvSpPr>
          <p:cNvPr id="36" name="dot body code"/>
          <p:cNvSpPr txBox="1"/>
          <p:nvPr/>
        </p:nvSpPr>
        <p:spPr>
          <a:xfrm>
            <a:off x="4919472" y="3236976"/>
            <a:ext cx="3602736" cy="1161288"/>
          </a:xfrm>
          <a:prstGeom prst="rect">
            <a:avLst/>
          </a:prstGeom>
          <a:noFill/>
          <a:ln/>
        </p:spPr>
        <p:txBody>
          <a:bodyPr wrap="square" lIns="0" tIns="0" rIns="0" bIns="0" rtlCol="0" anchor="t"/>
          <a:lstStyle/>
          <a:p>
            <a:pPr indent="0" marL="0">
              <a:buNone/>
            </a:pPr>
            <a:r>
              <a:rPr lang="en-US" sz="1100" i="1" dirty="0">
                <a:solidFill>
                  <a:schemeClr val="accent6"/>
                </a:solidFill>
                <a:latin typeface="Courier New" pitchFamily="34" charset="0"/>
                <a:ea typeface="Courier New" pitchFamily="34" charset="-122"/>
                <a:cs typeface="Courier New" pitchFamily="34" charset="-120"/>
              </a:rPr>
              <a:t>// dot: what body(b, e) does</a:t>
            </a:r>
            <a:endParaRPr lang="en-US" sz="1100" dirty="0"/>
          </a:p>
          <a:p>
            <a:pPr indent="0" marL="0">
              <a:buNone/>
            </a:pPr>
            <a:r>
              <a:rPr lang="en-US" sz="1100" dirty="0">
                <a:solidFill>
                  <a:schemeClr val="accent5"/>
                </a:solidFill>
                <a:latin typeface="Courier New" pitchFamily="34" charset="0"/>
                <a:ea typeface="Courier New" pitchFamily="34" charset="-122"/>
                <a:cs typeface="Courier New" pitchFamily="34" charset="-120"/>
              </a:rPr>
              <a:t>double</a:t>
            </a:r>
            <a:pPr indent="0" marL="0">
              <a:buNone/>
            </a:pPr>
            <a:r>
              <a:rPr lang="en-US" sz="1100" dirty="0">
                <a:solidFill>
                  <a:schemeClr val="bg2"/>
                </a:solidFill>
                <a:latin typeface="Courier New" pitchFamily="34" charset="0"/>
                <a:ea typeface="Courier New" pitchFamily="34" charset="-122"/>
                <a:cs typeface="Courier New" pitchFamily="34" charset="-120"/>
              </a:rPr>
              <a:t> sum = </a:t>
            </a:r>
            <a:pPr indent="0" marL="0">
              <a:buNone/>
            </a:pPr>
            <a:r>
              <a:rPr lang="en-US" sz="1100" dirty="0">
                <a:solidFill>
                  <a:schemeClr val="accent2"/>
                </a:solidFill>
                <a:latin typeface="Courier New" pitchFamily="34" charset="0"/>
                <a:ea typeface="Courier New" pitchFamily="34" charset="-122"/>
                <a:cs typeface="Courier New" pitchFamily="34" charset="-120"/>
              </a:rPr>
              <a:t>0.0</a:t>
            </a:r>
            <a:pPr indent="0" marL="0">
              <a:buNone/>
            </a:pPr>
            <a:r>
              <a:rPr lang="en-US" sz="1100" dirty="0">
                <a:solidFill>
                  <a:schemeClr val="bg2"/>
                </a:solidFill>
                <a:latin typeface="Courier New" pitchFamily="34" charset="0"/>
                <a:ea typeface="Courier New" pitchFamily="34" charset="-122"/>
                <a:cs typeface="Courier New" pitchFamily="34" charset="-120"/>
              </a:rPr>
              <a:t>;</a:t>
            </a:r>
            <a:endParaRPr lang="en-US" sz="1100" dirty="0"/>
          </a:p>
          <a:p>
            <a:pPr indent="0" marL="0">
              <a:buNone/>
            </a:pPr>
            <a:r>
              <a:rPr lang="en-US" sz="1100" dirty="0">
                <a:solidFill>
                  <a:schemeClr val="accent5"/>
                </a:solidFill>
                <a:latin typeface="Courier New" pitchFamily="34" charset="0"/>
                <a:ea typeface="Courier New" pitchFamily="34" charset="-122"/>
                <a:cs typeface="Courier New" pitchFamily="34" charset="-120"/>
              </a:rPr>
              <a:t>for</a:t>
            </a:r>
            <a:pPr indent="0" marL="0">
              <a:buNone/>
            </a:pPr>
            <a:r>
              <a:rPr lang="en-US" sz="1100" dirty="0">
                <a:solidFill>
                  <a:schemeClr val="bg2"/>
                </a:solidFill>
                <a:latin typeface="Courier New" pitchFamily="34" charset="0"/>
                <a:ea typeface="Courier New" pitchFamily="34" charset="-122"/>
                <a:cs typeface="Courier New" pitchFamily="34" charset="-120"/>
              </a:rPr>
              <a:t> (</a:t>
            </a:r>
            <a:pPr indent="0" marL="0">
              <a:buNone/>
            </a:pPr>
            <a:r>
              <a:rPr lang="en-US" sz="1100" dirty="0">
                <a:solidFill>
                  <a:schemeClr val="accent5"/>
                </a:solidFill>
                <a:latin typeface="Courier New" pitchFamily="34" charset="0"/>
                <a:ea typeface="Courier New" pitchFamily="34" charset="-122"/>
                <a:cs typeface="Courier New" pitchFamily="34" charset="-120"/>
              </a:rPr>
              <a:t>auto</a:t>
            </a:r>
            <a:pPr indent="0" marL="0">
              <a:buNone/>
            </a:pPr>
            <a:r>
              <a:rPr lang="en-US" sz="1100" dirty="0">
                <a:solidFill>
                  <a:schemeClr val="bg2"/>
                </a:solidFill>
                <a:latin typeface="Courier New" pitchFamily="34" charset="0"/>
                <a:ea typeface="Courier New" pitchFamily="34" charset="-122"/>
                <a:cs typeface="Courier New" pitchFamily="34" charset="-120"/>
              </a:rPr>
              <a:t> i = b; i &lt; e; ++i)</a:t>
            </a:r>
            <a:endParaRPr lang="en-US" sz="1100" dirty="0"/>
          </a:p>
          <a:p>
            <a:pPr indent="0" marL="0">
              <a:buNone/>
            </a:pPr>
            <a:r>
              <a:rPr lang="en-US" sz="1100" dirty="0">
                <a:solidFill>
                  <a:schemeClr val="bg2"/>
                </a:solidFill>
                <a:latin typeface="Courier New" pitchFamily="34" charset="0"/>
                <a:ea typeface="Courier New" pitchFamily="34" charset="-122"/>
                <a:cs typeface="Courier New" pitchFamily="34" charset="-120"/>
              </a:rPr>
              <a:t>  sum += </a:t>
            </a:r>
            <a:pPr indent="0" marL="0">
              <a:buNone/>
            </a:pPr>
            <a:r>
              <a:rPr lang="en-US" sz="1100" dirty="0">
                <a:solidFill>
                  <a:schemeClr val="accent5"/>
                </a:solidFill>
                <a:latin typeface="Courier New" pitchFamily="34" charset="0"/>
                <a:ea typeface="Courier New" pitchFamily="34" charset="-122"/>
                <a:cs typeface="Courier New" pitchFamily="34" charset="-120"/>
              </a:rPr>
              <a:t>double</a:t>
            </a:r>
            <a:pPr indent="0" marL="0">
              <a:buNone/>
            </a:pPr>
            <a:r>
              <a:rPr lang="en-US" sz="1100" dirty="0">
                <a:solidFill>
                  <a:schemeClr val="bg2"/>
                </a:solidFill>
                <a:latin typeface="Courier New" pitchFamily="34" charset="0"/>
                <a:ea typeface="Courier New" pitchFamily="34" charset="-122"/>
                <a:cs typeface="Courier New" pitchFamily="34" charset="-120"/>
              </a:rPr>
              <a:t>(x[i]) * </a:t>
            </a:r>
            <a:pPr indent="0" marL="0">
              <a:buNone/>
            </a:pPr>
            <a:r>
              <a:rPr lang="en-US" sz="1100" dirty="0">
                <a:solidFill>
                  <a:schemeClr val="accent5"/>
                </a:solidFill>
                <a:latin typeface="Courier New" pitchFamily="34" charset="0"/>
                <a:ea typeface="Courier New" pitchFamily="34" charset="-122"/>
                <a:cs typeface="Courier New" pitchFamily="34" charset="-120"/>
              </a:rPr>
              <a:t>double</a:t>
            </a:r>
            <a:pPr indent="0" marL="0">
              <a:buNone/>
            </a:pPr>
            <a:r>
              <a:rPr lang="en-US" sz="1100" dirty="0">
                <a:solidFill>
                  <a:schemeClr val="bg2"/>
                </a:solidFill>
                <a:latin typeface="Courier New" pitchFamily="34" charset="0"/>
                <a:ea typeface="Courier New" pitchFamily="34" charset="-122"/>
                <a:cs typeface="Courier New" pitchFamily="34" charset="-120"/>
              </a:rPr>
              <a:t>(y[i]);</a:t>
            </a:r>
            <a:endParaRPr lang="en-US" sz="1100" dirty="0"/>
          </a:p>
          <a:p>
            <a:pPr indent="0" marL="0">
              <a:buNone/>
            </a:pPr>
            <a:r>
              <a:rPr lang="en-US" sz="1100" dirty="0">
                <a:solidFill>
                  <a:schemeClr val="accent5"/>
                </a:solidFill>
                <a:latin typeface="Courier New" pitchFamily="34" charset="0"/>
                <a:ea typeface="Courier New" pitchFamily="34" charset="-122"/>
                <a:cs typeface="Courier New" pitchFamily="34" charset="-120"/>
              </a:rPr>
              <a:t>return</a:t>
            </a:r>
            <a:pPr indent="0" marL="0">
              <a:buNone/>
            </a:pPr>
            <a:r>
              <a:rPr lang="en-US" sz="1100" dirty="0">
                <a:solidFill>
                  <a:schemeClr val="bg2"/>
                </a:solidFill>
                <a:latin typeface="Courier New" pitchFamily="34" charset="0"/>
                <a:ea typeface="Courier New" pitchFamily="34" charset="-122"/>
                <a:cs typeface="Courier New" pitchFamily="34" charset="-120"/>
              </a:rPr>
              <a:t> sum;   </a:t>
            </a:r>
            <a:pPr indent="0" marL="0">
              <a:buNone/>
            </a:pPr>
            <a:r>
              <a:rPr lang="en-US" sz="1100" i="1" dirty="0">
                <a:solidFill>
                  <a:schemeClr val="accent6"/>
                </a:solidFill>
                <a:latin typeface="Courier New" pitchFamily="34" charset="0"/>
                <a:ea typeface="Courier New" pitchFamily="34" charset="-122"/>
                <a:cs typeface="Courier New" pitchFamily="34" charset="-120"/>
              </a:rPr>
              <a:t>// double, not float</a:t>
            </a:r>
            <a:endParaRPr lang="en-US" sz="11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3400" b="1" dirty="0">
                <a:solidFill>
                  <a:schemeClr val="tx1"/>
                </a:solidFill>
              </a:rPr>
              <a:t>Matrix multiplication</a:t>
            </a:r>
            <a:endParaRPr lang="en-US" sz="3400" dirty="0"/>
          </a:p>
        </p:txBody>
      </p:sp>
      <p:sp>
        <p:nvSpPr>
          <p:cNvPr id="3" name="Sequential matmul heading"/>
          <p:cNvSpPr txBox="1"/>
          <p:nvPr/>
        </p:nvSpPr>
        <p:spPr>
          <a:xfrm>
            <a:off x="457200" y="1097280"/>
            <a:ext cx="4297680" cy="274320"/>
          </a:xfrm>
          <a:prstGeom prst="rect">
            <a:avLst/>
          </a:prstGeom>
          <a:noFill/>
          <a:ln/>
        </p:spPr>
        <p:txBody>
          <a:bodyPr wrap="square" lIns="0" tIns="0" rIns="0" bIns="0" rtlCol="0" anchor="t"/>
          <a:lstStyle/>
          <a:p>
            <a:pPr indent="0" marL="0">
              <a:buNone/>
            </a:pPr>
            <a:r>
              <a:rPr lang="en-US" sz="1400" b="1" dirty="0">
                <a:solidFill>
                  <a:schemeClr val="tx1"/>
                </a:solidFill>
              </a:rPr>
              <a:t>Sequential: the plain i-k-j loop</a:t>
            </a:r>
            <a:endParaRPr lang="en-US" sz="1400" dirty="0"/>
          </a:p>
        </p:txBody>
      </p:sp>
      <p:sp>
        <p:nvSpPr>
          <p:cNvPr id="4" name="sequential matmul code panel"/>
          <p:cNvSpPr/>
          <p:nvPr/>
        </p:nvSpPr>
        <p:spPr>
          <a:xfrm>
            <a:off x="457200" y="1417320"/>
            <a:ext cx="4297680" cy="1554480"/>
          </a:xfrm>
          <a:prstGeom prst="roundRect">
            <a:avLst>
              <a:gd name="adj" fmla="val 4706"/>
            </a:avLst>
          </a:prstGeom>
          <a:solidFill>
            <a:schemeClr val="tx2"/>
          </a:solidFill>
          <a:ln/>
        </p:spPr>
      </p:sp>
      <p:sp>
        <p:nvSpPr>
          <p:cNvPr id="5" name="sequential matmul code"/>
          <p:cNvSpPr txBox="1"/>
          <p:nvPr/>
        </p:nvSpPr>
        <p:spPr>
          <a:xfrm>
            <a:off x="621792" y="1545336"/>
            <a:ext cx="3968496" cy="1298448"/>
          </a:xfrm>
          <a:prstGeom prst="rect">
            <a:avLst/>
          </a:prstGeom>
          <a:noFill/>
          <a:ln/>
        </p:spPr>
        <p:txBody>
          <a:bodyPr wrap="square" lIns="0" tIns="0" rIns="0" bIns="0" rtlCol="0" anchor="t"/>
          <a:lstStyle/>
          <a:p>
            <a:pPr indent="0" marL="0">
              <a:buNone/>
            </a:pPr>
            <a:r>
              <a:rPr lang="en-US" sz="1100" dirty="0">
                <a:solidFill>
                  <a:schemeClr val="accent5"/>
                </a:solidFill>
                <a:latin typeface="Courier New" pitchFamily="34" charset="0"/>
                <a:ea typeface="Courier New" pitchFamily="34" charset="-122"/>
                <a:cs typeface="Courier New" pitchFamily="34" charset="-120"/>
              </a:rPr>
              <a:t>for</a:t>
            </a:r>
            <a:pPr indent="0" marL="0">
              <a:buNone/>
            </a:pPr>
            <a:r>
              <a:rPr lang="en-US" sz="1100" dirty="0">
                <a:solidFill>
                  <a:schemeClr val="bg2"/>
                </a:solidFill>
                <a:latin typeface="Courier New" pitchFamily="34" charset="0"/>
                <a:ea typeface="Courier New" pitchFamily="34" charset="-122"/>
                <a:cs typeface="Courier New" pitchFamily="34" charset="-120"/>
              </a:rPr>
              <a:t> (i = </a:t>
            </a:r>
            <a:pPr indent="0" marL="0">
              <a:buNone/>
            </a:pPr>
            <a:r>
              <a:rPr lang="en-US" sz="1100" dirty="0">
                <a:solidFill>
                  <a:schemeClr val="accent2"/>
                </a:solidFill>
                <a:latin typeface="Courier New" pitchFamily="34" charset="0"/>
                <a:ea typeface="Courier New" pitchFamily="34" charset="-122"/>
                <a:cs typeface="Courier New" pitchFamily="34" charset="-120"/>
              </a:rPr>
              <a:t>0</a:t>
            </a:r>
            <a:pPr indent="0" marL="0">
              <a:buNone/>
            </a:pPr>
            <a:r>
              <a:rPr lang="en-US" sz="1100" dirty="0">
                <a:solidFill>
                  <a:schemeClr val="bg2"/>
                </a:solidFill>
                <a:latin typeface="Courier New" pitchFamily="34" charset="0"/>
                <a:ea typeface="Courier New" pitchFamily="34" charset="-122"/>
                <a:cs typeface="Courier New" pitchFamily="34" charset="-120"/>
              </a:rPr>
              <a:t>; i &lt; m; ++i) {</a:t>
            </a:r>
            <a:endParaRPr lang="en-US" sz="1100" dirty="0"/>
          </a:p>
          <a:p>
            <a:pPr indent="0" marL="0">
              <a:buNone/>
            </a:pPr>
            <a:r>
              <a:rPr lang="en-US" sz="1100" dirty="0">
                <a:solidFill>
                  <a:schemeClr val="bg2"/>
                </a:solidFill>
                <a:latin typeface="Courier New" pitchFamily="34" charset="0"/>
                <a:ea typeface="Courier New" pitchFamily="34" charset="-122"/>
                <a:cs typeface="Courier New" pitchFamily="34" charset="-120"/>
              </a:rPr>
              <a:t>  </a:t>
            </a:r>
            <a:pPr indent="0" marL="0">
              <a:buNone/>
            </a:pPr>
            <a:r>
              <a:rPr lang="en-US" sz="1100" dirty="0">
                <a:solidFill>
                  <a:schemeClr val="accent5"/>
                </a:solidFill>
                <a:latin typeface="Courier New" pitchFamily="34" charset="0"/>
                <a:ea typeface="Courier New" pitchFamily="34" charset="-122"/>
                <a:cs typeface="Courier New" pitchFamily="34" charset="-120"/>
              </a:rPr>
              <a:t>for</a:t>
            </a:r>
            <a:pPr indent="0" marL="0">
              <a:buNone/>
            </a:pPr>
            <a:r>
              <a:rPr lang="en-US" sz="1100" dirty="0">
                <a:solidFill>
                  <a:schemeClr val="bg2"/>
                </a:solidFill>
                <a:latin typeface="Courier New" pitchFamily="34" charset="0"/>
                <a:ea typeface="Courier New" pitchFamily="34" charset="-122"/>
                <a:cs typeface="Courier New" pitchFamily="34" charset="-120"/>
              </a:rPr>
              <a:t> (p = </a:t>
            </a:r>
            <a:pPr indent="0" marL="0">
              <a:buNone/>
            </a:pPr>
            <a:r>
              <a:rPr lang="en-US" sz="1100" dirty="0">
                <a:solidFill>
                  <a:schemeClr val="accent2"/>
                </a:solidFill>
                <a:latin typeface="Courier New" pitchFamily="34" charset="0"/>
                <a:ea typeface="Courier New" pitchFamily="34" charset="-122"/>
                <a:cs typeface="Courier New" pitchFamily="34" charset="-120"/>
              </a:rPr>
              <a:t>0</a:t>
            </a:r>
            <a:pPr indent="0" marL="0">
              <a:buNone/>
            </a:pPr>
            <a:r>
              <a:rPr lang="en-US" sz="1100" dirty="0">
                <a:solidFill>
                  <a:schemeClr val="bg2"/>
                </a:solidFill>
                <a:latin typeface="Courier New" pitchFamily="34" charset="0"/>
                <a:ea typeface="Courier New" pitchFamily="34" charset="-122"/>
                <a:cs typeface="Courier New" pitchFamily="34" charset="-120"/>
              </a:rPr>
              <a:t>; p &lt; k; ++p) {</a:t>
            </a:r>
            <a:endParaRPr lang="en-US" sz="1100" dirty="0"/>
          </a:p>
          <a:p>
            <a:pPr indent="0" marL="0">
              <a:buNone/>
            </a:pPr>
            <a:r>
              <a:rPr lang="en-US" sz="1100" dirty="0">
                <a:solidFill>
                  <a:schemeClr val="bg2"/>
                </a:solidFill>
                <a:latin typeface="Courier New" pitchFamily="34" charset="0"/>
                <a:ea typeface="Courier New" pitchFamily="34" charset="-122"/>
                <a:cs typeface="Courier New" pitchFamily="34" charset="-120"/>
              </a:rPr>
              <a:t>    </a:t>
            </a:r>
            <a:pPr indent="0" marL="0">
              <a:buNone/>
            </a:pPr>
            <a:r>
              <a:rPr lang="en-US" sz="1100" dirty="0">
                <a:solidFill>
                  <a:schemeClr val="accent5"/>
                </a:solidFill>
                <a:latin typeface="Courier New" pitchFamily="34" charset="0"/>
                <a:ea typeface="Courier New" pitchFamily="34" charset="-122"/>
                <a:cs typeface="Courier New" pitchFamily="34" charset="-120"/>
              </a:rPr>
              <a:t>const</a:t>
            </a:r>
            <a:pPr indent="0" marL="0">
              <a:buNone/>
            </a:pPr>
            <a:r>
              <a:rPr lang="en-US" sz="1100" dirty="0">
                <a:solidFill>
                  <a:schemeClr val="bg2"/>
                </a:solidFill>
                <a:latin typeface="Courier New" pitchFamily="34" charset="0"/>
                <a:ea typeface="Courier New" pitchFamily="34" charset="-122"/>
                <a:cs typeface="Courier New" pitchFamily="34" charset="-120"/>
              </a:rPr>
              <a:t> </a:t>
            </a:r>
            <a:pPr indent="0" marL="0">
              <a:buNone/>
            </a:pPr>
            <a:r>
              <a:rPr lang="en-US" sz="1100" dirty="0">
                <a:solidFill>
                  <a:schemeClr val="accent5"/>
                </a:solidFill>
                <a:latin typeface="Courier New" pitchFamily="34" charset="0"/>
                <a:ea typeface="Courier New" pitchFamily="34" charset="-122"/>
                <a:cs typeface="Courier New" pitchFamily="34" charset="-120"/>
              </a:rPr>
              <a:t>float</a:t>
            </a:r>
            <a:pPr indent="0" marL="0">
              <a:buNone/>
            </a:pPr>
            <a:r>
              <a:rPr lang="en-US" sz="1100" dirty="0">
                <a:solidFill>
                  <a:schemeClr val="bg2"/>
                </a:solidFill>
                <a:latin typeface="Courier New" pitchFamily="34" charset="0"/>
                <a:ea typeface="Courier New" pitchFamily="34" charset="-122"/>
                <a:cs typeface="Courier New" pitchFamily="34" charset="-120"/>
              </a:rPr>
              <a:t> aip = a[i * k + p];</a:t>
            </a:r>
            <a:endParaRPr lang="en-US" sz="1100" dirty="0"/>
          </a:p>
          <a:p>
            <a:pPr indent="0" marL="0">
              <a:buNone/>
            </a:pPr>
            <a:r>
              <a:rPr lang="en-US" sz="1100" dirty="0">
                <a:solidFill>
                  <a:schemeClr val="bg2"/>
                </a:solidFill>
                <a:latin typeface="Courier New" pitchFamily="34" charset="0"/>
                <a:ea typeface="Courier New" pitchFamily="34" charset="-122"/>
                <a:cs typeface="Courier New" pitchFamily="34" charset="-120"/>
              </a:rPr>
              <a:t>    </a:t>
            </a:r>
            <a:pPr indent="0" marL="0">
              <a:buNone/>
            </a:pPr>
            <a:r>
              <a:rPr lang="en-US" sz="1100" dirty="0">
                <a:solidFill>
                  <a:schemeClr val="accent5"/>
                </a:solidFill>
                <a:latin typeface="Courier New" pitchFamily="34" charset="0"/>
                <a:ea typeface="Courier New" pitchFamily="34" charset="-122"/>
                <a:cs typeface="Courier New" pitchFamily="34" charset="-120"/>
              </a:rPr>
              <a:t>for</a:t>
            </a:r>
            <a:pPr indent="0" marL="0">
              <a:buNone/>
            </a:pPr>
            <a:r>
              <a:rPr lang="en-US" sz="1100" dirty="0">
                <a:solidFill>
                  <a:schemeClr val="bg2"/>
                </a:solidFill>
                <a:latin typeface="Courier New" pitchFamily="34" charset="0"/>
                <a:ea typeface="Courier New" pitchFamily="34" charset="-122"/>
                <a:cs typeface="Courier New" pitchFamily="34" charset="-120"/>
              </a:rPr>
              <a:t> (j = </a:t>
            </a:r>
            <a:pPr indent="0" marL="0">
              <a:buNone/>
            </a:pPr>
            <a:r>
              <a:rPr lang="en-US" sz="1100" dirty="0">
                <a:solidFill>
                  <a:schemeClr val="accent2"/>
                </a:solidFill>
                <a:latin typeface="Courier New" pitchFamily="34" charset="0"/>
                <a:ea typeface="Courier New" pitchFamily="34" charset="-122"/>
                <a:cs typeface="Courier New" pitchFamily="34" charset="-120"/>
              </a:rPr>
              <a:t>0</a:t>
            </a:r>
            <a:pPr indent="0" marL="0">
              <a:buNone/>
            </a:pPr>
            <a:r>
              <a:rPr lang="en-US" sz="1100" dirty="0">
                <a:solidFill>
                  <a:schemeClr val="bg2"/>
                </a:solidFill>
                <a:latin typeface="Courier New" pitchFamily="34" charset="0"/>
                <a:ea typeface="Courier New" pitchFamily="34" charset="-122"/>
                <a:cs typeface="Courier New" pitchFamily="34" charset="-120"/>
              </a:rPr>
              <a:t>; j &lt; n; ++j)</a:t>
            </a:r>
            <a:endParaRPr lang="en-US" sz="1100" dirty="0"/>
          </a:p>
          <a:p>
            <a:pPr indent="0" marL="0">
              <a:buNone/>
            </a:pPr>
            <a:r>
              <a:rPr lang="en-US" sz="1100" dirty="0">
                <a:solidFill>
                  <a:schemeClr val="bg2"/>
                </a:solidFill>
                <a:latin typeface="Courier New" pitchFamily="34" charset="0"/>
                <a:ea typeface="Courier New" pitchFamily="34" charset="-122"/>
                <a:cs typeface="Courier New" pitchFamily="34" charset="-120"/>
              </a:rPr>
              <a:t>      c[i * n + j] += aip * b[p * n + j];</a:t>
            </a:r>
            <a:endParaRPr lang="en-US" sz="1100" dirty="0"/>
          </a:p>
          <a:p>
            <a:pPr indent="0" marL="0">
              <a:buNone/>
            </a:pPr>
            <a:r>
              <a:rPr lang="en-US" sz="1100" dirty="0">
                <a:solidFill>
                  <a:schemeClr val="bg2"/>
                </a:solidFill>
                <a:latin typeface="Courier New" pitchFamily="34" charset="0"/>
                <a:ea typeface="Courier New" pitchFamily="34" charset="-122"/>
                <a:cs typeface="Courier New" pitchFamily="34" charset="-120"/>
              </a:rPr>
              <a:t>  }</a:t>
            </a:r>
            <a:endParaRPr lang="en-US" sz="1100" dirty="0"/>
          </a:p>
          <a:p>
            <a:pPr indent="0" marL="0">
              <a:buNone/>
            </a:pPr>
            <a:r>
              <a:rPr lang="en-US" sz="1100" dirty="0">
                <a:solidFill>
                  <a:schemeClr val="bg2"/>
                </a:solidFill>
                <a:latin typeface="Courier New" pitchFamily="34" charset="0"/>
                <a:ea typeface="Courier New" pitchFamily="34" charset="-122"/>
                <a:cs typeface="Courier New" pitchFamily="34" charset="-120"/>
              </a:rPr>
              <a:t>}</a:t>
            </a:r>
            <a:endParaRPr lang="en-US" sz="1100" dirty="0"/>
          </a:p>
        </p:txBody>
      </p:sp>
      <p:sp>
        <p:nvSpPr>
          <p:cNvPr id="6" name="Parallel matmul heading"/>
          <p:cNvSpPr txBox="1"/>
          <p:nvPr/>
        </p:nvSpPr>
        <p:spPr>
          <a:xfrm>
            <a:off x="457200" y="3063240"/>
            <a:ext cx="4297680" cy="274320"/>
          </a:xfrm>
          <a:prstGeom prst="rect">
            <a:avLst/>
          </a:prstGeom>
          <a:noFill/>
          <a:ln/>
        </p:spPr>
        <p:txBody>
          <a:bodyPr wrap="square" lIns="0" tIns="0" rIns="0" bIns="0" rtlCol="0" anchor="t"/>
          <a:lstStyle/>
          <a:p>
            <a:pPr indent="0" marL="0">
              <a:buNone/>
            </a:pPr>
            <a:r>
              <a:rPr lang="en-US" sz="1400" b="1" dirty="0">
                <a:solidFill>
                  <a:schemeClr val="tx1"/>
                </a:solidFill>
              </a:rPr>
              <a:t>Parallel: blocks, and rows split between threads</a:t>
            </a:r>
            <a:endParaRPr lang="en-US" sz="1400" dirty="0"/>
          </a:p>
        </p:txBody>
      </p:sp>
      <p:sp>
        <p:nvSpPr>
          <p:cNvPr id="7" name="parallel matmul code panel"/>
          <p:cNvSpPr/>
          <p:nvPr/>
        </p:nvSpPr>
        <p:spPr>
          <a:xfrm>
            <a:off x="457200" y="3383280"/>
            <a:ext cx="4297680" cy="1325880"/>
          </a:xfrm>
          <a:prstGeom prst="roundRect">
            <a:avLst>
              <a:gd name="adj" fmla="val 5517"/>
            </a:avLst>
          </a:prstGeom>
          <a:solidFill>
            <a:schemeClr val="tx2"/>
          </a:solidFill>
          <a:ln/>
        </p:spPr>
      </p:sp>
      <p:sp>
        <p:nvSpPr>
          <p:cNvPr id="8" name="parallel matmul code"/>
          <p:cNvSpPr txBox="1"/>
          <p:nvPr/>
        </p:nvSpPr>
        <p:spPr>
          <a:xfrm>
            <a:off x="621792" y="3511296"/>
            <a:ext cx="3968496" cy="1069848"/>
          </a:xfrm>
          <a:prstGeom prst="rect">
            <a:avLst/>
          </a:prstGeom>
          <a:noFill/>
          <a:ln/>
        </p:spPr>
        <p:txBody>
          <a:bodyPr wrap="square" lIns="0" tIns="0" rIns="0" bIns="0" rtlCol="0" anchor="t"/>
          <a:lstStyle/>
          <a:p>
            <a:pPr indent="0" marL="0">
              <a:buNone/>
            </a:pPr>
            <a:r>
              <a:rPr lang="en-US" sz="1100" dirty="0">
                <a:solidFill>
                  <a:schemeClr val="accent5"/>
                </a:solidFill>
                <a:latin typeface="Courier New" pitchFamily="34" charset="0"/>
                <a:ea typeface="Courier New" pitchFamily="34" charset="-122"/>
                <a:cs typeface="Courier New" pitchFamily="34" charset="-120"/>
              </a:rPr>
              <a:t>for</a:t>
            </a:r>
            <a:pPr indent="0" marL="0">
              <a:buNone/>
            </a:pPr>
            <a:r>
              <a:rPr lang="en-US" sz="1100" dirty="0">
                <a:solidFill>
                  <a:schemeClr val="bg2"/>
                </a:solidFill>
                <a:latin typeface="Courier New" pitchFamily="34" charset="0"/>
                <a:ea typeface="Courier New" pitchFamily="34" charset="-122"/>
                <a:cs typeface="Courier New" pitchFamily="34" charset="-120"/>
              </a:rPr>
              <a:t> (j0 = </a:t>
            </a:r>
            <a:pPr indent="0" marL="0">
              <a:buNone/>
            </a:pPr>
            <a:r>
              <a:rPr lang="en-US" sz="1100" dirty="0">
                <a:solidFill>
                  <a:schemeClr val="accent2"/>
                </a:solidFill>
                <a:latin typeface="Courier New" pitchFamily="34" charset="0"/>
                <a:ea typeface="Courier New" pitchFamily="34" charset="-122"/>
                <a:cs typeface="Courier New" pitchFamily="34" charset="-120"/>
              </a:rPr>
              <a:t>0</a:t>
            </a:r>
            <a:pPr indent="0" marL="0">
              <a:buNone/>
            </a:pPr>
            <a:r>
              <a:rPr lang="en-US" sz="1100" dirty="0">
                <a:solidFill>
                  <a:schemeClr val="bg2"/>
                </a:solidFill>
                <a:latin typeface="Courier New" pitchFamily="34" charset="0"/>
                <a:ea typeface="Courier New" pitchFamily="34" charset="-122"/>
                <a:cs typeface="Courier New" pitchFamily="34" charset="-120"/>
              </a:rPr>
              <a:t>; j0 &lt; n; j0 += </a:t>
            </a:r>
            <a:pPr indent="0" marL="0">
              <a:buNone/>
            </a:pPr>
            <a:r>
              <a:rPr lang="en-US" sz="1100" dirty="0">
                <a:solidFill>
                  <a:schemeClr val="accent2"/>
                </a:solidFill>
                <a:latin typeface="Courier New" pitchFamily="34" charset="0"/>
                <a:ea typeface="Courier New" pitchFamily="34" charset="-122"/>
                <a:cs typeface="Courier New" pitchFamily="34" charset="-120"/>
              </a:rPr>
              <a:t>256</a:t>
            </a:r>
            <a:pPr indent="0" marL="0">
              <a:buNone/>
            </a:pPr>
            <a:r>
              <a:rPr lang="en-US" sz="1100" dirty="0">
                <a:solidFill>
                  <a:schemeClr val="bg2"/>
                </a:solidFill>
                <a:latin typeface="Courier New" pitchFamily="34" charset="0"/>
                <a:ea typeface="Courier New" pitchFamily="34" charset="-122"/>
                <a:cs typeface="Courier New" pitchFamily="34" charset="-120"/>
              </a:rPr>
              <a:t>)   </a:t>
            </a:r>
            <a:pPr indent="0" marL="0">
              <a:buNone/>
            </a:pPr>
            <a:r>
              <a:rPr lang="en-US" sz="1100" i="1" dirty="0">
                <a:solidFill>
                  <a:schemeClr val="accent6"/>
                </a:solidFill>
                <a:latin typeface="Courier New" pitchFamily="34" charset="0"/>
                <a:ea typeface="Courier New" pitchFamily="34" charset="-122"/>
                <a:cs typeface="Courier New" pitchFamily="34" charset="-120"/>
              </a:rPr>
              <a:t>// columns</a:t>
            </a:r>
            <a:endParaRPr lang="en-US" sz="1100" dirty="0"/>
          </a:p>
          <a:p>
            <a:pPr indent="0" marL="0">
              <a:buNone/>
            </a:pPr>
            <a:r>
              <a:rPr lang="en-US" sz="1100" dirty="0">
                <a:solidFill>
                  <a:schemeClr val="bg2"/>
                </a:solidFill>
                <a:latin typeface="Courier New" pitchFamily="34" charset="0"/>
                <a:ea typeface="Courier New" pitchFamily="34" charset="-122"/>
                <a:cs typeface="Courier New" pitchFamily="34" charset="-120"/>
              </a:rPr>
              <a:t>  </a:t>
            </a:r>
            <a:pPr indent="0" marL="0">
              <a:buNone/>
            </a:pPr>
            <a:r>
              <a:rPr lang="en-US" sz="1100" dirty="0">
                <a:solidFill>
                  <a:schemeClr val="accent5"/>
                </a:solidFill>
                <a:latin typeface="Courier New" pitchFamily="34" charset="0"/>
                <a:ea typeface="Courier New" pitchFamily="34" charset="-122"/>
                <a:cs typeface="Courier New" pitchFamily="34" charset="-120"/>
              </a:rPr>
              <a:t>for</a:t>
            </a:r>
            <a:pPr indent="0" marL="0">
              <a:buNone/>
            </a:pPr>
            <a:r>
              <a:rPr lang="en-US" sz="1100" dirty="0">
                <a:solidFill>
                  <a:schemeClr val="bg2"/>
                </a:solidFill>
                <a:latin typeface="Courier New" pitchFamily="34" charset="0"/>
                <a:ea typeface="Courier New" pitchFamily="34" charset="-122"/>
                <a:cs typeface="Courier New" pitchFamily="34" charset="-120"/>
              </a:rPr>
              <a:t> (p0 = </a:t>
            </a:r>
            <a:pPr indent="0" marL="0">
              <a:buNone/>
            </a:pPr>
            <a:r>
              <a:rPr lang="en-US" sz="1100" dirty="0">
                <a:solidFill>
                  <a:schemeClr val="accent2"/>
                </a:solidFill>
                <a:latin typeface="Courier New" pitchFamily="34" charset="0"/>
                <a:ea typeface="Courier New" pitchFamily="34" charset="-122"/>
                <a:cs typeface="Courier New" pitchFamily="34" charset="-120"/>
              </a:rPr>
              <a:t>0</a:t>
            </a:r>
            <a:pPr indent="0" marL="0">
              <a:buNone/>
            </a:pPr>
            <a:r>
              <a:rPr lang="en-US" sz="1100" dirty="0">
                <a:solidFill>
                  <a:schemeClr val="bg2"/>
                </a:solidFill>
                <a:latin typeface="Courier New" pitchFamily="34" charset="0"/>
                <a:ea typeface="Courier New" pitchFamily="34" charset="-122"/>
                <a:cs typeface="Courier New" pitchFamily="34" charset="-120"/>
              </a:rPr>
              <a:t>; p0 &lt; k; p0 += </a:t>
            </a:r>
            <a:pPr indent="0" marL="0">
              <a:buNone/>
            </a:pPr>
            <a:r>
              <a:rPr lang="en-US" sz="1100" dirty="0">
                <a:solidFill>
                  <a:schemeClr val="accent2"/>
                </a:solidFill>
                <a:latin typeface="Courier New" pitchFamily="34" charset="0"/>
                <a:ea typeface="Courier New" pitchFamily="34" charset="-122"/>
                <a:cs typeface="Courier New" pitchFamily="34" charset="-120"/>
              </a:rPr>
              <a:t>128</a:t>
            </a:r>
            <a:pPr indent="0" marL="0">
              <a:buNone/>
            </a:pPr>
            <a:r>
              <a:rPr lang="en-US" sz="1100" dirty="0">
                <a:solidFill>
                  <a:schemeClr val="bg2"/>
                </a:solidFill>
                <a:latin typeface="Courier New" pitchFamily="34" charset="0"/>
                <a:ea typeface="Courier New" pitchFamily="34" charset="-122"/>
                <a:cs typeface="Courier New" pitchFamily="34" charset="-120"/>
              </a:rPr>
              <a:t>) </a:t>
            </a:r>
            <a:pPr indent="0" marL="0">
              <a:buNone/>
            </a:pPr>
            <a:r>
              <a:rPr lang="en-US" sz="1100" i="1" dirty="0">
                <a:solidFill>
                  <a:schemeClr val="accent6"/>
                </a:solidFill>
                <a:latin typeface="Courier New" pitchFamily="34" charset="0"/>
                <a:ea typeface="Courier New" pitchFamily="34" charset="-122"/>
                <a:cs typeface="Courier New" pitchFamily="34" charset="-120"/>
              </a:rPr>
              <a:t>// depth</a:t>
            </a:r>
            <a:endParaRPr lang="en-US" sz="1100" dirty="0"/>
          </a:p>
          <a:p>
            <a:pPr indent="0" marL="0">
              <a:buNone/>
            </a:pPr>
            <a:r>
              <a:rPr lang="en-US" sz="1100" dirty="0">
                <a:solidFill>
                  <a:schemeClr val="bg2"/>
                </a:solidFill>
                <a:latin typeface="Courier New" pitchFamily="34" charset="0"/>
                <a:ea typeface="Courier New" pitchFamily="34" charset="-122"/>
                <a:cs typeface="Courier New" pitchFamily="34" charset="-120"/>
              </a:rPr>
              <a:t>    </a:t>
            </a:r>
            <a:pPr indent="0" marL="0">
              <a:buNone/>
            </a:pPr>
            <a:r>
              <a:rPr lang="en-US" sz="1100" dirty="0">
                <a:solidFill>
                  <a:schemeClr val="accent5"/>
                </a:solidFill>
                <a:latin typeface="Courier New" pitchFamily="34" charset="0"/>
                <a:ea typeface="Courier New" pitchFamily="34" charset="-122"/>
                <a:cs typeface="Courier New" pitchFamily="34" charset="-120"/>
              </a:rPr>
              <a:t>for</a:t>
            </a:r>
            <a:pPr indent="0" marL="0">
              <a:buNone/>
            </a:pPr>
            <a:r>
              <a:rPr lang="en-US" sz="1100" dirty="0">
                <a:solidFill>
                  <a:schemeClr val="bg2"/>
                </a:solidFill>
                <a:latin typeface="Courier New" pitchFamily="34" charset="0"/>
                <a:ea typeface="Courier New" pitchFamily="34" charset="-122"/>
                <a:cs typeface="Courier New" pitchFamily="34" charset="-120"/>
              </a:rPr>
              <a:t> (i = rows_begin; i &lt; rows_end; ++i)</a:t>
            </a:r>
            <a:endParaRPr lang="en-US" sz="1100" dirty="0"/>
          </a:p>
          <a:p>
            <a:pPr indent="0" marL="0">
              <a:buNone/>
            </a:pPr>
            <a:r>
              <a:rPr lang="en-US" sz="1100" dirty="0">
                <a:solidFill>
                  <a:schemeClr val="bg2"/>
                </a:solidFill>
                <a:latin typeface="Courier New" pitchFamily="34" charset="0"/>
                <a:ea typeface="Courier New" pitchFamily="34" charset="-122"/>
                <a:cs typeface="Courier New" pitchFamily="34" charset="-120"/>
              </a:rPr>
              <a:t>      </a:t>
            </a:r>
            <a:pPr indent="0" marL="0">
              <a:buNone/>
            </a:pPr>
            <a:r>
              <a:rPr lang="en-US" sz="1100" dirty="0">
                <a:solidFill>
                  <a:schemeClr val="accent5"/>
                </a:solidFill>
                <a:latin typeface="Courier New" pitchFamily="34" charset="0"/>
                <a:ea typeface="Courier New" pitchFamily="34" charset="-122"/>
                <a:cs typeface="Courier New" pitchFamily="34" charset="-120"/>
              </a:rPr>
              <a:t>for</a:t>
            </a:r>
            <a:pPr indent="0" marL="0">
              <a:buNone/>
            </a:pPr>
            <a:r>
              <a:rPr lang="en-US" sz="1100" dirty="0">
                <a:solidFill>
                  <a:schemeClr val="bg2"/>
                </a:solidFill>
                <a:latin typeface="Courier New" pitchFamily="34" charset="0"/>
                <a:ea typeface="Courier New" pitchFamily="34" charset="-122"/>
                <a:cs typeface="Courier New" pitchFamily="34" charset="-120"/>
              </a:rPr>
              <a:t> (p = p0; p &lt; p0 + </a:t>
            </a:r>
            <a:pPr indent="0" marL="0">
              <a:buNone/>
            </a:pPr>
            <a:r>
              <a:rPr lang="en-US" sz="1100" dirty="0">
                <a:solidFill>
                  <a:schemeClr val="accent2"/>
                </a:solidFill>
                <a:latin typeface="Courier New" pitchFamily="34" charset="0"/>
                <a:ea typeface="Courier New" pitchFamily="34" charset="-122"/>
                <a:cs typeface="Courier New" pitchFamily="34" charset="-120"/>
              </a:rPr>
              <a:t>128</a:t>
            </a:r>
            <a:pPr indent="0" marL="0">
              <a:buNone/>
            </a:pPr>
            <a:r>
              <a:rPr lang="en-US" sz="1100" dirty="0">
                <a:solidFill>
                  <a:schemeClr val="bg2"/>
                </a:solidFill>
                <a:latin typeface="Courier New" pitchFamily="34" charset="0"/>
                <a:ea typeface="Courier New" pitchFamily="34" charset="-122"/>
                <a:cs typeface="Courier New" pitchFamily="34" charset="-120"/>
              </a:rPr>
              <a:t>; ++p)</a:t>
            </a:r>
            <a:endParaRPr lang="en-US" sz="1100" dirty="0"/>
          </a:p>
          <a:p>
            <a:pPr indent="0" marL="0">
              <a:buNone/>
            </a:pPr>
            <a:r>
              <a:rPr lang="en-US" sz="1100" dirty="0">
                <a:solidFill>
                  <a:schemeClr val="bg2"/>
                </a:solidFill>
                <a:latin typeface="Courier New" pitchFamily="34" charset="0"/>
                <a:ea typeface="Courier New" pitchFamily="34" charset="-122"/>
                <a:cs typeface="Courier New" pitchFamily="34" charset="-120"/>
              </a:rPr>
              <a:t>        </a:t>
            </a:r>
            <a:pPr indent="0" marL="0">
              <a:buNone/>
            </a:pPr>
            <a:r>
              <a:rPr lang="en-US" sz="1100" dirty="0">
                <a:solidFill>
                  <a:schemeClr val="accent5"/>
                </a:solidFill>
                <a:latin typeface="Courier New" pitchFamily="34" charset="0"/>
                <a:ea typeface="Courier New" pitchFamily="34" charset="-122"/>
                <a:cs typeface="Courier New" pitchFamily="34" charset="-120"/>
              </a:rPr>
              <a:t>for</a:t>
            </a:r>
            <a:pPr indent="0" marL="0">
              <a:buNone/>
            </a:pPr>
            <a:r>
              <a:rPr lang="en-US" sz="1100" dirty="0">
                <a:solidFill>
                  <a:schemeClr val="bg2"/>
                </a:solidFill>
                <a:latin typeface="Courier New" pitchFamily="34" charset="0"/>
                <a:ea typeface="Courier New" pitchFamily="34" charset="-122"/>
                <a:cs typeface="Courier New" pitchFamily="34" charset="-120"/>
              </a:rPr>
              <a:t> (j = j0; j &lt; j0 + </a:t>
            </a:r>
            <a:pPr indent="0" marL="0">
              <a:buNone/>
            </a:pPr>
            <a:r>
              <a:rPr lang="en-US" sz="1100" dirty="0">
                <a:solidFill>
                  <a:schemeClr val="accent2"/>
                </a:solidFill>
                <a:latin typeface="Courier New" pitchFamily="34" charset="0"/>
                <a:ea typeface="Courier New" pitchFamily="34" charset="-122"/>
                <a:cs typeface="Courier New" pitchFamily="34" charset="-120"/>
              </a:rPr>
              <a:t>256</a:t>
            </a:r>
            <a:pPr indent="0" marL="0">
              <a:buNone/>
            </a:pPr>
            <a:r>
              <a:rPr lang="en-US" sz="1100" dirty="0">
                <a:solidFill>
                  <a:schemeClr val="bg2"/>
                </a:solidFill>
                <a:latin typeface="Courier New" pitchFamily="34" charset="0"/>
                <a:ea typeface="Courier New" pitchFamily="34" charset="-122"/>
                <a:cs typeface="Courier New" pitchFamily="34" charset="-120"/>
              </a:rPr>
              <a:t>; ++j)</a:t>
            </a:r>
            <a:endParaRPr lang="en-US" sz="1100" dirty="0"/>
          </a:p>
          <a:p>
            <a:pPr indent="0" marL="0">
              <a:buNone/>
            </a:pPr>
            <a:r>
              <a:rPr lang="en-US" sz="1100" dirty="0">
                <a:solidFill>
                  <a:schemeClr val="bg2"/>
                </a:solidFill>
                <a:latin typeface="Courier New" pitchFamily="34" charset="0"/>
                <a:ea typeface="Courier New" pitchFamily="34" charset="-122"/>
                <a:cs typeface="Courier New" pitchFamily="34" charset="-120"/>
              </a:rPr>
              <a:t>          c[i][j] += a[i][p] * b[p][j];</a:t>
            </a:r>
            <a:endParaRPr lang="en-US" sz="1100" dirty="0"/>
          </a:p>
        </p:txBody>
      </p:sp>
      <p:sp>
        <p:nvSpPr>
          <p:cNvPr id="9" name="Row split heading"/>
          <p:cNvSpPr txBox="1"/>
          <p:nvPr/>
        </p:nvSpPr>
        <p:spPr>
          <a:xfrm>
            <a:off x="5029200" y="1097280"/>
            <a:ext cx="3657600" cy="274320"/>
          </a:xfrm>
          <a:prstGeom prst="rect">
            <a:avLst/>
          </a:prstGeom>
          <a:noFill/>
          <a:ln/>
        </p:spPr>
        <p:txBody>
          <a:bodyPr wrap="square" lIns="0" tIns="0" rIns="0" bIns="0" rtlCol="0" anchor="t"/>
          <a:lstStyle/>
          <a:p>
            <a:pPr indent="0" marL="0">
              <a:buNone/>
            </a:pPr>
            <a:r>
              <a:rPr lang="en-US" sz="1400" b="1" dirty="0">
                <a:solidFill>
                  <a:schemeClr val="tx1"/>
                </a:solidFill>
              </a:rPr>
              <a:t>Rows of C split between threads</a:t>
            </a:r>
            <a:endParaRPr lang="en-US" sz="1400" dirty="0"/>
          </a:p>
        </p:txBody>
      </p:sp>
      <p:sp>
        <p:nvSpPr>
          <p:cNvPr id="10" name="A row 0"/>
          <p:cNvSpPr/>
          <p:nvPr/>
        </p:nvSpPr>
        <p:spPr>
          <a:xfrm>
            <a:off x="5029200" y="1554480"/>
            <a:ext cx="914400" cy="237744"/>
          </a:xfrm>
          <a:prstGeom prst="rect">
            <a:avLst/>
          </a:prstGeom>
          <a:solidFill>
            <a:schemeClr val="accent1"/>
          </a:solidFill>
          <a:ln w="9525">
            <a:solidFill>
              <a:schemeClr val="bg1"/>
            </a:solidFill>
            <a:prstDash val="solid"/>
          </a:ln>
        </p:spPr>
      </p:sp>
      <p:sp>
        <p:nvSpPr>
          <p:cNvPr id="11" name="A row 0 label"/>
          <p:cNvSpPr txBox="1"/>
          <p:nvPr/>
        </p:nvSpPr>
        <p:spPr>
          <a:xfrm>
            <a:off x="5029200" y="1554480"/>
            <a:ext cx="914400" cy="237744"/>
          </a:xfrm>
          <a:prstGeom prst="rect">
            <a:avLst/>
          </a:prstGeom>
          <a:noFill/>
          <a:ln/>
        </p:spPr>
        <p:txBody>
          <a:bodyPr wrap="square" lIns="0" tIns="0" rIns="0" bIns="0" rtlCol="0" anchor="ctr"/>
          <a:lstStyle/>
          <a:p>
            <a:pPr algn="ctr" indent="0" marL="0">
              <a:buNone/>
            </a:pPr>
            <a:r>
              <a:rPr lang="en-US" sz="1200" b="1" dirty="0">
                <a:solidFill>
                  <a:schemeClr val="tx1"/>
                </a:solidFill>
              </a:rPr>
              <a:t>T0</a:t>
            </a:r>
            <a:endParaRPr lang="en-US" sz="1200" dirty="0"/>
          </a:p>
        </p:txBody>
      </p:sp>
      <p:sp>
        <p:nvSpPr>
          <p:cNvPr id="12" name="A row 1"/>
          <p:cNvSpPr/>
          <p:nvPr/>
        </p:nvSpPr>
        <p:spPr>
          <a:xfrm>
            <a:off x="5029200" y="1792224"/>
            <a:ext cx="914400" cy="237744"/>
          </a:xfrm>
          <a:prstGeom prst="rect">
            <a:avLst/>
          </a:prstGeom>
          <a:solidFill>
            <a:schemeClr val="accent1"/>
          </a:solidFill>
          <a:ln w="9525">
            <a:solidFill>
              <a:schemeClr val="bg1"/>
            </a:solidFill>
            <a:prstDash val="solid"/>
          </a:ln>
        </p:spPr>
      </p:sp>
      <p:sp>
        <p:nvSpPr>
          <p:cNvPr id="13" name="A row 1 label"/>
          <p:cNvSpPr txBox="1"/>
          <p:nvPr/>
        </p:nvSpPr>
        <p:spPr>
          <a:xfrm>
            <a:off x="5029200" y="1792224"/>
            <a:ext cx="914400" cy="237744"/>
          </a:xfrm>
          <a:prstGeom prst="rect">
            <a:avLst/>
          </a:prstGeom>
          <a:noFill/>
          <a:ln/>
        </p:spPr>
        <p:txBody>
          <a:bodyPr wrap="square" lIns="0" tIns="0" rIns="0" bIns="0" rtlCol="0" anchor="ctr"/>
          <a:lstStyle/>
          <a:p>
            <a:pPr algn="ctr" indent="0" marL="0">
              <a:buNone/>
            </a:pPr>
            <a:r>
              <a:rPr lang="en-US" sz="1200" b="1" dirty="0">
                <a:solidFill>
                  <a:schemeClr val="tx1"/>
                </a:solidFill>
              </a:rPr>
              <a:t>T0</a:t>
            </a:r>
            <a:endParaRPr lang="en-US" sz="1200" dirty="0"/>
          </a:p>
        </p:txBody>
      </p:sp>
      <p:sp>
        <p:nvSpPr>
          <p:cNvPr id="14" name="A row 2"/>
          <p:cNvSpPr/>
          <p:nvPr/>
        </p:nvSpPr>
        <p:spPr>
          <a:xfrm>
            <a:off x="5029200" y="2029968"/>
            <a:ext cx="914400" cy="237744"/>
          </a:xfrm>
          <a:prstGeom prst="rect">
            <a:avLst/>
          </a:prstGeom>
          <a:solidFill>
            <a:schemeClr val="accent2"/>
          </a:solidFill>
          <a:ln w="9525">
            <a:solidFill>
              <a:schemeClr val="bg1"/>
            </a:solidFill>
            <a:prstDash val="solid"/>
          </a:ln>
        </p:spPr>
      </p:sp>
      <p:sp>
        <p:nvSpPr>
          <p:cNvPr id="15" name="A row 2 label"/>
          <p:cNvSpPr txBox="1"/>
          <p:nvPr/>
        </p:nvSpPr>
        <p:spPr>
          <a:xfrm>
            <a:off x="5029200" y="2029968"/>
            <a:ext cx="914400" cy="237744"/>
          </a:xfrm>
          <a:prstGeom prst="rect">
            <a:avLst/>
          </a:prstGeom>
          <a:noFill/>
          <a:ln/>
        </p:spPr>
        <p:txBody>
          <a:bodyPr wrap="square" lIns="0" tIns="0" rIns="0" bIns="0" rtlCol="0" anchor="ctr"/>
          <a:lstStyle/>
          <a:p>
            <a:pPr algn="ctr" indent="0" marL="0">
              <a:buNone/>
            </a:pPr>
            <a:r>
              <a:rPr lang="en-US" sz="1200" b="1" dirty="0">
                <a:solidFill>
                  <a:schemeClr val="tx1"/>
                </a:solidFill>
              </a:rPr>
              <a:t>T1</a:t>
            </a:r>
            <a:endParaRPr lang="en-US" sz="1200" dirty="0"/>
          </a:p>
        </p:txBody>
      </p:sp>
      <p:sp>
        <p:nvSpPr>
          <p:cNvPr id="16" name="A row 3"/>
          <p:cNvSpPr/>
          <p:nvPr/>
        </p:nvSpPr>
        <p:spPr>
          <a:xfrm>
            <a:off x="5029200" y="2267712"/>
            <a:ext cx="914400" cy="237744"/>
          </a:xfrm>
          <a:prstGeom prst="rect">
            <a:avLst/>
          </a:prstGeom>
          <a:solidFill>
            <a:schemeClr val="accent2"/>
          </a:solidFill>
          <a:ln w="9525">
            <a:solidFill>
              <a:schemeClr val="bg1"/>
            </a:solidFill>
            <a:prstDash val="solid"/>
          </a:ln>
        </p:spPr>
      </p:sp>
      <p:sp>
        <p:nvSpPr>
          <p:cNvPr id="17" name="A row 3 label"/>
          <p:cNvSpPr txBox="1"/>
          <p:nvPr/>
        </p:nvSpPr>
        <p:spPr>
          <a:xfrm>
            <a:off x="5029200" y="2267712"/>
            <a:ext cx="914400" cy="237744"/>
          </a:xfrm>
          <a:prstGeom prst="rect">
            <a:avLst/>
          </a:prstGeom>
          <a:noFill/>
          <a:ln/>
        </p:spPr>
        <p:txBody>
          <a:bodyPr wrap="square" lIns="0" tIns="0" rIns="0" bIns="0" rtlCol="0" anchor="ctr"/>
          <a:lstStyle/>
          <a:p>
            <a:pPr algn="ctr" indent="0" marL="0">
              <a:buNone/>
            </a:pPr>
            <a:r>
              <a:rPr lang="en-US" sz="1200" b="1" dirty="0">
                <a:solidFill>
                  <a:schemeClr val="tx1"/>
                </a:solidFill>
              </a:rPr>
              <a:t>T1</a:t>
            </a:r>
            <a:endParaRPr lang="en-US" sz="1200" dirty="0"/>
          </a:p>
        </p:txBody>
      </p:sp>
      <p:sp>
        <p:nvSpPr>
          <p:cNvPr id="18" name="A row 4"/>
          <p:cNvSpPr/>
          <p:nvPr/>
        </p:nvSpPr>
        <p:spPr>
          <a:xfrm>
            <a:off x="5029200" y="2505456"/>
            <a:ext cx="914400" cy="237744"/>
          </a:xfrm>
          <a:prstGeom prst="rect">
            <a:avLst/>
          </a:prstGeom>
          <a:solidFill>
            <a:schemeClr val="accent3"/>
          </a:solidFill>
          <a:ln w="9525">
            <a:solidFill>
              <a:schemeClr val="bg1"/>
            </a:solidFill>
            <a:prstDash val="solid"/>
          </a:ln>
        </p:spPr>
      </p:sp>
      <p:sp>
        <p:nvSpPr>
          <p:cNvPr id="19" name="A row 4 label"/>
          <p:cNvSpPr txBox="1"/>
          <p:nvPr/>
        </p:nvSpPr>
        <p:spPr>
          <a:xfrm>
            <a:off x="5029200" y="2505456"/>
            <a:ext cx="914400" cy="237744"/>
          </a:xfrm>
          <a:prstGeom prst="rect">
            <a:avLst/>
          </a:prstGeom>
          <a:noFill/>
          <a:ln/>
        </p:spPr>
        <p:txBody>
          <a:bodyPr wrap="square" lIns="0" tIns="0" rIns="0" bIns="0" rtlCol="0" anchor="ctr"/>
          <a:lstStyle/>
          <a:p>
            <a:pPr algn="ctr" indent="0" marL="0">
              <a:buNone/>
            </a:pPr>
            <a:r>
              <a:rPr lang="en-US" sz="1200" b="1" dirty="0">
                <a:solidFill>
                  <a:schemeClr val="tx1"/>
                </a:solidFill>
              </a:rPr>
              <a:t>T2</a:t>
            </a:r>
            <a:endParaRPr lang="en-US" sz="1200" dirty="0"/>
          </a:p>
        </p:txBody>
      </p:sp>
      <p:sp>
        <p:nvSpPr>
          <p:cNvPr id="20" name="A row 5"/>
          <p:cNvSpPr/>
          <p:nvPr/>
        </p:nvSpPr>
        <p:spPr>
          <a:xfrm>
            <a:off x="5029200" y="2743200"/>
            <a:ext cx="914400" cy="237744"/>
          </a:xfrm>
          <a:prstGeom prst="rect">
            <a:avLst/>
          </a:prstGeom>
          <a:solidFill>
            <a:schemeClr val="accent3"/>
          </a:solidFill>
          <a:ln w="9525">
            <a:solidFill>
              <a:schemeClr val="bg1"/>
            </a:solidFill>
            <a:prstDash val="solid"/>
          </a:ln>
        </p:spPr>
      </p:sp>
      <p:sp>
        <p:nvSpPr>
          <p:cNvPr id="21" name="A row 5 label"/>
          <p:cNvSpPr txBox="1"/>
          <p:nvPr/>
        </p:nvSpPr>
        <p:spPr>
          <a:xfrm>
            <a:off x="5029200" y="2743200"/>
            <a:ext cx="914400" cy="237744"/>
          </a:xfrm>
          <a:prstGeom prst="rect">
            <a:avLst/>
          </a:prstGeom>
          <a:noFill/>
          <a:ln/>
        </p:spPr>
        <p:txBody>
          <a:bodyPr wrap="square" lIns="0" tIns="0" rIns="0" bIns="0" rtlCol="0" anchor="ctr"/>
          <a:lstStyle/>
          <a:p>
            <a:pPr algn="ctr" indent="0" marL="0">
              <a:buNone/>
            </a:pPr>
            <a:r>
              <a:rPr lang="en-US" sz="1200" b="1" dirty="0">
                <a:solidFill>
                  <a:schemeClr val="tx1"/>
                </a:solidFill>
              </a:rPr>
              <a:t>T2</a:t>
            </a:r>
            <a:endParaRPr lang="en-US" sz="1200" dirty="0"/>
          </a:p>
        </p:txBody>
      </p:sp>
      <p:sp>
        <p:nvSpPr>
          <p:cNvPr id="22" name="A row 6"/>
          <p:cNvSpPr/>
          <p:nvPr/>
        </p:nvSpPr>
        <p:spPr>
          <a:xfrm>
            <a:off x="5029200" y="2980944"/>
            <a:ext cx="914400" cy="237744"/>
          </a:xfrm>
          <a:prstGeom prst="rect">
            <a:avLst/>
          </a:prstGeom>
          <a:solidFill>
            <a:schemeClr val="accent4"/>
          </a:solidFill>
          <a:ln w="9525">
            <a:solidFill>
              <a:schemeClr val="bg1"/>
            </a:solidFill>
            <a:prstDash val="solid"/>
          </a:ln>
        </p:spPr>
      </p:sp>
      <p:sp>
        <p:nvSpPr>
          <p:cNvPr id="23" name="A row 6 label"/>
          <p:cNvSpPr txBox="1"/>
          <p:nvPr/>
        </p:nvSpPr>
        <p:spPr>
          <a:xfrm>
            <a:off x="5029200" y="2980944"/>
            <a:ext cx="914400" cy="237744"/>
          </a:xfrm>
          <a:prstGeom prst="rect">
            <a:avLst/>
          </a:prstGeom>
          <a:noFill/>
          <a:ln/>
        </p:spPr>
        <p:txBody>
          <a:bodyPr wrap="square" lIns="0" tIns="0" rIns="0" bIns="0" rtlCol="0" anchor="ctr"/>
          <a:lstStyle/>
          <a:p>
            <a:pPr algn="ctr" indent="0" marL="0">
              <a:buNone/>
            </a:pPr>
            <a:r>
              <a:rPr lang="en-US" sz="1200" b="1" dirty="0">
                <a:solidFill>
                  <a:schemeClr val="tx1"/>
                </a:solidFill>
              </a:rPr>
              <a:t>T3</a:t>
            </a:r>
            <a:endParaRPr lang="en-US" sz="1200" dirty="0"/>
          </a:p>
        </p:txBody>
      </p:sp>
      <p:sp>
        <p:nvSpPr>
          <p:cNvPr id="24" name="A row 7"/>
          <p:cNvSpPr/>
          <p:nvPr/>
        </p:nvSpPr>
        <p:spPr>
          <a:xfrm>
            <a:off x="5029200" y="3218688"/>
            <a:ext cx="914400" cy="237744"/>
          </a:xfrm>
          <a:prstGeom prst="rect">
            <a:avLst/>
          </a:prstGeom>
          <a:solidFill>
            <a:schemeClr val="accent4"/>
          </a:solidFill>
          <a:ln w="9525">
            <a:solidFill>
              <a:schemeClr val="bg1"/>
            </a:solidFill>
            <a:prstDash val="solid"/>
          </a:ln>
        </p:spPr>
      </p:sp>
      <p:sp>
        <p:nvSpPr>
          <p:cNvPr id="25" name="A row 7 label"/>
          <p:cNvSpPr txBox="1"/>
          <p:nvPr/>
        </p:nvSpPr>
        <p:spPr>
          <a:xfrm>
            <a:off x="5029200" y="3218688"/>
            <a:ext cx="914400" cy="237744"/>
          </a:xfrm>
          <a:prstGeom prst="rect">
            <a:avLst/>
          </a:prstGeom>
          <a:noFill/>
          <a:ln/>
        </p:spPr>
        <p:txBody>
          <a:bodyPr wrap="square" lIns="0" tIns="0" rIns="0" bIns="0" rtlCol="0" anchor="ctr"/>
          <a:lstStyle/>
          <a:p>
            <a:pPr algn="ctr" indent="0" marL="0">
              <a:buNone/>
            </a:pPr>
            <a:r>
              <a:rPr lang="en-US" sz="1200" b="1" dirty="0">
                <a:solidFill>
                  <a:schemeClr val="tx1"/>
                </a:solidFill>
              </a:rPr>
              <a:t>T3</a:t>
            </a:r>
            <a:endParaRPr lang="en-US" sz="1200" dirty="0"/>
          </a:p>
        </p:txBody>
      </p:sp>
      <p:sp>
        <p:nvSpPr>
          <p:cNvPr id="26" name="Times"/>
          <p:cNvSpPr txBox="1"/>
          <p:nvPr/>
        </p:nvSpPr>
        <p:spPr>
          <a:xfrm>
            <a:off x="5943600" y="2377440"/>
            <a:ext cx="274320" cy="274320"/>
          </a:xfrm>
          <a:prstGeom prst="rect">
            <a:avLst/>
          </a:prstGeom>
          <a:noFill/>
          <a:ln/>
        </p:spPr>
        <p:txBody>
          <a:bodyPr wrap="square" lIns="0" tIns="0" rIns="0" bIns="0" rtlCol="0" anchor="ctr"/>
          <a:lstStyle/>
          <a:p>
            <a:pPr algn="ctr" indent="0" marL="0">
              <a:buNone/>
            </a:pPr>
            <a:r>
              <a:rPr lang="en-US" sz="1800" b="1" dirty="0">
                <a:solidFill>
                  <a:schemeClr val="tx1"/>
                </a:solidFill>
              </a:rPr>
              <a:t>×</a:t>
            </a:r>
            <a:endParaRPr lang="en-US" sz="1800" dirty="0"/>
          </a:p>
        </p:txBody>
      </p:sp>
      <p:sp>
        <p:nvSpPr>
          <p:cNvPr id="27" name="B block"/>
          <p:cNvSpPr/>
          <p:nvPr/>
        </p:nvSpPr>
        <p:spPr>
          <a:xfrm>
            <a:off x="6217920" y="2048256"/>
            <a:ext cx="914400" cy="914400"/>
          </a:xfrm>
          <a:prstGeom prst="rect">
            <a:avLst/>
          </a:prstGeom>
          <a:solidFill>
            <a:schemeClr val="accent6"/>
          </a:solidFill>
          <a:ln/>
        </p:spPr>
      </p:sp>
      <p:sp>
        <p:nvSpPr>
          <p:cNvPr id="28" name="B label"/>
          <p:cNvSpPr txBox="1"/>
          <p:nvPr/>
        </p:nvSpPr>
        <p:spPr>
          <a:xfrm>
            <a:off x="6217920" y="2048256"/>
            <a:ext cx="914400" cy="914400"/>
          </a:xfrm>
          <a:prstGeom prst="rect">
            <a:avLst/>
          </a:prstGeom>
          <a:noFill/>
          <a:ln/>
        </p:spPr>
        <p:txBody>
          <a:bodyPr wrap="square" lIns="0" tIns="0" rIns="0" bIns="0" rtlCol="0" anchor="ctr"/>
          <a:lstStyle/>
          <a:p>
            <a:pPr algn="ctr" indent="0" marL="0">
              <a:buNone/>
            </a:pPr>
            <a:r>
              <a:rPr lang="en-US" sz="1200" b="1" dirty="0">
                <a:solidFill>
                  <a:schemeClr val="tx1"/>
                </a:solidFill>
              </a:rPr>
              <a:t>all threads</a:t>
            </a:r>
            <a:endParaRPr lang="en-US" sz="1200" dirty="0"/>
          </a:p>
        </p:txBody>
      </p:sp>
      <p:sp>
        <p:nvSpPr>
          <p:cNvPr id="29" name="Equals"/>
          <p:cNvSpPr txBox="1"/>
          <p:nvPr/>
        </p:nvSpPr>
        <p:spPr>
          <a:xfrm>
            <a:off x="7132320" y="2377440"/>
            <a:ext cx="274320" cy="274320"/>
          </a:xfrm>
          <a:prstGeom prst="rect">
            <a:avLst/>
          </a:prstGeom>
          <a:noFill/>
          <a:ln/>
        </p:spPr>
        <p:txBody>
          <a:bodyPr wrap="square" lIns="0" tIns="0" rIns="0" bIns="0" rtlCol="0" anchor="ctr"/>
          <a:lstStyle/>
          <a:p>
            <a:pPr algn="ctr" indent="0" marL="0">
              <a:buNone/>
            </a:pPr>
            <a:r>
              <a:rPr lang="en-US" sz="1800" b="1" dirty="0">
                <a:solidFill>
                  <a:schemeClr val="tx1"/>
                </a:solidFill>
              </a:rPr>
              <a:t>=</a:t>
            </a:r>
            <a:endParaRPr lang="en-US" sz="1800" dirty="0"/>
          </a:p>
        </p:txBody>
      </p:sp>
      <p:sp>
        <p:nvSpPr>
          <p:cNvPr id="30" name="C row 0"/>
          <p:cNvSpPr/>
          <p:nvPr/>
        </p:nvSpPr>
        <p:spPr>
          <a:xfrm>
            <a:off x="7406640" y="1554480"/>
            <a:ext cx="914400" cy="237744"/>
          </a:xfrm>
          <a:prstGeom prst="rect">
            <a:avLst/>
          </a:prstGeom>
          <a:solidFill>
            <a:schemeClr val="accent1"/>
          </a:solidFill>
          <a:ln w="9525">
            <a:solidFill>
              <a:schemeClr val="bg1"/>
            </a:solidFill>
            <a:prstDash val="solid"/>
          </a:ln>
        </p:spPr>
      </p:sp>
      <p:sp>
        <p:nvSpPr>
          <p:cNvPr id="31" name="C row 0 label"/>
          <p:cNvSpPr txBox="1"/>
          <p:nvPr/>
        </p:nvSpPr>
        <p:spPr>
          <a:xfrm>
            <a:off x="7406640" y="1554480"/>
            <a:ext cx="914400" cy="237744"/>
          </a:xfrm>
          <a:prstGeom prst="rect">
            <a:avLst/>
          </a:prstGeom>
          <a:noFill/>
          <a:ln/>
        </p:spPr>
        <p:txBody>
          <a:bodyPr wrap="square" lIns="0" tIns="0" rIns="0" bIns="0" rtlCol="0" anchor="ctr"/>
          <a:lstStyle/>
          <a:p>
            <a:pPr algn="ctr" indent="0" marL="0">
              <a:buNone/>
            </a:pPr>
            <a:r>
              <a:rPr lang="en-US" sz="1200" b="1" dirty="0">
                <a:solidFill>
                  <a:schemeClr val="tx1"/>
                </a:solidFill>
              </a:rPr>
              <a:t>T0</a:t>
            </a:r>
            <a:endParaRPr lang="en-US" sz="1200" dirty="0"/>
          </a:p>
        </p:txBody>
      </p:sp>
      <p:sp>
        <p:nvSpPr>
          <p:cNvPr id="32" name="C row 1"/>
          <p:cNvSpPr/>
          <p:nvPr/>
        </p:nvSpPr>
        <p:spPr>
          <a:xfrm>
            <a:off x="7406640" y="1792224"/>
            <a:ext cx="914400" cy="237744"/>
          </a:xfrm>
          <a:prstGeom prst="rect">
            <a:avLst/>
          </a:prstGeom>
          <a:solidFill>
            <a:schemeClr val="accent1"/>
          </a:solidFill>
          <a:ln w="9525">
            <a:solidFill>
              <a:schemeClr val="bg1"/>
            </a:solidFill>
            <a:prstDash val="solid"/>
          </a:ln>
        </p:spPr>
      </p:sp>
      <p:sp>
        <p:nvSpPr>
          <p:cNvPr id="33" name="C row 1 label"/>
          <p:cNvSpPr txBox="1"/>
          <p:nvPr/>
        </p:nvSpPr>
        <p:spPr>
          <a:xfrm>
            <a:off x="7406640" y="1792224"/>
            <a:ext cx="914400" cy="237744"/>
          </a:xfrm>
          <a:prstGeom prst="rect">
            <a:avLst/>
          </a:prstGeom>
          <a:noFill/>
          <a:ln/>
        </p:spPr>
        <p:txBody>
          <a:bodyPr wrap="square" lIns="0" tIns="0" rIns="0" bIns="0" rtlCol="0" anchor="ctr"/>
          <a:lstStyle/>
          <a:p>
            <a:pPr algn="ctr" indent="0" marL="0">
              <a:buNone/>
            </a:pPr>
            <a:r>
              <a:rPr lang="en-US" sz="1200" b="1" dirty="0">
                <a:solidFill>
                  <a:schemeClr val="tx1"/>
                </a:solidFill>
              </a:rPr>
              <a:t>T0</a:t>
            </a:r>
            <a:endParaRPr lang="en-US" sz="1200" dirty="0"/>
          </a:p>
        </p:txBody>
      </p:sp>
      <p:sp>
        <p:nvSpPr>
          <p:cNvPr id="34" name="C row 2"/>
          <p:cNvSpPr/>
          <p:nvPr/>
        </p:nvSpPr>
        <p:spPr>
          <a:xfrm>
            <a:off x="7406640" y="2029968"/>
            <a:ext cx="914400" cy="237744"/>
          </a:xfrm>
          <a:prstGeom prst="rect">
            <a:avLst/>
          </a:prstGeom>
          <a:solidFill>
            <a:schemeClr val="accent2"/>
          </a:solidFill>
          <a:ln w="9525">
            <a:solidFill>
              <a:schemeClr val="bg1"/>
            </a:solidFill>
            <a:prstDash val="solid"/>
          </a:ln>
        </p:spPr>
      </p:sp>
      <p:sp>
        <p:nvSpPr>
          <p:cNvPr id="35" name="C row 2 label"/>
          <p:cNvSpPr txBox="1"/>
          <p:nvPr/>
        </p:nvSpPr>
        <p:spPr>
          <a:xfrm>
            <a:off x="7406640" y="2029968"/>
            <a:ext cx="914400" cy="237744"/>
          </a:xfrm>
          <a:prstGeom prst="rect">
            <a:avLst/>
          </a:prstGeom>
          <a:noFill/>
          <a:ln/>
        </p:spPr>
        <p:txBody>
          <a:bodyPr wrap="square" lIns="0" tIns="0" rIns="0" bIns="0" rtlCol="0" anchor="ctr"/>
          <a:lstStyle/>
          <a:p>
            <a:pPr algn="ctr" indent="0" marL="0">
              <a:buNone/>
            </a:pPr>
            <a:r>
              <a:rPr lang="en-US" sz="1200" b="1" dirty="0">
                <a:solidFill>
                  <a:schemeClr val="tx1"/>
                </a:solidFill>
              </a:rPr>
              <a:t>T1</a:t>
            </a:r>
            <a:endParaRPr lang="en-US" sz="1200" dirty="0"/>
          </a:p>
        </p:txBody>
      </p:sp>
      <p:sp>
        <p:nvSpPr>
          <p:cNvPr id="36" name="C row 3"/>
          <p:cNvSpPr/>
          <p:nvPr/>
        </p:nvSpPr>
        <p:spPr>
          <a:xfrm>
            <a:off x="7406640" y="2267712"/>
            <a:ext cx="914400" cy="237744"/>
          </a:xfrm>
          <a:prstGeom prst="rect">
            <a:avLst/>
          </a:prstGeom>
          <a:solidFill>
            <a:schemeClr val="accent2"/>
          </a:solidFill>
          <a:ln w="9525">
            <a:solidFill>
              <a:schemeClr val="bg1"/>
            </a:solidFill>
            <a:prstDash val="solid"/>
          </a:ln>
        </p:spPr>
      </p:sp>
      <p:sp>
        <p:nvSpPr>
          <p:cNvPr id="37" name="C row 3 label"/>
          <p:cNvSpPr txBox="1"/>
          <p:nvPr/>
        </p:nvSpPr>
        <p:spPr>
          <a:xfrm>
            <a:off x="7406640" y="2267712"/>
            <a:ext cx="914400" cy="237744"/>
          </a:xfrm>
          <a:prstGeom prst="rect">
            <a:avLst/>
          </a:prstGeom>
          <a:noFill/>
          <a:ln/>
        </p:spPr>
        <p:txBody>
          <a:bodyPr wrap="square" lIns="0" tIns="0" rIns="0" bIns="0" rtlCol="0" anchor="ctr"/>
          <a:lstStyle/>
          <a:p>
            <a:pPr algn="ctr" indent="0" marL="0">
              <a:buNone/>
            </a:pPr>
            <a:r>
              <a:rPr lang="en-US" sz="1200" b="1" dirty="0">
                <a:solidFill>
                  <a:schemeClr val="tx1"/>
                </a:solidFill>
              </a:rPr>
              <a:t>T1</a:t>
            </a:r>
            <a:endParaRPr lang="en-US" sz="1200" dirty="0"/>
          </a:p>
        </p:txBody>
      </p:sp>
      <p:sp>
        <p:nvSpPr>
          <p:cNvPr id="38" name="C row 4"/>
          <p:cNvSpPr/>
          <p:nvPr/>
        </p:nvSpPr>
        <p:spPr>
          <a:xfrm>
            <a:off x="7406640" y="2505456"/>
            <a:ext cx="914400" cy="237744"/>
          </a:xfrm>
          <a:prstGeom prst="rect">
            <a:avLst/>
          </a:prstGeom>
          <a:solidFill>
            <a:schemeClr val="accent3"/>
          </a:solidFill>
          <a:ln w="9525">
            <a:solidFill>
              <a:schemeClr val="bg1"/>
            </a:solidFill>
            <a:prstDash val="solid"/>
          </a:ln>
        </p:spPr>
      </p:sp>
      <p:sp>
        <p:nvSpPr>
          <p:cNvPr id="39" name="C row 4 label"/>
          <p:cNvSpPr txBox="1"/>
          <p:nvPr/>
        </p:nvSpPr>
        <p:spPr>
          <a:xfrm>
            <a:off x="7406640" y="2505456"/>
            <a:ext cx="914400" cy="237744"/>
          </a:xfrm>
          <a:prstGeom prst="rect">
            <a:avLst/>
          </a:prstGeom>
          <a:noFill/>
          <a:ln/>
        </p:spPr>
        <p:txBody>
          <a:bodyPr wrap="square" lIns="0" tIns="0" rIns="0" bIns="0" rtlCol="0" anchor="ctr"/>
          <a:lstStyle/>
          <a:p>
            <a:pPr algn="ctr" indent="0" marL="0">
              <a:buNone/>
            </a:pPr>
            <a:r>
              <a:rPr lang="en-US" sz="1200" b="1" dirty="0">
                <a:solidFill>
                  <a:schemeClr val="tx1"/>
                </a:solidFill>
              </a:rPr>
              <a:t>T2</a:t>
            </a:r>
            <a:endParaRPr lang="en-US" sz="1200" dirty="0"/>
          </a:p>
        </p:txBody>
      </p:sp>
      <p:sp>
        <p:nvSpPr>
          <p:cNvPr id="40" name="C row 5"/>
          <p:cNvSpPr/>
          <p:nvPr/>
        </p:nvSpPr>
        <p:spPr>
          <a:xfrm>
            <a:off x="7406640" y="2743200"/>
            <a:ext cx="914400" cy="237744"/>
          </a:xfrm>
          <a:prstGeom prst="rect">
            <a:avLst/>
          </a:prstGeom>
          <a:solidFill>
            <a:schemeClr val="accent3"/>
          </a:solidFill>
          <a:ln w="9525">
            <a:solidFill>
              <a:schemeClr val="bg1"/>
            </a:solidFill>
            <a:prstDash val="solid"/>
          </a:ln>
        </p:spPr>
      </p:sp>
      <p:sp>
        <p:nvSpPr>
          <p:cNvPr id="41" name="C row 5 label"/>
          <p:cNvSpPr txBox="1"/>
          <p:nvPr/>
        </p:nvSpPr>
        <p:spPr>
          <a:xfrm>
            <a:off x="7406640" y="2743200"/>
            <a:ext cx="914400" cy="237744"/>
          </a:xfrm>
          <a:prstGeom prst="rect">
            <a:avLst/>
          </a:prstGeom>
          <a:noFill/>
          <a:ln/>
        </p:spPr>
        <p:txBody>
          <a:bodyPr wrap="square" lIns="0" tIns="0" rIns="0" bIns="0" rtlCol="0" anchor="ctr"/>
          <a:lstStyle/>
          <a:p>
            <a:pPr algn="ctr" indent="0" marL="0">
              <a:buNone/>
            </a:pPr>
            <a:r>
              <a:rPr lang="en-US" sz="1200" b="1" dirty="0">
                <a:solidFill>
                  <a:schemeClr val="tx1"/>
                </a:solidFill>
              </a:rPr>
              <a:t>T2</a:t>
            </a:r>
            <a:endParaRPr lang="en-US" sz="1200" dirty="0"/>
          </a:p>
        </p:txBody>
      </p:sp>
      <p:sp>
        <p:nvSpPr>
          <p:cNvPr id="42" name="C row 6"/>
          <p:cNvSpPr/>
          <p:nvPr/>
        </p:nvSpPr>
        <p:spPr>
          <a:xfrm>
            <a:off x="7406640" y="2980944"/>
            <a:ext cx="914400" cy="237744"/>
          </a:xfrm>
          <a:prstGeom prst="rect">
            <a:avLst/>
          </a:prstGeom>
          <a:solidFill>
            <a:schemeClr val="accent4"/>
          </a:solidFill>
          <a:ln w="9525">
            <a:solidFill>
              <a:schemeClr val="bg1"/>
            </a:solidFill>
            <a:prstDash val="solid"/>
          </a:ln>
        </p:spPr>
      </p:sp>
      <p:sp>
        <p:nvSpPr>
          <p:cNvPr id="43" name="C row 6 label"/>
          <p:cNvSpPr txBox="1"/>
          <p:nvPr/>
        </p:nvSpPr>
        <p:spPr>
          <a:xfrm>
            <a:off x="7406640" y="2980944"/>
            <a:ext cx="914400" cy="237744"/>
          </a:xfrm>
          <a:prstGeom prst="rect">
            <a:avLst/>
          </a:prstGeom>
          <a:noFill/>
          <a:ln/>
        </p:spPr>
        <p:txBody>
          <a:bodyPr wrap="square" lIns="0" tIns="0" rIns="0" bIns="0" rtlCol="0" anchor="ctr"/>
          <a:lstStyle/>
          <a:p>
            <a:pPr algn="ctr" indent="0" marL="0">
              <a:buNone/>
            </a:pPr>
            <a:r>
              <a:rPr lang="en-US" sz="1200" b="1" dirty="0">
                <a:solidFill>
                  <a:schemeClr val="tx1"/>
                </a:solidFill>
              </a:rPr>
              <a:t>T3</a:t>
            </a:r>
            <a:endParaRPr lang="en-US" sz="1200" dirty="0"/>
          </a:p>
        </p:txBody>
      </p:sp>
      <p:sp>
        <p:nvSpPr>
          <p:cNvPr id="44" name="C row 7"/>
          <p:cNvSpPr/>
          <p:nvPr/>
        </p:nvSpPr>
        <p:spPr>
          <a:xfrm>
            <a:off x="7406640" y="3218688"/>
            <a:ext cx="914400" cy="237744"/>
          </a:xfrm>
          <a:prstGeom prst="rect">
            <a:avLst/>
          </a:prstGeom>
          <a:solidFill>
            <a:schemeClr val="accent4"/>
          </a:solidFill>
          <a:ln w="9525">
            <a:solidFill>
              <a:schemeClr val="bg1"/>
            </a:solidFill>
            <a:prstDash val="solid"/>
          </a:ln>
        </p:spPr>
      </p:sp>
      <p:sp>
        <p:nvSpPr>
          <p:cNvPr id="45" name="C row 7 label"/>
          <p:cNvSpPr txBox="1"/>
          <p:nvPr/>
        </p:nvSpPr>
        <p:spPr>
          <a:xfrm>
            <a:off x="7406640" y="3218688"/>
            <a:ext cx="914400" cy="237744"/>
          </a:xfrm>
          <a:prstGeom prst="rect">
            <a:avLst/>
          </a:prstGeom>
          <a:noFill/>
          <a:ln/>
        </p:spPr>
        <p:txBody>
          <a:bodyPr wrap="square" lIns="0" tIns="0" rIns="0" bIns="0" rtlCol="0" anchor="ctr"/>
          <a:lstStyle/>
          <a:p>
            <a:pPr algn="ctr" indent="0" marL="0">
              <a:buNone/>
            </a:pPr>
            <a:r>
              <a:rPr lang="en-US" sz="1200" b="1" dirty="0">
                <a:solidFill>
                  <a:schemeClr val="tx1"/>
                </a:solidFill>
              </a:rPr>
              <a:t>T3</a:t>
            </a:r>
            <a:endParaRPr lang="en-US" sz="1200" dirty="0"/>
          </a:p>
        </p:txBody>
      </p:sp>
      <p:sp>
        <p:nvSpPr>
          <p:cNvPr id="46" name="Matrix A"/>
          <p:cNvSpPr txBox="1"/>
          <p:nvPr/>
        </p:nvSpPr>
        <p:spPr>
          <a:xfrm>
            <a:off x="5029200" y="3529584"/>
            <a:ext cx="914400" cy="274320"/>
          </a:xfrm>
          <a:prstGeom prst="rect">
            <a:avLst/>
          </a:prstGeom>
          <a:noFill/>
          <a:ln/>
        </p:spPr>
        <p:txBody>
          <a:bodyPr wrap="square" lIns="0" tIns="0" rIns="0" bIns="0" rtlCol="0" anchor="t"/>
          <a:lstStyle/>
          <a:p>
            <a:pPr algn="ctr" indent="0" marL="0">
              <a:buNone/>
            </a:pPr>
            <a:r>
              <a:rPr lang="en-US" sz="1400" b="1" dirty="0">
                <a:solidFill>
                  <a:schemeClr val="tx1"/>
                </a:solidFill>
              </a:rPr>
              <a:t>A</a:t>
            </a:r>
            <a:endParaRPr lang="en-US" sz="1400" dirty="0"/>
          </a:p>
        </p:txBody>
      </p:sp>
      <p:sp>
        <p:nvSpPr>
          <p:cNvPr id="47" name="Matrix B"/>
          <p:cNvSpPr txBox="1"/>
          <p:nvPr/>
        </p:nvSpPr>
        <p:spPr>
          <a:xfrm>
            <a:off x="6217920" y="3529584"/>
            <a:ext cx="914400" cy="274320"/>
          </a:xfrm>
          <a:prstGeom prst="rect">
            <a:avLst/>
          </a:prstGeom>
          <a:noFill/>
          <a:ln/>
        </p:spPr>
        <p:txBody>
          <a:bodyPr wrap="square" lIns="0" tIns="0" rIns="0" bIns="0" rtlCol="0" anchor="t"/>
          <a:lstStyle/>
          <a:p>
            <a:pPr algn="ctr" indent="0" marL="0">
              <a:buNone/>
            </a:pPr>
            <a:r>
              <a:rPr lang="en-US" sz="1400" b="1" dirty="0">
                <a:solidFill>
                  <a:schemeClr val="tx1"/>
                </a:solidFill>
              </a:rPr>
              <a:t>B</a:t>
            </a:r>
            <a:endParaRPr lang="en-US" sz="1400" dirty="0"/>
          </a:p>
        </p:txBody>
      </p:sp>
      <p:sp>
        <p:nvSpPr>
          <p:cNvPr id="48" name="Matrix C"/>
          <p:cNvSpPr txBox="1"/>
          <p:nvPr/>
        </p:nvSpPr>
        <p:spPr>
          <a:xfrm>
            <a:off x="7406640" y="3529584"/>
            <a:ext cx="914400" cy="274320"/>
          </a:xfrm>
          <a:prstGeom prst="rect">
            <a:avLst/>
          </a:prstGeom>
          <a:noFill/>
          <a:ln/>
        </p:spPr>
        <p:txBody>
          <a:bodyPr wrap="square" lIns="0" tIns="0" rIns="0" bIns="0" rtlCol="0" anchor="t"/>
          <a:lstStyle/>
          <a:p>
            <a:pPr algn="ctr" indent="0" marL="0">
              <a:buNone/>
            </a:pPr>
            <a:r>
              <a:rPr lang="en-US" sz="1400" b="1" dirty="0">
                <a:solidFill>
                  <a:schemeClr val="tx1"/>
                </a:solidFill>
              </a:rPr>
              <a:t>C</a:t>
            </a:r>
            <a:endParaRPr lang="en-US" sz="1400" dirty="0"/>
          </a:p>
        </p:txBody>
      </p:sp>
      <p:sp>
        <p:nvSpPr>
          <p:cNvPr id="49" name="Row split note"/>
          <p:cNvSpPr txBox="1"/>
          <p:nvPr/>
        </p:nvSpPr>
        <p:spPr>
          <a:xfrm>
            <a:off x="5029200" y="3931920"/>
            <a:ext cx="3657600" cy="685800"/>
          </a:xfrm>
          <a:prstGeom prst="rect">
            <a:avLst/>
          </a:prstGeom>
          <a:noFill/>
          <a:ln/>
        </p:spPr>
        <p:txBody>
          <a:bodyPr wrap="square" lIns="0" tIns="0" rIns="0" bIns="0" rtlCol="0" anchor="t"/>
          <a:lstStyle/>
          <a:p>
            <a:pPr indent="0" marL="0">
              <a:buNone/>
            </a:pPr>
            <a:r>
              <a:rPr lang="en-US" sz="1400" dirty="0">
                <a:solidFill>
                  <a:schemeClr val="tx1"/>
                </a:solidFill>
              </a:rPr>
              <a:t>Thread t computes its own rows of C from its rows of A and all of B. No two threads write the same entry.</a:t>
            </a:r>
            <a:endParaRPr lang="en-US" sz="1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3400" b="1" dirty="0">
                <a:solidFill>
                  <a:schemeClr val="tx1"/>
                </a:solidFill>
              </a:rPr>
              <a:t>Why small inputs get slower</a:t>
            </a:r>
            <a:endParaRPr lang="en-US" sz="3400" dirty="0"/>
          </a:p>
        </p:txBody>
      </p:sp>
      <p:sp>
        <p:nvSpPr>
          <p:cNvPr id="3" name="Large heading"/>
          <p:cNvSpPr txBox="1"/>
          <p:nvPr/>
        </p:nvSpPr>
        <p:spPr>
          <a:xfrm>
            <a:off x="457200" y="1097280"/>
            <a:ext cx="8229600" cy="256032"/>
          </a:xfrm>
          <a:prstGeom prst="rect">
            <a:avLst/>
          </a:prstGeom>
          <a:noFill/>
          <a:ln/>
        </p:spPr>
        <p:txBody>
          <a:bodyPr wrap="square" lIns="0" tIns="0" rIns="0" bIns="0" rtlCol="0" anchor="t"/>
          <a:lstStyle/>
          <a:p>
            <a:pPr indent="0" marL="0">
              <a:buNone/>
            </a:pPr>
            <a:r>
              <a:rPr lang="en-US" sz="1400" b="1" dirty="0">
                <a:solidFill>
                  <a:schemeClr val="tx1"/>
                </a:solidFill>
              </a:rPr>
              <a:t>Large input: 10 million elements</a:t>
            </a:r>
            <a:endParaRPr lang="en-US" sz="1400" dirty="0"/>
          </a:p>
        </p:txBody>
      </p:sp>
      <p:sp>
        <p:nvSpPr>
          <p:cNvPr id="4" name="Large serial label"/>
          <p:cNvSpPr txBox="1"/>
          <p:nvPr/>
        </p:nvSpPr>
        <p:spPr>
          <a:xfrm>
            <a:off x="457200" y="1417320"/>
            <a:ext cx="1188720" cy="182880"/>
          </a:xfrm>
          <a:prstGeom prst="rect">
            <a:avLst/>
          </a:prstGeom>
          <a:noFill/>
          <a:ln/>
        </p:spPr>
        <p:txBody>
          <a:bodyPr wrap="square" lIns="0" tIns="0" rIns="0" bIns="0" rtlCol="0" anchor="t"/>
          <a:lstStyle/>
          <a:p>
            <a:pPr indent="0" marL="0">
              <a:buNone/>
            </a:pPr>
            <a:r>
              <a:rPr lang="en-US" sz="1200" dirty="0">
                <a:solidFill>
                  <a:schemeClr val="tx1"/>
                </a:solidFill>
              </a:rPr>
              <a:t>sequential</a:t>
            </a:r>
            <a:endParaRPr lang="en-US" sz="1200" dirty="0"/>
          </a:p>
        </p:txBody>
      </p:sp>
      <p:sp>
        <p:nvSpPr>
          <p:cNvPr id="5" name="Large serial bar"/>
          <p:cNvSpPr/>
          <p:nvPr/>
        </p:nvSpPr>
        <p:spPr>
          <a:xfrm>
            <a:off x="1737360" y="1426464"/>
            <a:ext cx="6583680" cy="182880"/>
          </a:xfrm>
          <a:prstGeom prst="rect">
            <a:avLst/>
          </a:prstGeom>
          <a:solidFill>
            <a:schemeClr val="accent6"/>
          </a:solidFill>
          <a:ln/>
        </p:spPr>
      </p:sp>
      <p:sp>
        <p:nvSpPr>
          <p:cNvPr id="6" name="Large T0 label"/>
          <p:cNvSpPr txBox="1"/>
          <p:nvPr/>
        </p:nvSpPr>
        <p:spPr>
          <a:xfrm>
            <a:off x="457200" y="1655064"/>
            <a:ext cx="1188720" cy="182880"/>
          </a:xfrm>
          <a:prstGeom prst="rect">
            <a:avLst/>
          </a:prstGeom>
          <a:noFill/>
          <a:ln/>
        </p:spPr>
        <p:txBody>
          <a:bodyPr wrap="square" lIns="0" tIns="0" rIns="0" bIns="0" rtlCol="0" anchor="t"/>
          <a:lstStyle/>
          <a:p>
            <a:pPr indent="0" marL="0">
              <a:buNone/>
            </a:pPr>
            <a:r>
              <a:rPr lang="en-US" sz="1200" dirty="0">
                <a:solidFill>
                  <a:schemeClr val="tx1"/>
                </a:solidFill>
              </a:rPr>
              <a:t>thread 0</a:t>
            </a:r>
            <a:endParaRPr lang="en-US" sz="1200" dirty="0"/>
          </a:p>
        </p:txBody>
      </p:sp>
      <p:sp>
        <p:nvSpPr>
          <p:cNvPr id="7" name="Large T0 wake"/>
          <p:cNvSpPr/>
          <p:nvPr/>
        </p:nvSpPr>
        <p:spPr>
          <a:xfrm>
            <a:off x="1737360" y="1664208"/>
            <a:ext cx="457200" cy="182880"/>
          </a:xfrm>
          <a:prstGeom prst="rect">
            <a:avLst/>
          </a:prstGeom>
          <a:solidFill>
            <a:schemeClr val="tx1"/>
          </a:solidFill>
          <a:ln/>
        </p:spPr>
      </p:sp>
      <p:sp>
        <p:nvSpPr>
          <p:cNvPr id="8" name="Large T0 work"/>
          <p:cNvSpPr/>
          <p:nvPr/>
        </p:nvSpPr>
        <p:spPr>
          <a:xfrm>
            <a:off x="2194560" y="1664208"/>
            <a:ext cx="1188720" cy="182880"/>
          </a:xfrm>
          <a:prstGeom prst="rect">
            <a:avLst/>
          </a:prstGeom>
          <a:solidFill>
            <a:schemeClr val="accent1"/>
          </a:solidFill>
          <a:ln/>
        </p:spPr>
      </p:sp>
      <p:sp>
        <p:nvSpPr>
          <p:cNvPr id="9" name="Large T1 label"/>
          <p:cNvSpPr txBox="1"/>
          <p:nvPr/>
        </p:nvSpPr>
        <p:spPr>
          <a:xfrm>
            <a:off x="457200" y="1892808"/>
            <a:ext cx="1188720" cy="182880"/>
          </a:xfrm>
          <a:prstGeom prst="rect">
            <a:avLst/>
          </a:prstGeom>
          <a:noFill/>
          <a:ln/>
        </p:spPr>
        <p:txBody>
          <a:bodyPr wrap="square" lIns="0" tIns="0" rIns="0" bIns="0" rtlCol="0" anchor="t"/>
          <a:lstStyle/>
          <a:p>
            <a:pPr indent="0" marL="0">
              <a:buNone/>
            </a:pPr>
            <a:r>
              <a:rPr lang="en-US" sz="1200" dirty="0">
                <a:solidFill>
                  <a:schemeClr val="tx1"/>
                </a:solidFill>
              </a:rPr>
              <a:t>thread 1</a:t>
            </a:r>
            <a:endParaRPr lang="en-US" sz="1200" dirty="0"/>
          </a:p>
        </p:txBody>
      </p:sp>
      <p:sp>
        <p:nvSpPr>
          <p:cNvPr id="10" name="Large T1 wake"/>
          <p:cNvSpPr/>
          <p:nvPr/>
        </p:nvSpPr>
        <p:spPr>
          <a:xfrm>
            <a:off x="1737360" y="1901952"/>
            <a:ext cx="457200" cy="182880"/>
          </a:xfrm>
          <a:prstGeom prst="rect">
            <a:avLst/>
          </a:prstGeom>
          <a:solidFill>
            <a:schemeClr val="tx1"/>
          </a:solidFill>
          <a:ln/>
        </p:spPr>
      </p:sp>
      <p:sp>
        <p:nvSpPr>
          <p:cNvPr id="11" name="Large T1 work"/>
          <p:cNvSpPr/>
          <p:nvPr/>
        </p:nvSpPr>
        <p:spPr>
          <a:xfrm>
            <a:off x="2194560" y="1901952"/>
            <a:ext cx="1188720" cy="182880"/>
          </a:xfrm>
          <a:prstGeom prst="rect">
            <a:avLst/>
          </a:prstGeom>
          <a:solidFill>
            <a:schemeClr val="accent2"/>
          </a:solidFill>
          <a:ln/>
        </p:spPr>
      </p:sp>
      <p:sp>
        <p:nvSpPr>
          <p:cNvPr id="12" name="Large T2 label"/>
          <p:cNvSpPr txBox="1"/>
          <p:nvPr/>
        </p:nvSpPr>
        <p:spPr>
          <a:xfrm>
            <a:off x="457200" y="2130552"/>
            <a:ext cx="1188720" cy="182880"/>
          </a:xfrm>
          <a:prstGeom prst="rect">
            <a:avLst/>
          </a:prstGeom>
          <a:noFill/>
          <a:ln/>
        </p:spPr>
        <p:txBody>
          <a:bodyPr wrap="square" lIns="0" tIns="0" rIns="0" bIns="0" rtlCol="0" anchor="t"/>
          <a:lstStyle/>
          <a:p>
            <a:pPr indent="0" marL="0">
              <a:buNone/>
            </a:pPr>
            <a:r>
              <a:rPr lang="en-US" sz="1200" dirty="0">
                <a:solidFill>
                  <a:schemeClr val="tx1"/>
                </a:solidFill>
              </a:rPr>
              <a:t>thread 2</a:t>
            </a:r>
            <a:endParaRPr lang="en-US" sz="1200" dirty="0"/>
          </a:p>
        </p:txBody>
      </p:sp>
      <p:sp>
        <p:nvSpPr>
          <p:cNvPr id="13" name="Large T2 wake"/>
          <p:cNvSpPr/>
          <p:nvPr/>
        </p:nvSpPr>
        <p:spPr>
          <a:xfrm>
            <a:off x="1737360" y="2139696"/>
            <a:ext cx="457200" cy="182880"/>
          </a:xfrm>
          <a:prstGeom prst="rect">
            <a:avLst/>
          </a:prstGeom>
          <a:solidFill>
            <a:schemeClr val="tx1"/>
          </a:solidFill>
          <a:ln/>
        </p:spPr>
      </p:sp>
      <p:sp>
        <p:nvSpPr>
          <p:cNvPr id="14" name="Large T2 work"/>
          <p:cNvSpPr/>
          <p:nvPr/>
        </p:nvSpPr>
        <p:spPr>
          <a:xfrm>
            <a:off x="2194560" y="2139696"/>
            <a:ext cx="1188720" cy="182880"/>
          </a:xfrm>
          <a:prstGeom prst="rect">
            <a:avLst/>
          </a:prstGeom>
          <a:solidFill>
            <a:schemeClr val="accent3"/>
          </a:solidFill>
          <a:ln/>
        </p:spPr>
      </p:sp>
      <p:sp>
        <p:nvSpPr>
          <p:cNvPr id="15" name="Large T3 label"/>
          <p:cNvSpPr txBox="1"/>
          <p:nvPr/>
        </p:nvSpPr>
        <p:spPr>
          <a:xfrm>
            <a:off x="457200" y="2368296"/>
            <a:ext cx="1188720" cy="182880"/>
          </a:xfrm>
          <a:prstGeom prst="rect">
            <a:avLst/>
          </a:prstGeom>
          <a:noFill/>
          <a:ln/>
        </p:spPr>
        <p:txBody>
          <a:bodyPr wrap="square" lIns="0" tIns="0" rIns="0" bIns="0" rtlCol="0" anchor="t"/>
          <a:lstStyle/>
          <a:p>
            <a:pPr indent="0" marL="0">
              <a:buNone/>
            </a:pPr>
            <a:r>
              <a:rPr lang="en-US" sz="1200" dirty="0">
                <a:solidFill>
                  <a:schemeClr val="tx1"/>
                </a:solidFill>
              </a:rPr>
              <a:t>thread 3</a:t>
            </a:r>
            <a:endParaRPr lang="en-US" sz="1200" dirty="0"/>
          </a:p>
        </p:txBody>
      </p:sp>
      <p:sp>
        <p:nvSpPr>
          <p:cNvPr id="16" name="Large T3 wake"/>
          <p:cNvSpPr/>
          <p:nvPr/>
        </p:nvSpPr>
        <p:spPr>
          <a:xfrm>
            <a:off x="1737360" y="2377440"/>
            <a:ext cx="457200" cy="182880"/>
          </a:xfrm>
          <a:prstGeom prst="rect">
            <a:avLst/>
          </a:prstGeom>
          <a:solidFill>
            <a:schemeClr val="tx1"/>
          </a:solidFill>
          <a:ln/>
        </p:spPr>
      </p:sp>
      <p:sp>
        <p:nvSpPr>
          <p:cNvPr id="17" name="Large T3 work"/>
          <p:cNvSpPr/>
          <p:nvPr/>
        </p:nvSpPr>
        <p:spPr>
          <a:xfrm>
            <a:off x="2194560" y="2377440"/>
            <a:ext cx="1188720" cy="182880"/>
          </a:xfrm>
          <a:prstGeom prst="rect">
            <a:avLst/>
          </a:prstGeom>
          <a:solidFill>
            <a:schemeClr val="accent4"/>
          </a:solidFill>
          <a:ln/>
        </p:spPr>
      </p:sp>
      <p:sp>
        <p:nvSpPr>
          <p:cNvPr id="18" name="Large note"/>
          <p:cNvSpPr txBox="1"/>
          <p:nvPr/>
        </p:nvSpPr>
        <p:spPr>
          <a:xfrm>
            <a:off x="3657600" y="1783080"/>
            <a:ext cx="5029200" cy="640080"/>
          </a:xfrm>
          <a:prstGeom prst="rect">
            <a:avLst/>
          </a:prstGeom>
          <a:noFill/>
          <a:ln/>
        </p:spPr>
        <p:txBody>
          <a:bodyPr wrap="square" lIns="0" tIns="0" rIns="0" bIns="0" rtlCol="0" anchor="ctr"/>
          <a:lstStyle/>
          <a:p>
            <a:pPr indent="0" marL="0">
              <a:buNone/>
            </a:pPr>
            <a:r>
              <a:rPr lang="en-US" sz="1400" dirty="0">
                <a:solidFill>
                  <a:schemeClr val="tx1"/>
                </a:solidFill>
              </a:rPr>
              <a:t>Best case: four threads finish in about a quarter of the time. Memory-bound ops gain less (next slide).</a:t>
            </a:r>
            <a:endParaRPr lang="en-US" sz="1400" dirty="0"/>
          </a:p>
        </p:txBody>
      </p:sp>
      <p:sp>
        <p:nvSpPr>
          <p:cNvPr id="19" name="Small heading"/>
          <p:cNvSpPr txBox="1"/>
          <p:nvPr/>
        </p:nvSpPr>
        <p:spPr>
          <a:xfrm>
            <a:off x="457200" y="2788920"/>
            <a:ext cx="8229600" cy="256032"/>
          </a:xfrm>
          <a:prstGeom prst="rect">
            <a:avLst/>
          </a:prstGeom>
          <a:noFill/>
          <a:ln/>
        </p:spPr>
        <p:txBody>
          <a:bodyPr wrap="square" lIns="0" tIns="0" rIns="0" bIns="0" rtlCol="0" anchor="t"/>
          <a:lstStyle/>
          <a:p>
            <a:pPr indent="0" marL="0">
              <a:buNone/>
            </a:pPr>
            <a:r>
              <a:rPr lang="en-US" sz="1400" b="1" dirty="0">
                <a:solidFill>
                  <a:schemeClr val="tx1"/>
                </a:solidFill>
              </a:rPr>
              <a:t>Small input: 100 thousand elements</a:t>
            </a:r>
            <a:endParaRPr lang="en-US" sz="1400" dirty="0"/>
          </a:p>
        </p:txBody>
      </p:sp>
      <p:sp>
        <p:nvSpPr>
          <p:cNvPr id="20" name="Small serial label"/>
          <p:cNvSpPr txBox="1"/>
          <p:nvPr/>
        </p:nvSpPr>
        <p:spPr>
          <a:xfrm>
            <a:off x="457200" y="3108960"/>
            <a:ext cx="1188720" cy="182880"/>
          </a:xfrm>
          <a:prstGeom prst="rect">
            <a:avLst/>
          </a:prstGeom>
          <a:noFill/>
          <a:ln/>
        </p:spPr>
        <p:txBody>
          <a:bodyPr wrap="square" lIns="0" tIns="0" rIns="0" bIns="0" rtlCol="0" anchor="t"/>
          <a:lstStyle/>
          <a:p>
            <a:pPr indent="0" marL="0">
              <a:buNone/>
            </a:pPr>
            <a:r>
              <a:rPr lang="en-US" sz="1200" dirty="0">
                <a:solidFill>
                  <a:schemeClr val="tx1"/>
                </a:solidFill>
              </a:rPr>
              <a:t>sequential</a:t>
            </a:r>
            <a:endParaRPr lang="en-US" sz="1200" dirty="0"/>
          </a:p>
        </p:txBody>
      </p:sp>
      <p:sp>
        <p:nvSpPr>
          <p:cNvPr id="21" name="Small serial bar"/>
          <p:cNvSpPr/>
          <p:nvPr/>
        </p:nvSpPr>
        <p:spPr>
          <a:xfrm>
            <a:off x="1737360" y="3118104"/>
            <a:ext cx="914400" cy="182880"/>
          </a:xfrm>
          <a:prstGeom prst="rect">
            <a:avLst/>
          </a:prstGeom>
          <a:solidFill>
            <a:schemeClr val="accent6"/>
          </a:solidFill>
          <a:ln/>
        </p:spPr>
      </p:sp>
      <p:sp>
        <p:nvSpPr>
          <p:cNvPr id="22" name="Small T0 label"/>
          <p:cNvSpPr txBox="1"/>
          <p:nvPr/>
        </p:nvSpPr>
        <p:spPr>
          <a:xfrm>
            <a:off x="457200" y="3346704"/>
            <a:ext cx="1188720" cy="182880"/>
          </a:xfrm>
          <a:prstGeom prst="rect">
            <a:avLst/>
          </a:prstGeom>
          <a:noFill/>
          <a:ln/>
        </p:spPr>
        <p:txBody>
          <a:bodyPr wrap="square" lIns="0" tIns="0" rIns="0" bIns="0" rtlCol="0" anchor="t"/>
          <a:lstStyle/>
          <a:p>
            <a:pPr indent="0" marL="0">
              <a:buNone/>
            </a:pPr>
            <a:r>
              <a:rPr lang="en-US" sz="1200" dirty="0">
                <a:solidFill>
                  <a:schemeClr val="tx1"/>
                </a:solidFill>
              </a:rPr>
              <a:t>thread 0</a:t>
            </a:r>
            <a:endParaRPr lang="en-US" sz="1200" dirty="0"/>
          </a:p>
        </p:txBody>
      </p:sp>
      <p:sp>
        <p:nvSpPr>
          <p:cNvPr id="23" name="Small T0 wake"/>
          <p:cNvSpPr/>
          <p:nvPr/>
        </p:nvSpPr>
        <p:spPr>
          <a:xfrm>
            <a:off x="1737360" y="3355848"/>
            <a:ext cx="1828800" cy="182880"/>
          </a:xfrm>
          <a:prstGeom prst="rect">
            <a:avLst/>
          </a:prstGeom>
          <a:solidFill>
            <a:schemeClr val="tx1"/>
          </a:solidFill>
          <a:ln/>
        </p:spPr>
      </p:sp>
      <p:sp>
        <p:nvSpPr>
          <p:cNvPr id="24" name="Small T0 work"/>
          <p:cNvSpPr/>
          <p:nvPr/>
        </p:nvSpPr>
        <p:spPr>
          <a:xfrm>
            <a:off x="3566160" y="3355848"/>
            <a:ext cx="228600" cy="182880"/>
          </a:xfrm>
          <a:prstGeom prst="rect">
            <a:avLst/>
          </a:prstGeom>
          <a:solidFill>
            <a:schemeClr val="accent1"/>
          </a:solidFill>
          <a:ln/>
        </p:spPr>
      </p:sp>
      <p:sp>
        <p:nvSpPr>
          <p:cNvPr id="25" name="Small T1 label"/>
          <p:cNvSpPr txBox="1"/>
          <p:nvPr/>
        </p:nvSpPr>
        <p:spPr>
          <a:xfrm>
            <a:off x="457200" y="3584448"/>
            <a:ext cx="1188720" cy="182880"/>
          </a:xfrm>
          <a:prstGeom prst="rect">
            <a:avLst/>
          </a:prstGeom>
          <a:noFill/>
          <a:ln/>
        </p:spPr>
        <p:txBody>
          <a:bodyPr wrap="square" lIns="0" tIns="0" rIns="0" bIns="0" rtlCol="0" anchor="t"/>
          <a:lstStyle/>
          <a:p>
            <a:pPr indent="0" marL="0">
              <a:buNone/>
            </a:pPr>
            <a:r>
              <a:rPr lang="en-US" sz="1200" dirty="0">
                <a:solidFill>
                  <a:schemeClr val="tx1"/>
                </a:solidFill>
              </a:rPr>
              <a:t>thread 1</a:t>
            </a:r>
            <a:endParaRPr lang="en-US" sz="1200" dirty="0"/>
          </a:p>
        </p:txBody>
      </p:sp>
      <p:sp>
        <p:nvSpPr>
          <p:cNvPr id="26" name="Small T1 wake"/>
          <p:cNvSpPr/>
          <p:nvPr/>
        </p:nvSpPr>
        <p:spPr>
          <a:xfrm>
            <a:off x="1737360" y="3593592"/>
            <a:ext cx="1828800" cy="182880"/>
          </a:xfrm>
          <a:prstGeom prst="rect">
            <a:avLst/>
          </a:prstGeom>
          <a:solidFill>
            <a:schemeClr val="tx1"/>
          </a:solidFill>
          <a:ln/>
        </p:spPr>
      </p:sp>
      <p:sp>
        <p:nvSpPr>
          <p:cNvPr id="27" name="Small T1 work"/>
          <p:cNvSpPr/>
          <p:nvPr/>
        </p:nvSpPr>
        <p:spPr>
          <a:xfrm>
            <a:off x="3566160" y="3593592"/>
            <a:ext cx="228600" cy="182880"/>
          </a:xfrm>
          <a:prstGeom prst="rect">
            <a:avLst/>
          </a:prstGeom>
          <a:solidFill>
            <a:schemeClr val="accent2"/>
          </a:solidFill>
          <a:ln/>
        </p:spPr>
      </p:sp>
      <p:sp>
        <p:nvSpPr>
          <p:cNvPr id="28" name="Small T2 label"/>
          <p:cNvSpPr txBox="1"/>
          <p:nvPr/>
        </p:nvSpPr>
        <p:spPr>
          <a:xfrm>
            <a:off x="457200" y="3822192"/>
            <a:ext cx="1188720" cy="182880"/>
          </a:xfrm>
          <a:prstGeom prst="rect">
            <a:avLst/>
          </a:prstGeom>
          <a:noFill/>
          <a:ln/>
        </p:spPr>
        <p:txBody>
          <a:bodyPr wrap="square" lIns="0" tIns="0" rIns="0" bIns="0" rtlCol="0" anchor="t"/>
          <a:lstStyle/>
          <a:p>
            <a:pPr indent="0" marL="0">
              <a:buNone/>
            </a:pPr>
            <a:r>
              <a:rPr lang="en-US" sz="1200" dirty="0">
                <a:solidFill>
                  <a:schemeClr val="tx1"/>
                </a:solidFill>
              </a:rPr>
              <a:t>thread 2</a:t>
            </a:r>
            <a:endParaRPr lang="en-US" sz="1200" dirty="0"/>
          </a:p>
        </p:txBody>
      </p:sp>
      <p:sp>
        <p:nvSpPr>
          <p:cNvPr id="29" name="Small T2 wake"/>
          <p:cNvSpPr/>
          <p:nvPr/>
        </p:nvSpPr>
        <p:spPr>
          <a:xfrm>
            <a:off x="1737360" y="3831336"/>
            <a:ext cx="1828800" cy="182880"/>
          </a:xfrm>
          <a:prstGeom prst="rect">
            <a:avLst/>
          </a:prstGeom>
          <a:solidFill>
            <a:schemeClr val="tx1"/>
          </a:solidFill>
          <a:ln/>
        </p:spPr>
      </p:sp>
      <p:sp>
        <p:nvSpPr>
          <p:cNvPr id="30" name="Small T2 work"/>
          <p:cNvSpPr/>
          <p:nvPr/>
        </p:nvSpPr>
        <p:spPr>
          <a:xfrm>
            <a:off x="3566160" y="3831336"/>
            <a:ext cx="228600" cy="182880"/>
          </a:xfrm>
          <a:prstGeom prst="rect">
            <a:avLst/>
          </a:prstGeom>
          <a:solidFill>
            <a:schemeClr val="accent3"/>
          </a:solidFill>
          <a:ln/>
        </p:spPr>
      </p:sp>
      <p:sp>
        <p:nvSpPr>
          <p:cNvPr id="31" name="Small T3 label"/>
          <p:cNvSpPr txBox="1"/>
          <p:nvPr/>
        </p:nvSpPr>
        <p:spPr>
          <a:xfrm>
            <a:off x="457200" y="4059936"/>
            <a:ext cx="1188720" cy="182880"/>
          </a:xfrm>
          <a:prstGeom prst="rect">
            <a:avLst/>
          </a:prstGeom>
          <a:noFill/>
          <a:ln/>
        </p:spPr>
        <p:txBody>
          <a:bodyPr wrap="square" lIns="0" tIns="0" rIns="0" bIns="0" rtlCol="0" anchor="t"/>
          <a:lstStyle/>
          <a:p>
            <a:pPr indent="0" marL="0">
              <a:buNone/>
            </a:pPr>
            <a:r>
              <a:rPr lang="en-US" sz="1200" dirty="0">
                <a:solidFill>
                  <a:schemeClr val="tx1"/>
                </a:solidFill>
              </a:rPr>
              <a:t>thread 3</a:t>
            </a:r>
            <a:endParaRPr lang="en-US" sz="1200" dirty="0"/>
          </a:p>
        </p:txBody>
      </p:sp>
      <p:sp>
        <p:nvSpPr>
          <p:cNvPr id="32" name="Small T3 wake"/>
          <p:cNvSpPr/>
          <p:nvPr/>
        </p:nvSpPr>
        <p:spPr>
          <a:xfrm>
            <a:off x="1737360" y="4069080"/>
            <a:ext cx="1828800" cy="182880"/>
          </a:xfrm>
          <a:prstGeom prst="rect">
            <a:avLst/>
          </a:prstGeom>
          <a:solidFill>
            <a:schemeClr val="tx1"/>
          </a:solidFill>
          <a:ln/>
        </p:spPr>
      </p:sp>
      <p:sp>
        <p:nvSpPr>
          <p:cNvPr id="33" name="Small T3 work"/>
          <p:cNvSpPr/>
          <p:nvPr/>
        </p:nvSpPr>
        <p:spPr>
          <a:xfrm>
            <a:off x="3566160" y="4069080"/>
            <a:ext cx="228600" cy="182880"/>
          </a:xfrm>
          <a:prstGeom prst="rect">
            <a:avLst/>
          </a:prstGeom>
          <a:solidFill>
            <a:schemeClr val="accent4"/>
          </a:solidFill>
          <a:ln/>
        </p:spPr>
      </p:sp>
      <p:sp>
        <p:nvSpPr>
          <p:cNvPr id="34" name="Small note"/>
          <p:cNvSpPr txBox="1"/>
          <p:nvPr/>
        </p:nvSpPr>
        <p:spPr>
          <a:xfrm>
            <a:off x="4069080" y="3474720"/>
            <a:ext cx="4617720" cy="640080"/>
          </a:xfrm>
          <a:prstGeom prst="rect">
            <a:avLst/>
          </a:prstGeom>
          <a:noFill/>
          <a:ln/>
        </p:spPr>
        <p:txBody>
          <a:bodyPr wrap="square" lIns="0" tIns="0" rIns="0" bIns="0" rtlCol="0" anchor="ctr"/>
          <a:lstStyle/>
          <a:p>
            <a:pPr indent="0" marL="0">
              <a:buNone/>
            </a:pPr>
            <a:r>
              <a:rPr lang="en-US" sz="1400" dirty="0">
                <a:solidFill>
                  <a:schemeClr val="tx1"/>
                </a:solidFill>
              </a:rPr>
              <a:t>Waking the threads costs more than the work saves.</a:t>
            </a:r>
            <a:endParaRPr lang="en-US" sz="1400" dirty="0"/>
          </a:p>
        </p:txBody>
      </p:sp>
      <p:sp>
        <p:nvSpPr>
          <p:cNvPr id="35" name="Legend wake"/>
          <p:cNvSpPr/>
          <p:nvPr/>
        </p:nvSpPr>
        <p:spPr>
          <a:xfrm>
            <a:off x="457200" y="4434840"/>
            <a:ext cx="164592" cy="164592"/>
          </a:xfrm>
          <a:prstGeom prst="rect">
            <a:avLst/>
          </a:prstGeom>
          <a:solidFill>
            <a:schemeClr val="tx1"/>
          </a:solidFill>
          <a:ln/>
        </p:spPr>
      </p:sp>
      <p:sp>
        <p:nvSpPr>
          <p:cNvPr id="36" name="Legend wake label"/>
          <p:cNvSpPr txBox="1"/>
          <p:nvPr/>
        </p:nvSpPr>
        <p:spPr>
          <a:xfrm>
            <a:off x="713232" y="4407408"/>
            <a:ext cx="2743200" cy="219456"/>
          </a:xfrm>
          <a:prstGeom prst="rect">
            <a:avLst/>
          </a:prstGeom>
          <a:noFill/>
          <a:ln/>
        </p:spPr>
        <p:txBody>
          <a:bodyPr wrap="square" lIns="0" tIns="0" rIns="0" bIns="0" rtlCol="0" anchor="t"/>
          <a:lstStyle/>
          <a:p>
            <a:pPr indent="0" marL="0">
              <a:buNone/>
            </a:pPr>
            <a:r>
              <a:rPr lang="en-US" sz="1200" dirty="0">
                <a:solidFill>
                  <a:schemeClr val="tx1"/>
                </a:solidFill>
              </a:rPr>
              <a:t>waking the threads (overhead)</a:t>
            </a:r>
            <a:endParaRPr lang="en-US" sz="1200" dirty="0"/>
          </a:p>
        </p:txBody>
      </p:sp>
      <p:sp>
        <p:nvSpPr>
          <p:cNvPr id="37" name="Legend work"/>
          <p:cNvSpPr/>
          <p:nvPr/>
        </p:nvSpPr>
        <p:spPr>
          <a:xfrm>
            <a:off x="3566160" y="4434840"/>
            <a:ext cx="164592" cy="164592"/>
          </a:xfrm>
          <a:prstGeom prst="rect">
            <a:avLst/>
          </a:prstGeom>
          <a:solidFill>
            <a:schemeClr val="accent1"/>
          </a:solidFill>
          <a:ln/>
        </p:spPr>
      </p:sp>
      <p:sp>
        <p:nvSpPr>
          <p:cNvPr id="38" name="Legend work label"/>
          <p:cNvSpPr txBox="1"/>
          <p:nvPr/>
        </p:nvSpPr>
        <p:spPr>
          <a:xfrm>
            <a:off x="3822192" y="4407408"/>
            <a:ext cx="2194560" cy="219456"/>
          </a:xfrm>
          <a:prstGeom prst="rect">
            <a:avLst/>
          </a:prstGeom>
          <a:noFill/>
          <a:ln/>
        </p:spPr>
        <p:txBody>
          <a:bodyPr wrap="square" lIns="0" tIns="0" rIns="0" bIns="0" rtlCol="0" anchor="t"/>
          <a:lstStyle/>
          <a:p>
            <a:pPr indent="0" marL="0">
              <a:buNone/>
            </a:pPr>
            <a:r>
              <a:rPr lang="en-US" sz="1200" dirty="0">
                <a:solidFill>
                  <a:schemeClr val="tx1"/>
                </a:solidFill>
              </a:rPr>
              <a:t>work (colour = thread)</a:t>
            </a:r>
            <a:endParaRPr lang="en-US" sz="1200" dirty="0"/>
          </a:p>
        </p:txBody>
      </p:sp>
      <p:sp>
        <p:nvSpPr>
          <p:cNvPr id="39" name="Scale note"/>
          <p:cNvSpPr txBox="1"/>
          <p:nvPr/>
        </p:nvSpPr>
        <p:spPr>
          <a:xfrm>
            <a:off x="6126480" y="4407408"/>
            <a:ext cx="2011680" cy="219456"/>
          </a:xfrm>
          <a:prstGeom prst="rect">
            <a:avLst/>
          </a:prstGeom>
          <a:noFill/>
          <a:ln/>
        </p:spPr>
        <p:txBody>
          <a:bodyPr wrap="square" lIns="0" tIns="0" rIns="0" bIns="0" rtlCol="0" anchor="t"/>
          <a:lstStyle/>
          <a:p>
            <a:pPr algn="r" indent="0" marL="0">
              <a:buNone/>
            </a:pPr>
            <a:r>
              <a:rPr lang="en-US" sz="1200" dirty="0">
                <a:solidFill>
                  <a:schemeClr val="tx2"/>
                </a:solidFill>
              </a:rPr>
              <a:t>Illustrative, not to scale</a:t>
            </a:r>
            <a:endParaRPr lang="en-US" sz="12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3400" b="1" dirty="0">
                <a:solidFill>
                  <a:schemeClr val="tx1"/>
                </a:solidFill>
              </a:rPr>
              <a:t>Sequential vs parallel</a:t>
            </a:r>
            <a:endParaRPr lang="en-US" sz="3400" dirty="0"/>
          </a:p>
        </p:txBody>
      </p:sp>
      <p:graphicFrame>
        <p:nvGraphicFramePr>
          <p:cNvPr id="3" name="10 million elements: speed-up" descr=""/>
          <p:cNvGraphicFramePr/>
          <p:nvPr/>
        </p:nvGraphicFramePr>
        <p:xfrm>
          <a:off x="457200" y="1143000"/>
          <a:ext cx="4023360" cy="2926080"/>
        </p:xfrm>
        <a:graphic xmlns:a="http://schemas.openxmlformats.org/drawingml/2006/main">
          <a:graphicData uri="http://schemas.openxmlformats.org/drawingml/2006/chart">
            <c:chart xmlns:c="http://schemas.openxmlformats.org/drawingml/2006/chart" r:id="rId1"/>
          </a:graphicData>
        </a:graphic>
      </p:graphicFrame>
      <p:graphicFrame>
        <p:nvGraphicFramePr>
          <p:cNvPr id="4" name="100,000 elements: speed-up" descr=""/>
          <p:cNvGraphicFramePr/>
          <p:nvPr/>
        </p:nvGraphicFramePr>
        <p:xfrm>
          <a:off x="4663440" y="1143000"/>
          <a:ext cx="4023360" cy="2926080"/>
        </p:xfrm>
        <a:graphic xmlns:a="http://schemas.openxmlformats.org/drawingml/2006/main">
          <a:graphicData uri="http://schemas.openxmlformats.org/drawingml/2006/chart">
            <c:chart xmlns:c="http://schemas.openxmlformats.org/drawingml/2006/chart" r:id="rId2"/>
          </a:graphicData>
        </a:graphic>
      </p:graphicFrame>
      <p:sp>
        <p:nvSpPr>
          <p:cNvPr id="5" name="Chart 1 takeaway"/>
          <p:cNvSpPr txBox="1"/>
          <p:nvPr/>
        </p:nvSpPr>
        <p:spPr>
          <a:xfrm>
            <a:off x="457200" y="4114800"/>
            <a:ext cx="4023360" cy="502920"/>
          </a:xfrm>
          <a:prstGeom prst="rect">
            <a:avLst/>
          </a:prstGeom>
          <a:noFill/>
          <a:ln/>
        </p:spPr>
        <p:txBody>
          <a:bodyPr wrap="square" lIns="0" tIns="0" rIns="0" bIns="0" rtlCol="0" anchor="t"/>
          <a:lstStyle/>
          <a:p>
            <a:pPr indent="0" marL="0">
              <a:buNone/>
            </a:pPr>
            <a:r>
              <a:rPr lang="en-US" sz="1400" dirty="0">
                <a:solidFill>
                  <a:schemeClr val="tx1"/>
                </a:solidFill>
              </a:rPr>
              <a:t>dot scales with threads. add and mul stay near 1x: they are limited by memory.</a:t>
            </a:r>
            <a:endParaRPr lang="en-US" sz="1400" dirty="0"/>
          </a:p>
        </p:txBody>
      </p:sp>
      <p:sp>
        <p:nvSpPr>
          <p:cNvPr id="6" name="Chart 2 takeaway"/>
          <p:cNvSpPr txBox="1"/>
          <p:nvPr/>
        </p:nvSpPr>
        <p:spPr>
          <a:xfrm>
            <a:off x="4663440" y="4114800"/>
            <a:ext cx="4023360" cy="502920"/>
          </a:xfrm>
          <a:prstGeom prst="rect">
            <a:avLst/>
          </a:prstGeom>
          <a:noFill/>
          <a:ln/>
        </p:spPr>
        <p:txBody>
          <a:bodyPr wrap="square" lIns="0" tIns="0" rIns="0" bIns="0" rtlCol="0" anchor="t"/>
          <a:lstStyle/>
          <a:p>
            <a:pPr indent="0" marL="0">
              <a:buNone/>
            </a:pPr>
            <a:r>
              <a:rPr lang="en-US" sz="1400" dirty="0">
                <a:solidFill>
                  <a:schemeClr val="tx1"/>
                </a:solidFill>
              </a:rPr>
              <a:t>With 2 or more threads, add and mul are slower than sequential at this size.</a:t>
            </a:r>
            <a:endParaRPr lang="en-US" sz="1400" dirty="0"/>
          </a:p>
        </p:txBody>
      </p:sp>
      <p:sp>
        <p:nvSpPr>
          <p:cNvPr id="7" name="Footnote"/>
          <p:cNvSpPr txBox="1"/>
          <p:nvPr/>
        </p:nvSpPr>
        <p:spPr>
          <a:xfrm>
            <a:off x="457200" y="4727448"/>
            <a:ext cx="7680960" cy="274320"/>
          </a:xfrm>
          <a:prstGeom prst="rect">
            <a:avLst/>
          </a:prstGeom>
          <a:noFill/>
          <a:ln/>
        </p:spPr>
        <p:txBody>
          <a:bodyPr wrap="square" lIns="0" tIns="0" rIns="0" bIns="0" rtlCol="0" anchor="t"/>
          <a:lstStyle/>
          <a:p>
            <a:pPr indent="0" marL="0">
              <a:buNone/>
            </a:pPr>
            <a:r>
              <a:rPr lang="en-US" sz="1000" dirty="0">
                <a:solidFill>
                  <a:schemeClr val="tx2"/>
                </a:solidFill>
              </a:rPr>
              <a:t>Speed-up = sequential time / parallel time. Average of two laptop runs (i7-10510U, GCC 16.1), on battery: expect 30 % noise.</a:t>
            </a:r>
            <a:endParaRPr lang="en-US" sz="10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3400" b="1" dirty="0">
                <a:solidFill>
                  <a:schemeClr val="tx1"/>
                </a:solidFill>
              </a:rPr>
              <a:t>Matrix multiplication: speed</a:t>
            </a:r>
            <a:endParaRPr lang="en-US" sz="3400" dirty="0"/>
          </a:p>
        </p:txBody>
      </p:sp>
      <p:graphicFrame>
        <p:nvGraphicFramePr>
          <p:cNvPr id="3" name="Matmul speed chart" descr=""/>
          <p:cNvGraphicFramePr/>
          <p:nvPr/>
        </p:nvGraphicFramePr>
        <p:xfrm>
          <a:off x="457200" y="1143000"/>
          <a:ext cx="8229600" cy="2926080"/>
        </p:xfrm>
        <a:graphic xmlns:a="http://schemas.openxmlformats.org/drawingml/2006/main">
          <a:graphicData uri="http://schemas.openxmlformats.org/drawingml/2006/chart">
            <c:chart xmlns:c="http://schemas.openxmlformats.org/drawingml/2006/chart" r:id="rId1"/>
          </a:graphicData>
        </a:graphic>
      </p:graphicFrame>
      <p:sp>
        <p:nvSpPr>
          <p:cNvPr id="4" name="Matmul takeaway 1"/>
          <p:cNvSpPr txBox="1"/>
          <p:nvPr/>
        </p:nvSpPr>
        <p:spPr>
          <a:xfrm>
            <a:off x="457200" y="4114800"/>
            <a:ext cx="4023360" cy="502920"/>
          </a:xfrm>
          <a:prstGeom prst="rect">
            <a:avLst/>
          </a:prstGeom>
          <a:noFill/>
          <a:ln/>
        </p:spPr>
        <p:txBody>
          <a:bodyPr wrap="square" lIns="0" tIns="0" rIns="0" bIns="0" rtlCol="0" anchor="t"/>
          <a:lstStyle/>
          <a:p>
            <a:pPr indent="0" marL="0">
              <a:buNone/>
            </a:pPr>
            <a:r>
              <a:rPr lang="en-US" sz="1400" dirty="0">
                <a:solidFill>
                  <a:schemeClr val="tx1"/>
                </a:solidFill>
              </a:rPr>
              <a:t>Threads give 3.5 to 4.3x from n = 128. Blocking alone gives only 1.0 to 1.2x.</a:t>
            </a:r>
            <a:endParaRPr lang="en-US" sz="1400" dirty="0"/>
          </a:p>
        </p:txBody>
      </p:sp>
      <p:sp>
        <p:nvSpPr>
          <p:cNvPr id="5" name="Matmul takeaway 2"/>
          <p:cNvSpPr txBox="1"/>
          <p:nvPr/>
        </p:nvSpPr>
        <p:spPr>
          <a:xfrm>
            <a:off x="4663440" y="4114800"/>
            <a:ext cx="4023360" cy="502920"/>
          </a:xfrm>
          <a:prstGeom prst="rect">
            <a:avLst/>
          </a:prstGeom>
          <a:noFill/>
          <a:ln/>
        </p:spPr>
        <p:txBody>
          <a:bodyPr wrap="square" lIns="0" tIns="0" rIns="0" bIns="0" rtlCol="0" anchor="t"/>
          <a:lstStyle/>
          <a:p>
            <a:pPr indent="0" marL="0">
              <a:buNone/>
            </a:pPr>
            <a:r>
              <a:rPr lang="en-US" sz="1400" dirty="0">
                <a:solidFill>
                  <a:schemeClr val="tx1"/>
                </a:solidFill>
              </a:rPr>
              <a:t>Peak is 44 GFLOP/s (58 with AVX2 and FMA): the loop is limited by cache loads and stores.</a:t>
            </a:r>
            <a:endParaRPr lang="en-US" sz="1400" dirty="0"/>
          </a:p>
        </p:txBody>
      </p:sp>
      <p:sp>
        <p:nvSpPr>
          <p:cNvPr id="6" name="Matmul footnote"/>
          <p:cNvSpPr txBox="1"/>
          <p:nvPr/>
        </p:nvSpPr>
        <p:spPr>
          <a:xfrm>
            <a:off x="457200" y="4727448"/>
            <a:ext cx="7680960" cy="274320"/>
          </a:xfrm>
          <a:prstGeom prst="rect">
            <a:avLst/>
          </a:prstGeom>
          <a:noFill/>
          <a:ln/>
        </p:spPr>
        <p:txBody>
          <a:bodyPr wrap="square" lIns="0" tIns="0" rIns="0" bIns="0" rtlCol="0" anchor="t"/>
          <a:lstStyle/>
          <a:p>
            <a:pPr indent="0" marL="0">
              <a:buNone/>
            </a:pPr>
            <a:r>
              <a:rPr lang="en-US" sz="1000" dirty="0">
                <a:solidFill>
                  <a:schemeClr val="tx2"/>
                </a:solidFill>
              </a:rPr>
              <a:t>Laptop (i7-10510U, 4 cores), GCC 16.1, one run, on battery: expect 30 % noise. Desktop results pending.</a:t>
            </a:r>
            <a:endParaRPr lang="en-US" sz="10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p:nvPr>
            <p:ph idx="101"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3400" b="1" dirty="0">
                <a:solidFill>
                  <a:schemeClr val="bg1"/>
                </a:solidFill>
              </a:rPr>
              <a:t>Takeaways and next steps</a:t>
            </a:r>
            <a:endParaRPr lang="en-US" sz="3400" dirty="0"/>
          </a:p>
        </p:txBody>
      </p:sp>
      <p:sp>
        <p:nvSpPr>
          <p:cNvPr id="3" name="Stat 1"/>
          <p:cNvSpPr txBox="1"/>
          <p:nvPr/>
        </p:nvSpPr>
        <p:spPr>
          <a:xfrm>
            <a:off x="457200" y="1325880"/>
            <a:ext cx="2606040" cy="685800"/>
          </a:xfrm>
          <a:prstGeom prst="rect">
            <a:avLst/>
          </a:prstGeom>
          <a:noFill/>
          <a:ln/>
        </p:spPr>
        <p:txBody>
          <a:bodyPr wrap="square" lIns="0" tIns="0" rIns="0" bIns="0" rtlCol="0" anchor="ctr"/>
          <a:lstStyle/>
          <a:p>
            <a:pPr indent="0" marL="0">
              <a:buNone/>
            </a:pPr>
            <a:r>
              <a:rPr lang="en-US" sz="3800" b="1" dirty="0">
                <a:solidFill>
                  <a:schemeClr val="accent1"/>
                </a:solidFill>
              </a:rPr>
              <a:t>3.5–5.4×</a:t>
            </a:r>
            <a:endParaRPr lang="en-US" sz="3800" dirty="0"/>
          </a:p>
        </p:txBody>
      </p:sp>
      <p:sp>
        <p:nvSpPr>
          <p:cNvPr id="4" name="Stat 1 label"/>
          <p:cNvSpPr txBox="1"/>
          <p:nvPr/>
        </p:nvSpPr>
        <p:spPr>
          <a:xfrm>
            <a:off x="457200" y="2057400"/>
            <a:ext cx="2514600" cy="640080"/>
          </a:xfrm>
          <a:prstGeom prst="rect">
            <a:avLst/>
          </a:prstGeom>
          <a:noFill/>
          <a:ln/>
        </p:spPr>
        <p:txBody>
          <a:bodyPr wrap="square" lIns="0" tIns="0" rIns="0" bIns="0" rtlCol="0" anchor="t"/>
          <a:lstStyle/>
          <a:p>
            <a:pPr indent="0" marL="0">
              <a:buNone/>
            </a:pPr>
            <a:r>
              <a:rPr lang="en-US" sz="1400" dirty="0">
                <a:solidFill>
                  <a:schemeClr val="bg2"/>
                </a:solidFill>
              </a:rPr>
              <a:t>dot vs the sequential loop, 10M+ elements, 8 threads</a:t>
            </a:r>
            <a:endParaRPr lang="en-US" sz="1400" dirty="0"/>
          </a:p>
        </p:txBody>
      </p:sp>
      <p:sp>
        <p:nvSpPr>
          <p:cNvPr id="5" name="Stat 2"/>
          <p:cNvSpPr txBox="1"/>
          <p:nvPr/>
        </p:nvSpPr>
        <p:spPr>
          <a:xfrm>
            <a:off x="3246120" y="1325880"/>
            <a:ext cx="2606040" cy="685800"/>
          </a:xfrm>
          <a:prstGeom prst="rect">
            <a:avLst/>
          </a:prstGeom>
          <a:noFill/>
          <a:ln/>
        </p:spPr>
        <p:txBody>
          <a:bodyPr wrap="square" lIns="0" tIns="0" rIns="0" bIns="0" rtlCol="0" anchor="ctr"/>
          <a:lstStyle/>
          <a:p>
            <a:pPr indent="0" marL="0">
              <a:buNone/>
            </a:pPr>
            <a:r>
              <a:rPr lang="en-US" sz="3800" b="1" dirty="0">
                <a:solidFill>
                  <a:schemeClr val="accent2"/>
                </a:solidFill>
              </a:rPr>
              <a:t>3.5–4.3×</a:t>
            </a:r>
            <a:endParaRPr lang="en-US" sz="3800" dirty="0"/>
          </a:p>
        </p:txBody>
      </p:sp>
      <p:sp>
        <p:nvSpPr>
          <p:cNvPr id="6" name="Stat 2 label"/>
          <p:cNvSpPr txBox="1"/>
          <p:nvPr/>
        </p:nvSpPr>
        <p:spPr>
          <a:xfrm>
            <a:off x="3246120" y="2057400"/>
            <a:ext cx="2514600" cy="640080"/>
          </a:xfrm>
          <a:prstGeom prst="rect">
            <a:avLst/>
          </a:prstGeom>
          <a:noFill/>
          <a:ln/>
        </p:spPr>
        <p:txBody>
          <a:bodyPr wrap="square" lIns="0" tIns="0" rIns="0" bIns="0" rtlCol="0" anchor="t"/>
          <a:lstStyle/>
          <a:p>
            <a:pPr indent="0" marL="0">
              <a:buNone/>
            </a:pPr>
            <a:r>
              <a:rPr lang="en-US" sz="1400" dirty="0">
                <a:solidFill>
                  <a:schemeClr val="bg2"/>
                </a:solidFill>
              </a:rPr>
              <a:t>matmul vs the sequential loop, n = 128 to 1024</a:t>
            </a:r>
            <a:endParaRPr lang="en-US" sz="1400" dirty="0"/>
          </a:p>
        </p:txBody>
      </p:sp>
      <p:sp>
        <p:nvSpPr>
          <p:cNvPr id="7" name="Stat 3"/>
          <p:cNvSpPr txBox="1"/>
          <p:nvPr/>
        </p:nvSpPr>
        <p:spPr>
          <a:xfrm>
            <a:off x="6035040" y="1325880"/>
            <a:ext cx="2606040" cy="685800"/>
          </a:xfrm>
          <a:prstGeom prst="rect">
            <a:avLst/>
          </a:prstGeom>
          <a:noFill/>
          <a:ln/>
        </p:spPr>
        <p:txBody>
          <a:bodyPr wrap="square" lIns="0" tIns="0" rIns="0" bIns="0" rtlCol="0" anchor="ctr"/>
          <a:lstStyle/>
          <a:p>
            <a:pPr indent="0" marL="0">
              <a:buNone/>
            </a:pPr>
            <a:r>
              <a:rPr lang="en-US" sz="3800" b="1" dirty="0">
                <a:solidFill>
                  <a:schemeClr val="accent3"/>
                </a:solidFill>
              </a:rPr>
              <a:t>≤ 1.4×</a:t>
            </a:r>
            <a:endParaRPr lang="en-US" sz="3800" dirty="0"/>
          </a:p>
        </p:txBody>
      </p:sp>
      <p:sp>
        <p:nvSpPr>
          <p:cNvPr id="8" name="Stat 3 label"/>
          <p:cNvSpPr txBox="1"/>
          <p:nvPr/>
        </p:nvSpPr>
        <p:spPr>
          <a:xfrm>
            <a:off x="6035040" y="2057400"/>
            <a:ext cx="2514600" cy="640080"/>
          </a:xfrm>
          <a:prstGeom prst="rect">
            <a:avLst/>
          </a:prstGeom>
          <a:noFill/>
          <a:ln/>
        </p:spPr>
        <p:txBody>
          <a:bodyPr wrap="square" lIns="0" tIns="0" rIns="0" bIns="0" rtlCol="0" anchor="t"/>
          <a:lstStyle/>
          <a:p>
            <a:pPr indent="0" marL="0">
              <a:buNone/>
            </a:pPr>
            <a:r>
              <a:rPr lang="en-US" sz="1400" dirty="0">
                <a:solidFill>
                  <a:schemeClr val="bg2"/>
                </a:solidFill>
              </a:rPr>
              <a:t>add and mul: limited by memory, slower at 100k</a:t>
            </a:r>
            <a:endParaRPr lang="en-US" sz="1400" dirty="0"/>
          </a:p>
        </p:txBody>
      </p:sp>
      <p:sp>
        <p:nvSpPr>
          <p:cNvPr id="9" name="Not parallel list heading"/>
          <p:cNvSpPr txBox="1"/>
          <p:nvPr/>
        </p:nvSpPr>
        <p:spPr>
          <a:xfrm>
            <a:off x="457200" y="3063240"/>
            <a:ext cx="3931920" cy="320040"/>
          </a:xfrm>
          <a:prstGeom prst="rect">
            <a:avLst/>
          </a:prstGeom>
          <a:noFill/>
          <a:ln/>
        </p:spPr>
        <p:txBody>
          <a:bodyPr wrap="square" lIns="0" tIns="0" rIns="0" bIns="0" rtlCol="0" anchor="t"/>
          <a:lstStyle/>
          <a:p>
            <a:pPr indent="0" marL="0">
              <a:buNone/>
            </a:pPr>
            <a:r>
              <a:rPr lang="en-US" sz="1800" b="1" dirty="0">
                <a:solidFill>
                  <a:schemeClr val="accent2"/>
                </a:solidFill>
              </a:rPr>
              <a:t>Not parallel yet</a:t>
            </a:r>
            <a:endParaRPr lang="en-US" sz="1800" dirty="0"/>
          </a:p>
        </p:txBody>
      </p:sp>
      <p:sp>
        <p:nvSpPr>
          <p:cNvPr id="10" name="Not parallel list"/>
          <p:cNvSpPr txBox="1"/>
          <p:nvPr/>
        </p:nvSpPr>
        <p:spPr>
          <a:xfrm>
            <a:off x="457200" y="3474720"/>
            <a:ext cx="3931920" cy="118872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bg2"/>
                </a:solidFill>
              </a:rPr>
              <a:t>Packing broadcast and strided inputs</a:t>
            </a:r>
            <a:endParaRPr lang="en-US" sz="1400" dirty="0"/>
          </a:p>
          <a:p>
            <a:pPr marL="342900" indent="-342900">
              <a:spcAft>
                <a:spcPts val="600"/>
              </a:spcAft>
              <a:buSzPct val="100000"/>
              <a:buChar char="•"/>
            </a:pPr>
            <a:r>
              <a:rPr lang="en-US" sz="1400" dirty="0">
                <a:solidFill>
                  <a:schemeClr val="bg2"/>
                </a:solidFill>
              </a:rPr>
              <a:t>Host copies: from_host, to_vector, to()</a:t>
            </a:r>
            <a:endParaRPr lang="en-US" sz="1400" dirty="0"/>
          </a:p>
          <a:p>
            <a:pPr marL="342900" indent="-342900">
              <a:spcAft>
                <a:spcPts val="600"/>
              </a:spcAft>
              <a:buSzPct val="100000"/>
              <a:buChar char="•"/>
            </a:pPr>
            <a:r>
              <a:rPr lang="en-US" sz="1400" dirty="0">
                <a:solidFill>
                  <a:schemeClr val="bg2"/>
                </a:solidFill>
              </a:rPr>
              <a:t>Result allocation and validation</a:t>
            </a:r>
            <a:endParaRPr lang="en-US" sz="1400" dirty="0"/>
          </a:p>
        </p:txBody>
      </p:sp>
      <p:sp>
        <p:nvSpPr>
          <p:cNvPr id="11" name="Next list heading"/>
          <p:cNvSpPr txBox="1"/>
          <p:nvPr/>
        </p:nvSpPr>
        <p:spPr>
          <a:xfrm>
            <a:off x="4754880" y="3063240"/>
            <a:ext cx="3931920" cy="320040"/>
          </a:xfrm>
          <a:prstGeom prst="rect">
            <a:avLst/>
          </a:prstGeom>
          <a:noFill/>
          <a:ln/>
        </p:spPr>
        <p:txBody>
          <a:bodyPr wrap="square" lIns="0" tIns="0" rIns="0" bIns="0" rtlCol="0" anchor="t"/>
          <a:lstStyle/>
          <a:p>
            <a:pPr indent="0" marL="0">
              <a:buNone/>
            </a:pPr>
            <a:r>
              <a:rPr lang="en-US" sz="1800" b="1" dirty="0">
                <a:solidFill>
                  <a:schemeClr val="accent1"/>
                </a:solidFill>
              </a:rPr>
              <a:t>Next</a:t>
            </a:r>
            <a:endParaRPr lang="en-US" sz="1800" dirty="0"/>
          </a:p>
        </p:txBody>
      </p:sp>
      <p:sp>
        <p:nvSpPr>
          <p:cNvPr id="12" name="Next list"/>
          <p:cNvSpPr txBox="1"/>
          <p:nvPr/>
        </p:nvSpPr>
        <p:spPr>
          <a:xfrm>
            <a:off x="4754880" y="3474720"/>
            <a:ext cx="3931920" cy="118872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bg2"/>
                </a:solidFill>
              </a:rPr>
              <a:t>Rerun on the 12-core Ryzen desktop</a:t>
            </a:r>
            <a:endParaRPr lang="en-US" sz="1400" dirty="0"/>
          </a:p>
          <a:p>
            <a:pPr marL="342900" indent="-342900">
              <a:spcAft>
                <a:spcPts val="600"/>
              </a:spcAft>
              <a:buSzPct val="100000"/>
              <a:buChar char="•"/>
            </a:pPr>
            <a:r>
              <a:rPr lang="en-US" sz="1400" dirty="0">
                <a:solidFill>
                  <a:schemeClr val="bg2"/>
                </a:solidFill>
              </a:rPr>
              <a:t>Tune the cutoff: sweep 200k to 2M</a:t>
            </a:r>
            <a:endParaRPr lang="en-US" sz="1400" dirty="0"/>
          </a:p>
          <a:p>
            <a:pPr marL="342900" indent="-342900">
              <a:spcAft>
                <a:spcPts val="600"/>
              </a:spcAft>
              <a:buSzPct val="100000"/>
              <a:buChar char="•"/>
            </a:pPr>
            <a:r>
              <a:rPr lang="en-US" sz="1400" dirty="0">
                <a:solidFill>
                  <a:schemeClr val="bg2"/>
                </a:solidFill>
              </a:rPr>
              <a:t>Parallelise contiguous() and the gather</a:t>
            </a:r>
            <a:endParaRPr lang="en-US" sz="1400" dirty="0"/>
          </a:p>
          <a:p>
            <a:pPr marL="342900" indent="-342900">
              <a:spcAft>
                <a:spcPts val="600"/>
              </a:spcAft>
              <a:buSzPct val="100000"/>
              <a:buChar char="•"/>
            </a:pPr>
            <a:r>
              <a:rPr lang="en-US" sz="1400" dirty="0">
                <a:solidFill>
                  <a:schemeClr val="bg2"/>
                </a:solidFill>
              </a:rPr>
              <a:t>Faster matmul: register-tiled kernel</a:t>
            </a:r>
            <a:endParaRPr lang="en-US" sz="1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13</a:t>
            </a:fld>
            <a:endParaRPr lang="en-US"/>
          </a:p>
        </p:txBody>
      </p:sp>
    </p:spTree>
  </p:cSld>
  <p:clrMapOvr>
    <a:masterClrMapping/>
  </p:clrMapOvr>
</p:sld>
</file>

<file path=ppt/theme/theme1.xml><?xml version="1.0" encoding="utf-8"?>
<a:theme xmlns:a="http://schemas.openxmlformats.org/drawingml/2006/main" name="Mensurflow Parallel">
  <a:themeElements>
    <a:clrScheme name="Mensurflow Parallel">
      <a:dk1>
        <a:srgbClr val="0F172A"/>
      </a:dk1>
      <a:lt1>
        <a:srgbClr val="FFFFFF"/>
      </a:lt1>
      <a:dk2>
        <a:srgbClr val="1E293B"/>
      </a:dk2>
      <a:lt2>
        <a:srgbClr val="F1F5F9"/>
      </a:lt2>
      <a:accent1>
        <a:srgbClr val="2DD4BF"/>
      </a:accent1>
      <a:accent2>
        <a:srgbClr val="FBBF24"/>
      </a:accent2>
      <a:accent3>
        <a:srgbClr val="FB7185"/>
      </a:accent3>
      <a:accent4>
        <a:srgbClr val="A78BFA"/>
      </a:accent4>
      <a:accent5>
        <a:srgbClr val="60A5FA"/>
      </a:accent5>
      <a:accent6>
        <a:srgbClr val="94A3B8"/>
      </a:accent6>
      <a:hlink>
        <a:srgbClr val="60A5FA"/>
      </a:hlink>
      <a:folHlink>
        <a:srgbClr val="A78BFA"/>
      </a:folHlink>
    </a:clrScheme>
    <a:fontScheme name="Mensurflow Parallel">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Parallelising the CPU kernels</dc:title>
  <dc:subject>PptxGenJS Presentation</dc:subject>
  <dc:creator>mensurflow team</dc:creator>
  <cp:lastModifiedBy>mensurflow team</cp:lastModifiedBy>
  <cp:revision>1</cp:revision>
  <dcterms:created xsi:type="dcterms:W3CDTF">2026-10-31T19:30:15Z</dcterms:created>
  <dcterms:modified xsi:type="dcterms:W3CDTF">2026-10-31T19:30:15Z</dcterms:modified>
</cp:coreProperties>
</file>