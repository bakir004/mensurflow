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dea" id="{8a5a6bd6-f501-4096-bf85-ac037bd314ff}">
          <p14:sldIdLst>
            <p14:sldId id="256"/>
            <p14:sldId id="257"/>
            <p14:sldId id="258"/>
          </p14:sldIdLst>
        </p14:section>
        <p14:section name="Code" id="{bf2c28ba-2bd4-7b83-7585-9425bd454361}">
          <p14:sldIdLst>
            <p14:sldId id="259"/>
            <p14:sldId id="260"/>
            <p14:sldId id="261"/>
            <p14:sldId id="262"/>
          </p14:sldIdLst>
        </p14:section>
        <p14:section name="Results" id="{7e7c3a1d-066e-4a10-6b44-bac8acf28b07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F172A"/>
                </a:solidFill>
                <a:latin typeface="+mn-lt"/>
              </a:defRPr>
            </a:pPr>
            <a:r>
              <a:rPr sz="1400" b="1" i="0" u="none" strike="noStrike">
                <a:solidFill>
                  <a:srgbClr val="0F172A"/>
                </a:solidFill>
                <a:latin typeface="+mn-lt"/>
              </a:rPr>
              <a:t>10 million elements (GB/s)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11.1</c:v>
                </c:pt>
                <c:pt idx="1">
                  <c:v>16.6</c:v>
                </c:pt>
                <c:pt idx="2">
                  <c:v>17.6</c:v>
                </c:pt>
                <c:pt idx="3">
                  <c:v>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15.7</c:v>
                </c:pt>
                <c:pt idx="1">
                  <c:v>16</c:v>
                </c:pt>
                <c:pt idx="2">
                  <c:v>18.6</c:v>
                </c:pt>
                <c:pt idx="3">
                  <c:v>18.9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0F172A"/>
                    </a:solidFill>
                    <a:latin typeface="+mn-lt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17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F172A"/>
                </a:solidFill>
                <a:latin typeface="+mn-lt"/>
              </a:defRPr>
            </a:pPr>
            <a:r>
              <a:rPr sz="1400" b="1" i="0" u="none" strike="noStrike">
                <a:solidFill>
                  <a:srgbClr val="0F172A"/>
                </a:solidFill>
                <a:latin typeface="+mn-lt"/>
              </a:rPr>
              <a:t>100,000 elements (speed-up)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0.41</c:v>
                </c:pt>
                <c:pt idx="2">
                  <c:v>0.34</c:v>
                </c:pt>
                <c:pt idx="3">
                  <c:v>0.23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0.52</c:v>
                </c:pt>
                <c:pt idx="2">
                  <c:v>0.4</c:v>
                </c:pt>
                <c:pt idx="3">
                  <c:v>0.31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0F172A"/>
                    </a:solidFill>
                    <a:latin typeface="+mn-lt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3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17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how the CPU kernels run in parallel: the helper in parallel.hpp, the block split, the reduction, and the measured results. The four thread colours used here repeat on every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public call goes through validation and the dispatcher to a CPU kernel. Only the kernel layer touches OpenMP, and only through parallel_for / parallel_sum in parallel.hpp.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n = 100 and 4 threads the raw chunk is 25, rounded up to 32, so the last thread only gets 4 elements. With n = 20 two threads get nothing, which is fine: they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block_range from parallel.hpp. Thread id of threads gets [begin, end). The rounding to 16 floats keeps block edges on 64-byte cache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two threads write different floats that live in the same 64-byte cache line, the line bounces between their cores. Rounding block sizes to 16 floats makes every block start on a line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excerpt of parallel_for: begin/end are shortened to b/e. The kernel supplies only the inner loop; the pragma lives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shared sum would be a data race. Instead each thread returns a partial; the main thread adds them. dot accumulates in double so the result stays close to the exact 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parallel_for has a cutoff: below it the kernel runs serially. Our current cutoff (32,768 elements) is too low: at 100,000 elements the threaded version was slower than serial on this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add and mul at 10 million elements are memory-bound; throughput plateaus around 18 GB/s. Right: at 100,000 elements the speed-up is below 1.0, so threads hurt. Numbers come from elementwise_benchmark on the team laptop; they are single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 gets about 3.5x because its serial baseline is a double-precision loop. Elementwise ops are limited by memory bandwidth. Next: tune the cutoff from finer sizes, parallelise the strided gather, then matmul, which is compute-bound and should scale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4231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7315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Parallelising the CPU kernels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423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mensurflow: add, sub, mul, div and dot with OpenMP</a:t>
            </a:r>
            <a:endParaRPr lang="en-US" sz="1800" dirty="0"/>
          </a:p>
        </p:txBody>
      </p:sp>
      <p:sp>
        <p:nvSpPr>
          <p:cNvPr id="4" name="Thread 0 block"/>
          <p:cNvSpPr/>
          <p:nvPr/>
        </p:nvSpPr>
        <p:spPr>
          <a:xfrm>
            <a:off x="548640" y="3383280"/>
            <a:ext cx="194310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hread 0 label"/>
          <p:cNvSpPr txBox="1"/>
          <p:nvPr/>
        </p:nvSpPr>
        <p:spPr>
          <a:xfrm>
            <a:off x="548640" y="3383280"/>
            <a:ext cx="1943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thread 0</a:t>
            </a:r>
            <a:endParaRPr lang="en-US" sz="1600" dirty="0"/>
          </a:p>
        </p:txBody>
      </p:sp>
      <p:sp>
        <p:nvSpPr>
          <p:cNvPr id="6" name="Thread 1 block"/>
          <p:cNvSpPr/>
          <p:nvPr/>
        </p:nvSpPr>
        <p:spPr>
          <a:xfrm>
            <a:off x="2583180" y="3383280"/>
            <a:ext cx="1943100" cy="5486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hread 1 label"/>
          <p:cNvSpPr txBox="1"/>
          <p:nvPr/>
        </p:nvSpPr>
        <p:spPr>
          <a:xfrm>
            <a:off x="2583180" y="3383280"/>
            <a:ext cx="1943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thread 1</a:t>
            </a:r>
            <a:endParaRPr lang="en-US" sz="1600" dirty="0"/>
          </a:p>
        </p:txBody>
      </p:sp>
      <p:sp>
        <p:nvSpPr>
          <p:cNvPr id="8" name="Thread 2 block"/>
          <p:cNvSpPr/>
          <p:nvPr/>
        </p:nvSpPr>
        <p:spPr>
          <a:xfrm>
            <a:off x="4617720" y="3383280"/>
            <a:ext cx="1943100" cy="5486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hread 2 label"/>
          <p:cNvSpPr txBox="1"/>
          <p:nvPr/>
        </p:nvSpPr>
        <p:spPr>
          <a:xfrm>
            <a:off x="4617720" y="3383280"/>
            <a:ext cx="1943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thread 2</a:t>
            </a:r>
            <a:endParaRPr lang="en-US" sz="1600" dirty="0"/>
          </a:p>
        </p:txBody>
      </p:sp>
      <p:sp>
        <p:nvSpPr>
          <p:cNvPr id="10" name="Thread 3 block"/>
          <p:cNvSpPr/>
          <p:nvPr/>
        </p:nvSpPr>
        <p:spPr>
          <a:xfrm>
            <a:off x="6652260" y="3383280"/>
            <a:ext cx="1943100" cy="5486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1" name="Thread 3 label"/>
          <p:cNvSpPr txBox="1"/>
          <p:nvPr/>
        </p:nvSpPr>
        <p:spPr>
          <a:xfrm>
            <a:off x="6652260" y="3383280"/>
            <a:ext cx="1943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thread 3</a:t>
            </a:r>
            <a:endParaRPr lang="en-US" sz="1600" dirty="0"/>
          </a:p>
        </p:txBody>
      </p:sp>
      <p:sp>
        <p:nvSpPr>
          <p:cNvPr id="12" name="Caption"/>
          <p:cNvSpPr txBox="1"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 contiguous block of the array per thread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the parallel code sits</a:t>
            </a:r>
            <a:endParaRPr lang="en-US" sz="3400" dirty="0"/>
          </a:p>
        </p:txBody>
      </p:sp>
      <p:sp>
        <p:nvSpPr>
          <p:cNvPr id="3" name="Stage 1"/>
          <p:cNvSpPr/>
          <p:nvPr/>
        </p:nvSpPr>
        <p:spPr>
          <a:xfrm>
            <a:off x="457200" y="1280160"/>
            <a:ext cx="14173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" name="Stage 1 text"/>
          <p:cNvSpPr txBox="1"/>
          <p:nvPr/>
        </p:nvSpPr>
        <p:spPr>
          <a:xfrm>
            <a:off x="548640" y="137160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add(a, b)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mensurflow, public API</a:t>
            </a:r>
            <a:endParaRPr lang="en-US" sz="1400" dirty="0"/>
          </a:p>
        </p:txBody>
      </p:sp>
      <p:sp>
        <p:nvSpPr>
          <p:cNvPr id="5" name="Arrow 1"/>
          <p:cNvSpPr/>
          <p:nvPr/>
        </p:nvSpPr>
        <p:spPr>
          <a:xfrm>
            <a:off x="1901952" y="1897380"/>
            <a:ext cx="21945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Stage 2"/>
          <p:cNvSpPr/>
          <p:nvPr/>
        </p:nvSpPr>
        <p:spPr>
          <a:xfrm>
            <a:off x="2148840" y="1280160"/>
            <a:ext cx="14173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7" name="Stage 2 text"/>
          <p:cNvSpPr txBox="1"/>
          <p:nvPr/>
        </p:nvSpPr>
        <p:spPr>
          <a:xfrm>
            <a:off x="2240280" y="137160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Validate, broadcast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src/ops/elementwise.cpp</a:t>
            </a:r>
            <a:endParaRPr lang="en-US" sz="1400" dirty="0"/>
          </a:p>
        </p:txBody>
      </p:sp>
      <p:sp>
        <p:nvSpPr>
          <p:cNvPr id="8" name="Arrow 2"/>
          <p:cNvSpPr/>
          <p:nvPr/>
        </p:nvSpPr>
        <p:spPr>
          <a:xfrm>
            <a:off x="3593592" y="1897380"/>
            <a:ext cx="21945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tage 3"/>
          <p:cNvSpPr/>
          <p:nvPr/>
        </p:nvSpPr>
        <p:spPr>
          <a:xfrm>
            <a:off x="3840480" y="1280160"/>
            <a:ext cx="14173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0" name="Stage 3 text"/>
          <p:cNvSpPr txBox="1"/>
          <p:nvPr/>
        </p:nvSpPr>
        <p:spPr>
          <a:xfrm>
            <a:off x="3931920" y="137160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dispatch(Add)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src/core/dispatcher.cpp</a:t>
            </a:r>
            <a:endParaRPr lang="en-US" sz="1400" dirty="0"/>
          </a:p>
        </p:txBody>
      </p:sp>
      <p:sp>
        <p:nvSpPr>
          <p:cNvPr id="11" name="Arrow 3"/>
          <p:cNvSpPr/>
          <p:nvPr/>
        </p:nvSpPr>
        <p:spPr>
          <a:xfrm>
            <a:off x="5285232" y="1897380"/>
            <a:ext cx="21945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tage 4"/>
          <p:cNvSpPr/>
          <p:nvPr/>
        </p:nvSpPr>
        <p:spPr>
          <a:xfrm>
            <a:off x="5532120" y="1280160"/>
            <a:ext cx="14173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3" name="Stage 4 text"/>
          <p:cNvSpPr txBox="1"/>
          <p:nvPr/>
        </p:nvSpPr>
        <p:spPr>
          <a:xfrm>
            <a:off x="5623560" y="137160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add_f32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src/backends/cpu/elementwise.cpp</a:t>
            </a:r>
            <a:endParaRPr lang="en-US" sz="1400" dirty="0"/>
          </a:p>
        </p:txBody>
      </p:sp>
      <p:sp>
        <p:nvSpPr>
          <p:cNvPr id="14" name="Arrow 4"/>
          <p:cNvSpPr/>
          <p:nvPr/>
        </p:nvSpPr>
        <p:spPr>
          <a:xfrm>
            <a:off x="6976872" y="1897380"/>
            <a:ext cx="21945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tage 5"/>
          <p:cNvSpPr/>
          <p:nvPr/>
        </p:nvSpPr>
        <p:spPr>
          <a:xfrm>
            <a:off x="7223760" y="1280160"/>
            <a:ext cx="141732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/>
        </p:spPr>
      </p:sp>
      <p:sp>
        <p:nvSpPr>
          <p:cNvPr id="16" name="Stage 5 text"/>
          <p:cNvSpPr txBox="1"/>
          <p:nvPr/>
        </p:nvSpPr>
        <p:spPr>
          <a:xfrm>
            <a:off x="7315200" y="137160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parallel_for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src/backends/cpu/parallel.hpp</a:t>
            </a:r>
            <a:endParaRPr lang="en-US" sz="1400" dirty="0"/>
          </a:p>
        </p:txBody>
      </p:sp>
      <p:sp>
        <p:nvSpPr>
          <p:cNvPr id="17" name="Card 1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8" name="Card 1 dot"/>
          <p:cNvSpPr/>
          <p:nvPr/>
        </p:nvSpPr>
        <p:spPr>
          <a:xfrm>
            <a:off x="640080" y="30632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Card 1 dot label"/>
          <p:cNvSpPr txBox="1"/>
          <p:nvPr/>
        </p:nvSpPr>
        <p:spPr>
          <a:xfrm>
            <a:off x="6400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0" name="Card 1 title"/>
          <p:cNvSpPr txBox="1"/>
          <p:nvPr/>
        </p:nvSpPr>
        <p:spPr>
          <a:xfrm>
            <a:off x="100584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Elementwise ops</a:t>
            </a:r>
            <a:endParaRPr lang="en-US" sz="1600" dirty="0"/>
          </a:p>
        </p:txBody>
      </p:sp>
      <p:sp>
        <p:nvSpPr>
          <p:cNvPr id="21" name="Card 1 text"/>
          <p:cNvSpPr txBox="1"/>
          <p:nvPr/>
        </p:nvSpPr>
        <p:spPr>
          <a:xfrm>
            <a:off x="640080" y="3474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add, sub, mul and div share one loop and call parallel_for.</a:t>
            </a:r>
            <a:endParaRPr lang="en-US" sz="1400" dirty="0"/>
          </a:p>
        </p:txBody>
      </p:sp>
      <p:sp>
        <p:nvSpPr>
          <p:cNvPr id="22" name="Card 2"/>
          <p:cNvSpPr/>
          <p:nvPr/>
        </p:nvSpPr>
        <p:spPr>
          <a:xfrm>
            <a:off x="326898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3" name="Card 2 dot"/>
          <p:cNvSpPr/>
          <p:nvPr/>
        </p:nvSpPr>
        <p:spPr>
          <a:xfrm>
            <a:off x="3451860" y="306324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Card 2 dot label"/>
          <p:cNvSpPr txBox="1"/>
          <p:nvPr/>
        </p:nvSpPr>
        <p:spPr>
          <a:xfrm>
            <a:off x="34518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Card 2 title"/>
          <p:cNvSpPr txBox="1"/>
          <p:nvPr/>
        </p:nvSpPr>
        <p:spPr>
          <a:xfrm>
            <a:off x="381762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Dot product</a:t>
            </a:r>
            <a:endParaRPr lang="en-US" sz="1600" dirty="0"/>
          </a:p>
        </p:txBody>
      </p:sp>
      <p:sp>
        <p:nvSpPr>
          <p:cNvPr id="26" name="Card 2 text"/>
          <p:cNvSpPr txBox="1"/>
          <p:nvPr/>
        </p:nvSpPr>
        <p:spPr>
          <a:xfrm>
            <a:off x="3451860" y="3474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dot sums per-thread partial results with parallel_sum.</a:t>
            </a:r>
            <a:endParaRPr lang="en-US" sz="1400" dirty="0"/>
          </a:p>
        </p:txBody>
      </p:sp>
      <p:sp>
        <p:nvSpPr>
          <p:cNvPr id="27" name="Card 3"/>
          <p:cNvSpPr/>
          <p:nvPr/>
        </p:nvSpPr>
        <p:spPr>
          <a:xfrm>
            <a:off x="608076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8" name="Card 3 dot"/>
          <p:cNvSpPr/>
          <p:nvPr/>
        </p:nvSpPr>
        <p:spPr>
          <a:xfrm>
            <a:off x="6263640" y="306324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Card 3 dot label"/>
          <p:cNvSpPr txBox="1"/>
          <p:nvPr/>
        </p:nvSpPr>
        <p:spPr>
          <a:xfrm>
            <a:off x="62636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0" name="Card 3 title"/>
          <p:cNvSpPr txBox="1"/>
          <p:nvPr/>
        </p:nvSpPr>
        <p:spPr>
          <a:xfrm>
            <a:off x="662940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GPU backends</a:t>
            </a:r>
            <a:endParaRPr lang="en-US" sz="1600" dirty="0"/>
          </a:p>
        </p:txBody>
      </p:sp>
      <p:sp>
        <p:nvSpPr>
          <p:cNvPr id="31" name="Card 3 text"/>
          <p:cNvSpPr txBox="1"/>
          <p:nvPr/>
        </p:nvSpPr>
        <p:spPr>
          <a:xfrm>
            <a:off x="6263640" y="3474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OpenMP there: cuBLAS, rocBLAS and MPSGraph parallelise on their 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Splitting the array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thread gets one contiguous block. Block size is rounded up to a multiple of 16 floats.</a:t>
            </a:r>
            <a:endParaRPr lang="en-US" sz="1400" dirty="0"/>
          </a:p>
        </p:txBody>
      </p:sp>
      <p:sp>
        <p:nvSpPr>
          <p:cNvPr id="4" name="Row A label"/>
          <p:cNvSpPr txBox="1"/>
          <p:nvPr/>
        </p:nvSpPr>
        <p:spPr>
          <a:xfrm>
            <a:off x="45720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 = 100, 4 threads: chunk = 25, rounded up to 32</a:t>
            </a:r>
            <a:endParaRPr lang="en-US" sz="1400" dirty="0"/>
          </a:p>
        </p:txBody>
      </p:sp>
      <p:sp>
        <p:nvSpPr>
          <p:cNvPr id="5" name="Row A T0"/>
          <p:cNvSpPr/>
          <p:nvPr/>
        </p:nvSpPr>
        <p:spPr>
          <a:xfrm>
            <a:off x="457200" y="2011680"/>
            <a:ext cx="2633472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Row A T0 label"/>
          <p:cNvSpPr txBox="1"/>
          <p:nvPr/>
        </p:nvSpPr>
        <p:spPr>
          <a:xfrm>
            <a:off x="457200" y="20116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T0</a:t>
            </a:r>
            <a:endParaRPr lang="en-US" sz="1600" dirty="0"/>
          </a:p>
        </p:txBody>
      </p:sp>
      <p:sp>
        <p:nvSpPr>
          <p:cNvPr id="7" name="Row A T0 range"/>
          <p:cNvSpPr txBox="1"/>
          <p:nvPr/>
        </p:nvSpPr>
        <p:spPr>
          <a:xfrm>
            <a:off x="457200" y="257860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[0, 32)</a:t>
            </a:r>
            <a:endParaRPr lang="en-US" sz="1200" dirty="0"/>
          </a:p>
        </p:txBody>
      </p:sp>
      <p:sp>
        <p:nvSpPr>
          <p:cNvPr id="8" name="Row A T1"/>
          <p:cNvSpPr/>
          <p:nvPr/>
        </p:nvSpPr>
        <p:spPr>
          <a:xfrm>
            <a:off x="3090672" y="2011680"/>
            <a:ext cx="2633472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Row A T1 label"/>
          <p:cNvSpPr txBox="1"/>
          <p:nvPr/>
        </p:nvSpPr>
        <p:spPr>
          <a:xfrm>
            <a:off x="3090672" y="20116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T1</a:t>
            </a:r>
            <a:endParaRPr lang="en-US" sz="1600" dirty="0"/>
          </a:p>
        </p:txBody>
      </p:sp>
      <p:sp>
        <p:nvSpPr>
          <p:cNvPr id="10" name="Row A T1 range"/>
          <p:cNvSpPr txBox="1"/>
          <p:nvPr/>
        </p:nvSpPr>
        <p:spPr>
          <a:xfrm>
            <a:off x="3090672" y="257860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[32, 64)</a:t>
            </a:r>
            <a:endParaRPr lang="en-US" sz="1200" dirty="0"/>
          </a:p>
        </p:txBody>
      </p:sp>
      <p:sp>
        <p:nvSpPr>
          <p:cNvPr id="11" name="Row A T2"/>
          <p:cNvSpPr/>
          <p:nvPr/>
        </p:nvSpPr>
        <p:spPr>
          <a:xfrm>
            <a:off x="5724144" y="2011680"/>
            <a:ext cx="2633472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Row A T2 label"/>
          <p:cNvSpPr txBox="1"/>
          <p:nvPr/>
        </p:nvSpPr>
        <p:spPr>
          <a:xfrm>
            <a:off x="5724144" y="20116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T2</a:t>
            </a:r>
            <a:endParaRPr lang="en-US" sz="1600" dirty="0"/>
          </a:p>
        </p:txBody>
      </p:sp>
      <p:sp>
        <p:nvSpPr>
          <p:cNvPr id="13" name="Row A T2 range"/>
          <p:cNvSpPr txBox="1"/>
          <p:nvPr/>
        </p:nvSpPr>
        <p:spPr>
          <a:xfrm>
            <a:off x="5724144" y="257860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[64, 96)</a:t>
            </a:r>
            <a:endParaRPr lang="en-US" sz="1200" dirty="0"/>
          </a:p>
        </p:txBody>
      </p:sp>
      <p:sp>
        <p:nvSpPr>
          <p:cNvPr id="14" name="Row A T3"/>
          <p:cNvSpPr/>
          <p:nvPr/>
        </p:nvSpPr>
        <p:spPr>
          <a:xfrm>
            <a:off x="8357616" y="2011680"/>
            <a:ext cx="329184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5" name="Row A T3 label"/>
          <p:cNvSpPr txBox="1"/>
          <p:nvPr/>
        </p:nvSpPr>
        <p:spPr>
          <a:xfrm>
            <a:off x="8357616" y="201168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T3</a:t>
            </a:r>
            <a:endParaRPr lang="en-US" sz="1200" dirty="0"/>
          </a:p>
        </p:txBody>
      </p:sp>
      <p:sp>
        <p:nvSpPr>
          <p:cNvPr id="16" name="Row A T3 range"/>
          <p:cNvSpPr txBox="1"/>
          <p:nvPr/>
        </p:nvSpPr>
        <p:spPr>
          <a:xfrm>
            <a:off x="7772400" y="2578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[96, 100)</a:t>
            </a:r>
            <a:endParaRPr lang="en-US" sz="1200" dirty="0"/>
          </a:p>
        </p:txBody>
      </p:sp>
      <p:sp>
        <p:nvSpPr>
          <p:cNvPr id="17" name="Row B label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 = 20, 4 threads: chunk = 5, rounded up to 16</a:t>
            </a:r>
            <a:endParaRPr lang="en-US" sz="1400" dirty="0"/>
          </a:p>
        </p:txBody>
      </p:sp>
      <p:sp>
        <p:nvSpPr>
          <p:cNvPr id="18" name="Row B T0"/>
          <p:cNvSpPr/>
          <p:nvPr/>
        </p:nvSpPr>
        <p:spPr>
          <a:xfrm>
            <a:off x="457200" y="3383280"/>
            <a:ext cx="658368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Row B T0 label"/>
          <p:cNvSpPr txBox="1"/>
          <p:nvPr/>
        </p:nvSpPr>
        <p:spPr>
          <a:xfrm>
            <a:off x="457200" y="3383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T0</a:t>
            </a:r>
            <a:endParaRPr lang="en-US" sz="1600" dirty="0"/>
          </a:p>
        </p:txBody>
      </p:sp>
      <p:sp>
        <p:nvSpPr>
          <p:cNvPr id="20" name="Row B T0 range"/>
          <p:cNvSpPr txBox="1"/>
          <p:nvPr/>
        </p:nvSpPr>
        <p:spPr>
          <a:xfrm>
            <a:off x="457200" y="39502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[0, 16)</a:t>
            </a:r>
            <a:endParaRPr lang="en-US" sz="1200" dirty="0"/>
          </a:p>
        </p:txBody>
      </p:sp>
      <p:sp>
        <p:nvSpPr>
          <p:cNvPr id="21" name="Row B T1"/>
          <p:cNvSpPr/>
          <p:nvPr/>
        </p:nvSpPr>
        <p:spPr>
          <a:xfrm>
            <a:off x="7040880" y="3383280"/>
            <a:ext cx="1645920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Row B T1 label"/>
          <p:cNvSpPr txBox="1"/>
          <p:nvPr/>
        </p:nvSpPr>
        <p:spPr>
          <a:xfrm>
            <a:off x="7040880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T1</a:t>
            </a:r>
            <a:endParaRPr lang="en-US" sz="1600" dirty="0"/>
          </a:p>
        </p:txBody>
      </p:sp>
      <p:sp>
        <p:nvSpPr>
          <p:cNvPr id="23" name="Row B T1 range"/>
          <p:cNvSpPr txBox="1"/>
          <p:nvPr/>
        </p:nvSpPr>
        <p:spPr>
          <a:xfrm>
            <a:off x="7040880" y="3950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[16, 20)</a:t>
            </a:r>
            <a:endParaRPr lang="en-US" sz="1200" dirty="0"/>
          </a:p>
        </p:txBody>
      </p:sp>
      <p:sp>
        <p:nvSpPr>
          <p:cNvPr id="24" name="Empty T2"/>
          <p:cNvSpPr/>
          <p:nvPr/>
        </p:nvSpPr>
        <p:spPr>
          <a:xfrm>
            <a:off x="6172200" y="2990088"/>
            <a:ext cx="1188720" cy="310896"/>
          </a:xfrm>
          <a:prstGeom prst="roundRect">
            <a:avLst>
              <a:gd name="adj" fmla="val 23529"/>
            </a:avLst>
          </a:prstGeom>
          <a:ln w="19050">
            <a:solidFill>
              <a:schemeClr val="accent3"/>
            </a:solidFill>
            <a:prstDash val="dash"/>
          </a:ln>
        </p:spPr>
      </p:sp>
      <p:sp>
        <p:nvSpPr>
          <p:cNvPr id="25" name="Empty T2 label"/>
          <p:cNvSpPr txBox="1"/>
          <p:nvPr/>
        </p:nvSpPr>
        <p:spPr>
          <a:xfrm>
            <a:off x="6172200" y="29900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T2: no work</a:t>
            </a:r>
            <a:endParaRPr lang="en-US" sz="1200" dirty="0"/>
          </a:p>
        </p:txBody>
      </p:sp>
      <p:sp>
        <p:nvSpPr>
          <p:cNvPr id="26" name="Empty T3"/>
          <p:cNvSpPr/>
          <p:nvPr/>
        </p:nvSpPr>
        <p:spPr>
          <a:xfrm>
            <a:off x="7452360" y="2990088"/>
            <a:ext cx="1188720" cy="310896"/>
          </a:xfrm>
          <a:prstGeom prst="roundRect">
            <a:avLst>
              <a:gd name="adj" fmla="val 23529"/>
            </a:avLst>
          </a:prstGeom>
          <a:ln w="19050">
            <a:solidFill>
              <a:schemeClr val="accent4"/>
            </a:solidFill>
            <a:prstDash val="dash"/>
          </a:ln>
        </p:spPr>
      </p:sp>
      <p:sp>
        <p:nvSpPr>
          <p:cNvPr id="27" name="Empty T3 label"/>
          <p:cNvSpPr txBox="1"/>
          <p:nvPr/>
        </p:nvSpPr>
        <p:spPr>
          <a:xfrm>
            <a:off x="7452360" y="29900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T3: no work</a:t>
            </a:r>
            <a:endParaRPr lang="en-US" sz="1200" dirty="0"/>
          </a:p>
        </p:txBody>
      </p:sp>
      <p:sp>
        <p:nvSpPr>
          <p:cNvPr id="28" name="Footnote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thread whose block starts past the end (begin &gt;= end) simply skips the 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Computing each block</a:t>
            </a:r>
            <a:endParaRPr lang="en-US" sz="3400" dirty="0"/>
          </a:p>
        </p:txBody>
      </p:sp>
      <p:sp>
        <p:nvSpPr>
          <p:cNvPr id="3" name="block_range code panel"/>
          <p:cNvSpPr/>
          <p:nvPr/>
        </p:nvSpPr>
        <p:spPr>
          <a:xfrm>
            <a:off x="457200" y="1188720"/>
            <a:ext cx="822960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/>
        </p:spPr>
      </p:sp>
      <p:sp>
        <p:nvSpPr>
          <p:cNvPr id="4" name="block_range code"/>
          <p:cNvSpPr txBox="1"/>
          <p:nvPr/>
        </p:nvSpPr>
        <p:spPr>
          <a:xfrm>
            <a:off x="621792" y="1316736"/>
            <a:ext cx="79004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block_range(std::int64_t n, std::int64_t threads, std::int64_t 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std::int64_t&amp; begin, std::int64_t&amp; end)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std::int64_t chunk = ((n + threads -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threads +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 = std::min(id * chunk, 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= std::min(begin + chunk, 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Code source"/>
          <p:cNvSpPr txBox="1"/>
          <p:nvPr/>
        </p:nvSpPr>
        <p:spPr>
          <a:xfrm>
            <a:off x="5486400" y="2724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src/backends/cpu/parallel.hpp</a:t>
            </a:r>
            <a:endParaRPr lang="en-US" sz="1000" dirty="0"/>
          </a:p>
        </p:txBody>
      </p:sp>
      <p:sp>
        <p:nvSpPr>
          <p:cNvPr id="6" name="Explain 1"/>
          <p:cNvSpPr/>
          <p:nvPr/>
        </p:nvSpPr>
        <p:spPr>
          <a:xfrm>
            <a:off x="45720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7" name="Explain 1 badge"/>
          <p:cNvSpPr/>
          <p:nvPr/>
        </p:nvSpPr>
        <p:spPr>
          <a:xfrm>
            <a:off x="640080" y="32004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Explain 1 badge label"/>
          <p:cNvSpPr txBox="1"/>
          <p:nvPr/>
        </p:nvSpPr>
        <p:spPr>
          <a:xfrm>
            <a:off x="64008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Explain 1 title"/>
          <p:cNvSpPr txBox="1"/>
          <p:nvPr/>
        </p:nvSpPr>
        <p:spPr>
          <a:xfrm>
            <a:off x="1051560" y="32004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Chunk size</a:t>
            </a:r>
            <a:endParaRPr lang="en-US" sz="1600" dirty="0"/>
          </a:p>
        </p:txBody>
      </p:sp>
      <p:sp>
        <p:nvSpPr>
          <p:cNvPr id="10" name="Explain 1 text"/>
          <p:cNvSpPr txBox="1"/>
          <p:nvPr/>
        </p:nvSpPr>
        <p:spPr>
          <a:xfrm>
            <a:off x="640080" y="363931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ceil(n / threads), so every element is covered.</a:t>
            </a:r>
            <a:endParaRPr lang="en-US" sz="1400" dirty="0"/>
          </a:p>
        </p:txBody>
      </p:sp>
      <p:sp>
        <p:nvSpPr>
          <p:cNvPr id="11" name="Explain 2"/>
          <p:cNvSpPr/>
          <p:nvPr/>
        </p:nvSpPr>
        <p:spPr>
          <a:xfrm>
            <a:off x="326898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2" name="Explain 2 badge"/>
          <p:cNvSpPr/>
          <p:nvPr/>
        </p:nvSpPr>
        <p:spPr>
          <a:xfrm>
            <a:off x="3451860" y="320040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Explain 2 badge label"/>
          <p:cNvSpPr txBox="1"/>
          <p:nvPr/>
        </p:nvSpPr>
        <p:spPr>
          <a:xfrm>
            <a:off x="345186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Explain 2 title"/>
          <p:cNvSpPr txBox="1"/>
          <p:nvPr/>
        </p:nvSpPr>
        <p:spPr>
          <a:xfrm>
            <a:off x="3863340" y="32004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Round up to 16</a:t>
            </a:r>
            <a:endParaRPr lang="en-US" sz="1600" dirty="0"/>
          </a:p>
        </p:txBody>
      </p:sp>
      <p:sp>
        <p:nvSpPr>
          <p:cNvPr id="15" name="Explain 2 text"/>
          <p:cNvSpPr txBox="1"/>
          <p:nvPr/>
        </p:nvSpPr>
        <p:spPr>
          <a:xfrm>
            <a:off x="3451860" y="363931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16 floats = 64 bytes = one cache line.</a:t>
            </a:r>
            <a:endParaRPr lang="en-US" sz="1400" dirty="0"/>
          </a:p>
        </p:txBody>
      </p:sp>
      <p:sp>
        <p:nvSpPr>
          <p:cNvPr id="16" name="Explain 3"/>
          <p:cNvSpPr/>
          <p:nvPr/>
        </p:nvSpPr>
        <p:spPr>
          <a:xfrm>
            <a:off x="608076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7" name="Explain 3 badge"/>
          <p:cNvSpPr/>
          <p:nvPr/>
        </p:nvSpPr>
        <p:spPr>
          <a:xfrm>
            <a:off x="6263640" y="320040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Explain 3 badge label"/>
          <p:cNvSpPr txBox="1"/>
          <p:nvPr/>
        </p:nvSpPr>
        <p:spPr>
          <a:xfrm>
            <a:off x="626364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Explain 3 title"/>
          <p:cNvSpPr txBox="1"/>
          <p:nvPr/>
        </p:nvSpPr>
        <p:spPr>
          <a:xfrm>
            <a:off x="6675120" y="32004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Clamp with min</a:t>
            </a:r>
            <a:endParaRPr lang="en-US" sz="1600" dirty="0"/>
          </a:p>
        </p:txBody>
      </p:sp>
      <p:sp>
        <p:nvSpPr>
          <p:cNvPr id="20" name="Explain 3 text"/>
          <p:cNvSpPr txBox="1"/>
          <p:nvPr/>
        </p:nvSpPr>
        <p:spPr>
          <a:xfrm>
            <a:off x="6263640" y="363931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last thread gets a short block, or none.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blocks end on cache lines</a:t>
            </a:r>
            <a:endParaRPr lang="en-US" sz="3400" dirty="0"/>
          </a:p>
        </p:txBody>
      </p:sp>
      <p:sp>
        <p:nvSpPr>
          <p:cNvPr id="3" name="Aligned label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Split at 16 (what we do)</a:t>
            </a:r>
            <a:endParaRPr lang="en-US" sz="1400" dirty="0"/>
          </a:p>
        </p:txBody>
      </p:sp>
      <p:sp>
        <p:nvSpPr>
          <p:cNvPr id="4" name="Aligned float 0"/>
          <p:cNvSpPr/>
          <p:nvPr/>
        </p:nvSpPr>
        <p:spPr>
          <a:xfrm>
            <a:off x="621792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" name="Aligned float 1"/>
          <p:cNvSpPr/>
          <p:nvPr/>
        </p:nvSpPr>
        <p:spPr>
          <a:xfrm>
            <a:off x="868680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" name="Aligned float 2"/>
          <p:cNvSpPr/>
          <p:nvPr/>
        </p:nvSpPr>
        <p:spPr>
          <a:xfrm>
            <a:off x="1115568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7" name="Aligned float 3"/>
          <p:cNvSpPr/>
          <p:nvPr/>
        </p:nvSpPr>
        <p:spPr>
          <a:xfrm>
            <a:off x="1362456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8" name="Aligned float 4"/>
          <p:cNvSpPr/>
          <p:nvPr/>
        </p:nvSpPr>
        <p:spPr>
          <a:xfrm>
            <a:off x="1609344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9" name="Aligned float 5"/>
          <p:cNvSpPr/>
          <p:nvPr/>
        </p:nvSpPr>
        <p:spPr>
          <a:xfrm>
            <a:off x="1856232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0" name="Aligned float 6"/>
          <p:cNvSpPr/>
          <p:nvPr/>
        </p:nvSpPr>
        <p:spPr>
          <a:xfrm>
            <a:off x="2103120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1" name="Aligned float 7"/>
          <p:cNvSpPr/>
          <p:nvPr/>
        </p:nvSpPr>
        <p:spPr>
          <a:xfrm>
            <a:off x="2350008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2" name="Aligned float 8"/>
          <p:cNvSpPr/>
          <p:nvPr/>
        </p:nvSpPr>
        <p:spPr>
          <a:xfrm>
            <a:off x="2596896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3" name="Aligned float 9"/>
          <p:cNvSpPr/>
          <p:nvPr/>
        </p:nvSpPr>
        <p:spPr>
          <a:xfrm>
            <a:off x="2843784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4" name="Aligned float 10"/>
          <p:cNvSpPr/>
          <p:nvPr/>
        </p:nvSpPr>
        <p:spPr>
          <a:xfrm>
            <a:off x="3090672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5" name="Aligned float 11"/>
          <p:cNvSpPr/>
          <p:nvPr/>
        </p:nvSpPr>
        <p:spPr>
          <a:xfrm>
            <a:off x="3337560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6" name="Aligned float 12"/>
          <p:cNvSpPr/>
          <p:nvPr/>
        </p:nvSpPr>
        <p:spPr>
          <a:xfrm>
            <a:off x="3584448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7" name="Aligned float 13"/>
          <p:cNvSpPr/>
          <p:nvPr/>
        </p:nvSpPr>
        <p:spPr>
          <a:xfrm>
            <a:off x="3831336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8" name="Aligned float 14"/>
          <p:cNvSpPr/>
          <p:nvPr/>
        </p:nvSpPr>
        <p:spPr>
          <a:xfrm>
            <a:off x="4078224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9" name="Aligned float 15"/>
          <p:cNvSpPr/>
          <p:nvPr/>
        </p:nvSpPr>
        <p:spPr>
          <a:xfrm>
            <a:off x="4325112" y="155448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0" name="Aligned float 16"/>
          <p:cNvSpPr/>
          <p:nvPr/>
        </p:nvSpPr>
        <p:spPr>
          <a:xfrm>
            <a:off x="4572000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1" name="Aligned float 17"/>
          <p:cNvSpPr/>
          <p:nvPr/>
        </p:nvSpPr>
        <p:spPr>
          <a:xfrm>
            <a:off x="4818888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2" name="Aligned float 18"/>
          <p:cNvSpPr/>
          <p:nvPr/>
        </p:nvSpPr>
        <p:spPr>
          <a:xfrm>
            <a:off x="5065776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3" name="Aligned float 19"/>
          <p:cNvSpPr/>
          <p:nvPr/>
        </p:nvSpPr>
        <p:spPr>
          <a:xfrm>
            <a:off x="5312664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4" name="Aligned float 20"/>
          <p:cNvSpPr/>
          <p:nvPr/>
        </p:nvSpPr>
        <p:spPr>
          <a:xfrm>
            <a:off x="5559552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5" name="Aligned float 21"/>
          <p:cNvSpPr/>
          <p:nvPr/>
        </p:nvSpPr>
        <p:spPr>
          <a:xfrm>
            <a:off x="5806440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6" name="Aligned float 22"/>
          <p:cNvSpPr/>
          <p:nvPr/>
        </p:nvSpPr>
        <p:spPr>
          <a:xfrm>
            <a:off x="6053328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7" name="Aligned float 23"/>
          <p:cNvSpPr/>
          <p:nvPr/>
        </p:nvSpPr>
        <p:spPr>
          <a:xfrm>
            <a:off x="6300216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8" name="Aligned float 24"/>
          <p:cNvSpPr/>
          <p:nvPr/>
        </p:nvSpPr>
        <p:spPr>
          <a:xfrm>
            <a:off x="6547104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9" name="Aligned float 25"/>
          <p:cNvSpPr/>
          <p:nvPr/>
        </p:nvSpPr>
        <p:spPr>
          <a:xfrm>
            <a:off x="6793992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0" name="Aligned float 26"/>
          <p:cNvSpPr/>
          <p:nvPr/>
        </p:nvSpPr>
        <p:spPr>
          <a:xfrm>
            <a:off x="7040880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1" name="Aligned float 27"/>
          <p:cNvSpPr/>
          <p:nvPr/>
        </p:nvSpPr>
        <p:spPr>
          <a:xfrm>
            <a:off x="7287768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2" name="Aligned float 28"/>
          <p:cNvSpPr/>
          <p:nvPr/>
        </p:nvSpPr>
        <p:spPr>
          <a:xfrm>
            <a:off x="7534656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3" name="Aligned float 29"/>
          <p:cNvSpPr/>
          <p:nvPr/>
        </p:nvSpPr>
        <p:spPr>
          <a:xfrm>
            <a:off x="7781544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4" name="Aligned float 30"/>
          <p:cNvSpPr/>
          <p:nvPr/>
        </p:nvSpPr>
        <p:spPr>
          <a:xfrm>
            <a:off x="8028432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5" name="Aligned float 31"/>
          <p:cNvSpPr/>
          <p:nvPr/>
        </p:nvSpPr>
        <p:spPr>
          <a:xfrm>
            <a:off x="8275320" y="155448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6" name="Aligned cache line 0"/>
          <p:cNvSpPr/>
          <p:nvPr/>
        </p:nvSpPr>
        <p:spPr>
          <a:xfrm>
            <a:off x="603504" y="1508760"/>
            <a:ext cx="3986784" cy="475488"/>
          </a:xfrm>
          <a:prstGeom prst="rect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37" name="Aligned cache line 0 label"/>
          <p:cNvSpPr txBox="1"/>
          <p:nvPr/>
        </p:nvSpPr>
        <p:spPr>
          <a:xfrm>
            <a:off x="621792" y="206654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cache line 0</a:t>
            </a:r>
            <a:endParaRPr lang="en-US" sz="1200" dirty="0"/>
          </a:p>
        </p:txBody>
      </p:sp>
      <p:sp>
        <p:nvSpPr>
          <p:cNvPr id="38" name="Aligned cache line 1"/>
          <p:cNvSpPr/>
          <p:nvPr/>
        </p:nvSpPr>
        <p:spPr>
          <a:xfrm>
            <a:off x="4553712" y="1508760"/>
            <a:ext cx="3986784" cy="475488"/>
          </a:xfrm>
          <a:prstGeom prst="rect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39" name="Aligned cache line 1 label"/>
          <p:cNvSpPr txBox="1"/>
          <p:nvPr/>
        </p:nvSpPr>
        <p:spPr>
          <a:xfrm>
            <a:off x="4572000" y="206654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cache line 1</a:t>
            </a:r>
            <a:endParaRPr lang="en-US" sz="1200" dirty="0"/>
          </a:p>
        </p:txBody>
      </p:sp>
      <p:sp>
        <p:nvSpPr>
          <p:cNvPr id="40" name="Aligned mark"/>
          <p:cNvSpPr/>
          <p:nvPr/>
        </p:nvSpPr>
        <p:spPr>
          <a:xfrm>
            <a:off x="457200" y="239572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Aligned mark label"/>
          <p:cNvSpPr txBox="1"/>
          <p:nvPr/>
        </p:nvSpPr>
        <p:spPr>
          <a:xfrm>
            <a:off x="45720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2" name="Aligned tick"/>
          <p:cNvSpPr txBox="1"/>
          <p:nvPr/>
        </p:nvSpPr>
        <p:spPr>
          <a:xfrm>
            <a:off x="45720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✓</a:t>
            </a:r>
            <a:endParaRPr lang="en-US" sz="1400" dirty="0"/>
          </a:p>
        </p:txBody>
      </p:sp>
      <p:sp>
        <p:nvSpPr>
          <p:cNvPr id="43" name="Aligned note"/>
          <p:cNvSpPr txBox="1"/>
          <p:nvPr/>
        </p:nvSpPr>
        <p:spPr>
          <a:xfrm>
            <a:off x="82296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cache line has one writer</a:t>
            </a:r>
            <a:endParaRPr lang="en-US" sz="1400" dirty="0"/>
          </a:p>
        </p:txBody>
      </p:sp>
      <p:sp>
        <p:nvSpPr>
          <p:cNvPr id="44" name="Naive label"/>
          <p:cNvSpPr txBox="1"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Split at 12 (naive)</a:t>
            </a:r>
            <a:endParaRPr lang="en-US" sz="1400" dirty="0"/>
          </a:p>
        </p:txBody>
      </p:sp>
      <p:sp>
        <p:nvSpPr>
          <p:cNvPr id="45" name="Naive float 0"/>
          <p:cNvSpPr/>
          <p:nvPr/>
        </p:nvSpPr>
        <p:spPr>
          <a:xfrm>
            <a:off x="621792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46" name="Naive float 1"/>
          <p:cNvSpPr/>
          <p:nvPr/>
        </p:nvSpPr>
        <p:spPr>
          <a:xfrm>
            <a:off x="868680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47" name="Naive float 2"/>
          <p:cNvSpPr/>
          <p:nvPr/>
        </p:nvSpPr>
        <p:spPr>
          <a:xfrm>
            <a:off x="1115568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48" name="Naive float 3"/>
          <p:cNvSpPr/>
          <p:nvPr/>
        </p:nvSpPr>
        <p:spPr>
          <a:xfrm>
            <a:off x="1362456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49" name="Naive float 4"/>
          <p:cNvSpPr/>
          <p:nvPr/>
        </p:nvSpPr>
        <p:spPr>
          <a:xfrm>
            <a:off x="1609344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0" name="Naive float 5"/>
          <p:cNvSpPr/>
          <p:nvPr/>
        </p:nvSpPr>
        <p:spPr>
          <a:xfrm>
            <a:off x="1856232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1" name="Naive float 6"/>
          <p:cNvSpPr/>
          <p:nvPr/>
        </p:nvSpPr>
        <p:spPr>
          <a:xfrm>
            <a:off x="2103120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2" name="Naive float 7"/>
          <p:cNvSpPr/>
          <p:nvPr/>
        </p:nvSpPr>
        <p:spPr>
          <a:xfrm>
            <a:off x="2350008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3" name="Naive float 8"/>
          <p:cNvSpPr/>
          <p:nvPr/>
        </p:nvSpPr>
        <p:spPr>
          <a:xfrm>
            <a:off x="2596896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4" name="Naive float 9"/>
          <p:cNvSpPr/>
          <p:nvPr/>
        </p:nvSpPr>
        <p:spPr>
          <a:xfrm>
            <a:off x="2843784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5" name="Naive float 10"/>
          <p:cNvSpPr/>
          <p:nvPr/>
        </p:nvSpPr>
        <p:spPr>
          <a:xfrm>
            <a:off x="3090672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6" name="Naive float 11"/>
          <p:cNvSpPr/>
          <p:nvPr/>
        </p:nvSpPr>
        <p:spPr>
          <a:xfrm>
            <a:off x="3337560" y="3246120"/>
            <a:ext cx="246888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7" name="Naive float 12"/>
          <p:cNvSpPr/>
          <p:nvPr/>
        </p:nvSpPr>
        <p:spPr>
          <a:xfrm>
            <a:off x="3584448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8" name="Naive float 13"/>
          <p:cNvSpPr/>
          <p:nvPr/>
        </p:nvSpPr>
        <p:spPr>
          <a:xfrm>
            <a:off x="3831336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59" name="Naive float 14"/>
          <p:cNvSpPr/>
          <p:nvPr/>
        </p:nvSpPr>
        <p:spPr>
          <a:xfrm>
            <a:off x="4078224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0" name="Naive float 15"/>
          <p:cNvSpPr/>
          <p:nvPr/>
        </p:nvSpPr>
        <p:spPr>
          <a:xfrm>
            <a:off x="4325112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1" name="Naive float 16"/>
          <p:cNvSpPr/>
          <p:nvPr/>
        </p:nvSpPr>
        <p:spPr>
          <a:xfrm>
            <a:off x="4572000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2" name="Naive float 17"/>
          <p:cNvSpPr/>
          <p:nvPr/>
        </p:nvSpPr>
        <p:spPr>
          <a:xfrm>
            <a:off x="4818888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3" name="Naive float 18"/>
          <p:cNvSpPr/>
          <p:nvPr/>
        </p:nvSpPr>
        <p:spPr>
          <a:xfrm>
            <a:off x="5065776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4" name="Naive float 19"/>
          <p:cNvSpPr/>
          <p:nvPr/>
        </p:nvSpPr>
        <p:spPr>
          <a:xfrm>
            <a:off x="5312664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5" name="Naive float 20"/>
          <p:cNvSpPr/>
          <p:nvPr/>
        </p:nvSpPr>
        <p:spPr>
          <a:xfrm>
            <a:off x="5559552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6" name="Naive float 21"/>
          <p:cNvSpPr/>
          <p:nvPr/>
        </p:nvSpPr>
        <p:spPr>
          <a:xfrm>
            <a:off x="5806440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7" name="Naive float 22"/>
          <p:cNvSpPr/>
          <p:nvPr/>
        </p:nvSpPr>
        <p:spPr>
          <a:xfrm>
            <a:off x="6053328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8" name="Naive float 23"/>
          <p:cNvSpPr/>
          <p:nvPr/>
        </p:nvSpPr>
        <p:spPr>
          <a:xfrm>
            <a:off x="6300216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9" name="Naive float 24"/>
          <p:cNvSpPr/>
          <p:nvPr/>
        </p:nvSpPr>
        <p:spPr>
          <a:xfrm>
            <a:off x="6547104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70" name="Naive float 25"/>
          <p:cNvSpPr/>
          <p:nvPr/>
        </p:nvSpPr>
        <p:spPr>
          <a:xfrm>
            <a:off x="6793992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71" name="Naive float 26"/>
          <p:cNvSpPr/>
          <p:nvPr/>
        </p:nvSpPr>
        <p:spPr>
          <a:xfrm>
            <a:off x="7040880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72" name="Naive float 27"/>
          <p:cNvSpPr/>
          <p:nvPr/>
        </p:nvSpPr>
        <p:spPr>
          <a:xfrm>
            <a:off x="7287768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73" name="Naive float 28"/>
          <p:cNvSpPr/>
          <p:nvPr/>
        </p:nvSpPr>
        <p:spPr>
          <a:xfrm>
            <a:off x="7534656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74" name="Naive float 29"/>
          <p:cNvSpPr/>
          <p:nvPr/>
        </p:nvSpPr>
        <p:spPr>
          <a:xfrm>
            <a:off x="7781544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75" name="Naive float 30"/>
          <p:cNvSpPr/>
          <p:nvPr/>
        </p:nvSpPr>
        <p:spPr>
          <a:xfrm>
            <a:off x="8028432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76" name="Naive float 31"/>
          <p:cNvSpPr/>
          <p:nvPr/>
        </p:nvSpPr>
        <p:spPr>
          <a:xfrm>
            <a:off x="8275320" y="3246120"/>
            <a:ext cx="246888" cy="38404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77" name="Naive cache line 0"/>
          <p:cNvSpPr/>
          <p:nvPr/>
        </p:nvSpPr>
        <p:spPr>
          <a:xfrm>
            <a:off x="603504" y="3200400"/>
            <a:ext cx="3986784" cy="475488"/>
          </a:xfrm>
          <a:prstGeom prst="rect">
            <a:avLst/>
          </a:prstGeom>
          <a:ln w="38100">
            <a:solidFill>
              <a:schemeClr val="accent3"/>
            </a:solidFill>
            <a:prstDash val="solid"/>
          </a:ln>
        </p:spPr>
      </p:sp>
      <p:sp>
        <p:nvSpPr>
          <p:cNvPr id="78" name="Naive cache line 0 label"/>
          <p:cNvSpPr txBox="1"/>
          <p:nvPr/>
        </p:nvSpPr>
        <p:spPr>
          <a:xfrm>
            <a:off x="621792" y="375818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cache line 0</a:t>
            </a:r>
            <a:endParaRPr lang="en-US" sz="1200" dirty="0"/>
          </a:p>
        </p:txBody>
      </p:sp>
      <p:sp>
        <p:nvSpPr>
          <p:cNvPr id="79" name="Naive cache line 1"/>
          <p:cNvSpPr/>
          <p:nvPr/>
        </p:nvSpPr>
        <p:spPr>
          <a:xfrm>
            <a:off x="4553712" y="3200400"/>
            <a:ext cx="3986784" cy="475488"/>
          </a:xfrm>
          <a:prstGeom prst="rect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80" name="Naive cache line 1 label"/>
          <p:cNvSpPr txBox="1"/>
          <p:nvPr/>
        </p:nvSpPr>
        <p:spPr>
          <a:xfrm>
            <a:off x="4572000" y="375818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cache line 1</a:t>
            </a:r>
            <a:endParaRPr lang="en-US" sz="1200" dirty="0"/>
          </a:p>
        </p:txBody>
      </p:sp>
      <p:sp>
        <p:nvSpPr>
          <p:cNvPr id="81" name="Naive mark"/>
          <p:cNvSpPr/>
          <p:nvPr/>
        </p:nvSpPr>
        <p:spPr>
          <a:xfrm>
            <a:off x="457200" y="4087368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2" name="Naive mark label"/>
          <p:cNvSpPr txBox="1"/>
          <p:nvPr/>
        </p:nvSpPr>
        <p:spPr>
          <a:xfrm>
            <a:off x="457200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!</a:t>
            </a:r>
            <a:endParaRPr lang="en-US" sz="1400" dirty="0"/>
          </a:p>
        </p:txBody>
      </p:sp>
      <p:sp>
        <p:nvSpPr>
          <p:cNvPr id="83" name="Naive note"/>
          <p:cNvSpPr txBox="1"/>
          <p:nvPr/>
        </p:nvSpPr>
        <p:spPr>
          <a:xfrm>
            <a:off x="82296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 0 is written by both threads: the cores keep invalidating each other's copy (false sharing)</a:t>
            </a:r>
            <a:endParaRPr lang="en-US" sz="1400" dirty="0"/>
          </a:p>
        </p:txBody>
      </p:sp>
      <p:sp>
        <p:nvSpPr>
          <p:cNvPr id="84" name="Legend"/>
          <p:cNvSpPr txBox="1"/>
          <p:nvPr/>
        </p:nvSpPr>
        <p:spPr>
          <a:xfrm>
            <a:off x="457200" y="45262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square is one float (4 bytes); 16 floats make one 64-byte cache 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Running it: parallel_for</a:t>
            </a:r>
            <a:endParaRPr lang="en-US" sz="3400" dirty="0"/>
          </a:p>
        </p:txBody>
      </p:sp>
      <p:sp>
        <p:nvSpPr>
          <p:cNvPr id="3" name="parallel_for code panel"/>
          <p:cNvSpPr/>
          <p:nvPr/>
        </p:nvSpPr>
        <p:spPr>
          <a:xfrm>
            <a:off x="457200" y="1188720"/>
            <a:ext cx="49377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4" name="parallel_for code"/>
          <p:cNvSpPr txBox="1"/>
          <p:nvPr/>
        </p:nvSpPr>
        <p:spPr>
          <a:xfrm>
            <a:off x="621792" y="1316736"/>
            <a:ext cx="46085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&gt; grain &amp;&amp; omp_get_max_threads() &gt;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block_range(n, omp_get_num_threads(),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omp_get_thread_num(), b, 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 &lt; e) body(b, 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body(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n);  </a:t>
            </a:r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small input: run serially</a:t>
            </a:r>
            <a:endParaRPr lang="en-US" sz="1100" dirty="0"/>
          </a:p>
        </p:txBody>
      </p:sp>
      <p:sp>
        <p:nvSpPr>
          <p:cNvPr id="5" name="kernel code panel"/>
          <p:cNvSpPr/>
          <p:nvPr/>
        </p:nvSpPr>
        <p:spPr>
          <a:xfrm>
            <a:off x="457200" y="3474720"/>
            <a:ext cx="493776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6" name="kernel code"/>
          <p:cNvSpPr txBox="1"/>
          <p:nvPr/>
        </p:nvSpPr>
        <p:spPr>
          <a:xfrm>
            <a:off x="621792" y="3602736"/>
            <a:ext cx="4608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parallel_for(n, [=](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lo; i &lt; hi; ++i)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out[i] = op(a[i], b[i]);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   </a:t>
            </a:r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add / sub / mul / div kernel</a:t>
            </a:r>
            <a:endParaRPr lang="en-US" sz="1100" dirty="0"/>
          </a:p>
        </p:txBody>
      </p:sp>
      <p:sp>
        <p:nvSpPr>
          <p:cNvPr id="7" name="Excerpt note"/>
          <p:cNvSpPr txBox="1"/>
          <p:nvPr/>
        </p:nvSpPr>
        <p:spPr>
          <a:xfrm>
            <a:off x="3108960" y="4572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simplified excerpts</a:t>
            </a:r>
            <a:endParaRPr lang="en-US" sz="1000" dirty="0"/>
          </a:p>
        </p:txBody>
      </p:sp>
      <p:sp>
        <p:nvSpPr>
          <p:cNvPr id="8" name="Note 1"/>
          <p:cNvSpPr/>
          <p:nvPr/>
        </p:nvSpPr>
        <p:spPr>
          <a:xfrm>
            <a:off x="5577840" y="118872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Note 1 badge"/>
          <p:cNvSpPr/>
          <p:nvPr/>
        </p:nvSpPr>
        <p:spPr>
          <a:xfrm>
            <a:off x="5715000" y="1316736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ote 1 badge label"/>
          <p:cNvSpPr txBox="1"/>
          <p:nvPr/>
        </p:nvSpPr>
        <p:spPr>
          <a:xfrm>
            <a:off x="571500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Note 1 title"/>
          <p:cNvSpPr txBox="1"/>
          <p:nvPr/>
        </p:nvSpPr>
        <p:spPr>
          <a:xfrm>
            <a:off x="6080760" y="1316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Serial fallback</a:t>
            </a:r>
            <a:endParaRPr lang="en-US" sz="1400" dirty="0"/>
          </a:p>
        </p:txBody>
      </p:sp>
      <p:sp>
        <p:nvSpPr>
          <p:cNvPr id="12" name="Note 1 text"/>
          <p:cNvSpPr txBox="1"/>
          <p:nvPr/>
        </p:nvSpPr>
        <p:spPr>
          <a:xfrm>
            <a:off x="5715000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 of 32,768 or fewer, or one thread: run body(0, n) directly.</a:t>
            </a:r>
            <a:endParaRPr lang="en-US" sz="1400" dirty="0"/>
          </a:p>
        </p:txBody>
      </p:sp>
      <p:sp>
        <p:nvSpPr>
          <p:cNvPr id="13" name="Note 2"/>
          <p:cNvSpPr/>
          <p:nvPr/>
        </p:nvSpPr>
        <p:spPr>
          <a:xfrm>
            <a:off x="5577840" y="228600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Note 2 badge"/>
          <p:cNvSpPr/>
          <p:nvPr/>
        </p:nvSpPr>
        <p:spPr>
          <a:xfrm>
            <a:off x="5715000" y="241401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Note 2 badge label"/>
          <p:cNvSpPr txBox="1"/>
          <p:nvPr/>
        </p:nvSpPr>
        <p:spPr>
          <a:xfrm>
            <a:off x="5715000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Note 2 title"/>
          <p:cNvSpPr txBox="1"/>
          <p:nvPr/>
        </p:nvSpPr>
        <p:spPr>
          <a:xfrm>
            <a:off x="6080760" y="2414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region</a:t>
            </a:r>
            <a:endParaRPr lang="en-US" sz="1400" dirty="0"/>
          </a:p>
        </p:txBody>
      </p:sp>
      <p:sp>
        <p:nvSpPr>
          <p:cNvPr id="17" name="Note 2 text"/>
          <p:cNvSpPr txBox="1"/>
          <p:nvPr/>
        </p:nvSpPr>
        <p:spPr>
          <a:xfrm>
            <a:off x="5715000" y="2743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thread computes its own range. No locks needed.</a:t>
            </a:r>
            <a:endParaRPr lang="en-US" sz="1400" dirty="0"/>
          </a:p>
        </p:txBody>
      </p:sp>
      <p:sp>
        <p:nvSpPr>
          <p:cNvPr id="18" name="Note 3"/>
          <p:cNvSpPr/>
          <p:nvPr/>
        </p:nvSpPr>
        <p:spPr>
          <a:xfrm>
            <a:off x="5577840" y="338328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Note 3 badge"/>
          <p:cNvSpPr/>
          <p:nvPr/>
        </p:nvSpPr>
        <p:spPr>
          <a:xfrm>
            <a:off x="5715000" y="3511296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Note 3 badge label"/>
          <p:cNvSpPr txBox="1"/>
          <p:nvPr/>
        </p:nvSpPr>
        <p:spPr>
          <a:xfrm>
            <a:off x="571500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Note 3 title"/>
          <p:cNvSpPr txBox="1"/>
          <p:nvPr/>
        </p:nvSpPr>
        <p:spPr>
          <a:xfrm>
            <a:off x="6080760" y="3511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pragmas in kernels</a:t>
            </a:r>
            <a:endParaRPr lang="en-US" sz="1400" dirty="0"/>
          </a:p>
        </p:txBody>
      </p:sp>
      <p:sp>
        <p:nvSpPr>
          <p:cNvPr id="22" name="Note 3 text"/>
          <p:cNvSpPr txBox="1"/>
          <p:nvPr/>
        </p:nvSpPr>
        <p:spPr>
          <a:xfrm>
            <a:off x="571500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add, sub, mul and div differ only in 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Reductions without races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Each thread sums its own block</a:t>
            </a:r>
            <a:endParaRPr lang="en-US" sz="1400" dirty="0"/>
          </a:p>
        </p:txBody>
      </p:sp>
      <p:sp>
        <p:nvSpPr>
          <p:cNvPr id="4" name="Seg T0"/>
          <p:cNvSpPr/>
          <p:nvPr/>
        </p:nvSpPr>
        <p:spPr>
          <a:xfrm>
            <a:off x="457200" y="1508760"/>
            <a:ext cx="100584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eg T0 label"/>
          <p:cNvSpPr txBox="1"/>
          <p:nvPr/>
        </p:nvSpPr>
        <p:spPr>
          <a:xfrm>
            <a:off x="45720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T0</a:t>
            </a:r>
            <a:endParaRPr lang="en-US" sz="1600" dirty="0"/>
          </a:p>
        </p:txBody>
      </p:sp>
      <p:sp>
        <p:nvSpPr>
          <p:cNvPr id="6" name="Down 0"/>
          <p:cNvSpPr/>
          <p:nvPr/>
        </p:nvSpPr>
        <p:spPr>
          <a:xfrm>
            <a:off x="960120" y="1984248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Partial 0"/>
          <p:cNvSpPr/>
          <p:nvPr/>
        </p:nvSpPr>
        <p:spPr>
          <a:xfrm>
            <a:off x="548640" y="237744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8" name="Partial 0 label"/>
          <p:cNvSpPr txBox="1"/>
          <p:nvPr/>
        </p:nvSpPr>
        <p:spPr>
          <a:xfrm>
            <a:off x="54864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p0</a:t>
            </a:r>
            <a:endParaRPr lang="en-US" sz="1600" dirty="0"/>
          </a:p>
        </p:txBody>
      </p:sp>
      <p:sp>
        <p:nvSpPr>
          <p:cNvPr id="9" name="Bus drop 0"/>
          <p:cNvSpPr/>
          <p:nvPr/>
        </p:nvSpPr>
        <p:spPr>
          <a:xfrm>
            <a:off x="960120" y="283464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0" name="Seg T1"/>
          <p:cNvSpPr/>
          <p:nvPr/>
        </p:nvSpPr>
        <p:spPr>
          <a:xfrm>
            <a:off x="1463040" y="1508760"/>
            <a:ext cx="100584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Seg T1 label"/>
          <p:cNvSpPr txBox="1"/>
          <p:nvPr/>
        </p:nvSpPr>
        <p:spPr>
          <a:xfrm>
            <a:off x="146304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T1</a:t>
            </a:r>
            <a:endParaRPr lang="en-US" sz="1600" dirty="0"/>
          </a:p>
        </p:txBody>
      </p:sp>
      <p:sp>
        <p:nvSpPr>
          <p:cNvPr id="12" name="Down 1"/>
          <p:cNvSpPr/>
          <p:nvPr/>
        </p:nvSpPr>
        <p:spPr>
          <a:xfrm>
            <a:off x="1965960" y="1984248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Partial 1"/>
          <p:cNvSpPr/>
          <p:nvPr/>
        </p:nvSpPr>
        <p:spPr>
          <a:xfrm>
            <a:off x="1554480" y="237744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4" name="Partial 1 label"/>
          <p:cNvSpPr txBox="1"/>
          <p:nvPr/>
        </p:nvSpPr>
        <p:spPr>
          <a:xfrm>
            <a:off x="155448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p1</a:t>
            </a:r>
            <a:endParaRPr lang="en-US" sz="1600" dirty="0"/>
          </a:p>
        </p:txBody>
      </p:sp>
      <p:sp>
        <p:nvSpPr>
          <p:cNvPr id="15" name="Bus drop 1"/>
          <p:cNvSpPr/>
          <p:nvPr/>
        </p:nvSpPr>
        <p:spPr>
          <a:xfrm>
            <a:off x="1965960" y="283464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6" name="Seg T2"/>
          <p:cNvSpPr/>
          <p:nvPr/>
        </p:nvSpPr>
        <p:spPr>
          <a:xfrm>
            <a:off x="2468880" y="1508760"/>
            <a:ext cx="100584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" name="Seg T2 label"/>
          <p:cNvSpPr txBox="1"/>
          <p:nvPr/>
        </p:nvSpPr>
        <p:spPr>
          <a:xfrm>
            <a:off x="246888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T2</a:t>
            </a:r>
            <a:endParaRPr lang="en-US" sz="1600" dirty="0"/>
          </a:p>
        </p:txBody>
      </p:sp>
      <p:sp>
        <p:nvSpPr>
          <p:cNvPr id="18" name="Down 2"/>
          <p:cNvSpPr/>
          <p:nvPr/>
        </p:nvSpPr>
        <p:spPr>
          <a:xfrm>
            <a:off x="2971800" y="1984248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Partial 2"/>
          <p:cNvSpPr/>
          <p:nvPr/>
        </p:nvSpPr>
        <p:spPr>
          <a:xfrm>
            <a:off x="2560320" y="237744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0" name="Partial 2 label"/>
          <p:cNvSpPr txBox="1"/>
          <p:nvPr/>
        </p:nvSpPr>
        <p:spPr>
          <a:xfrm>
            <a:off x="256032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p2</a:t>
            </a:r>
            <a:endParaRPr lang="en-US" sz="1600" dirty="0"/>
          </a:p>
        </p:txBody>
      </p:sp>
      <p:sp>
        <p:nvSpPr>
          <p:cNvPr id="21" name="Bus drop 2"/>
          <p:cNvSpPr/>
          <p:nvPr/>
        </p:nvSpPr>
        <p:spPr>
          <a:xfrm>
            <a:off x="2971800" y="283464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2" name="Seg T3"/>
          <p:cNvSpPr/>
          <p:nvPr/>
        </p:nvSpPr>
        <p:spPr>
          <a:xfrm>
            <a:off x="3474720" y="1508760"/>
            <a:ext cx="1005840" cy="4572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3" name="Seg T3 label"/>
          <p:cNvSpPr txBox="1"/>
          <p:nvPr/>
        </p:nvSpPr>
        <p:spPr>
          <a:xfrm>
            <a:off x="347472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T3</a:t>
            </a:r>
            <a:endParaRPr lang="en-US" sz="1600" dirty="0"/>
          </a:p>
        </p:txBody>
      </p:sp>
      <p:sp>
        <p:nvSpPr>
          <p:cNvPr id="24" name="Down 3"/>
          <p:cNvSpPr/>
          <p:nvPr/>
        </p:nvSpPr>
        <p:spPr>
          <a:xfrm>
            <a:off x="3977640" y="1984248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Partial 3"/>
          <p:cNvSpPr/>
          <p:nvPr/>
        </p:nvSpPr>
        <p:spPr>
          <a:xfrm>
            <a:off x="3566160" y="237744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26" name="Partial 3 label"/>
          <p:cNvSpPr txBox="1"/>
          <p:nvPr/>
        </p:nvSpPr>
        <p:spPr>
          <a:xfrm>
            <a:off x="356616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p3</a:t>
            </a:r>
            <a:endParaRPr lang="en-US" sz="1600" dirty="0"/>
          </a:p>
        </p:txBody>
      </p:sp>
      <p:sp>
        <p:nvSpPr>
          <p:cNvPr id="27" name="Bus drop 3"/>
          <p:cNvSpPr/>
          <p:nvPr/>
        </p:nvSpPr>
        <p:spPr>
          <a:xfrm>
            <a:off x="3977640" y="283464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8" name="Bus"/>
          <p:cNvSpPr/>
          <p:nvPr/>
        </p:nvSpPr>
        <p:spPr>
          <a:xfrm>
            <a:off x="960120" y="3063240"/>
            <a:ext cx="30175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9" name="Bus to total"/>
          <p:cNvSpPr/>
          <p:nvPr/>
        </p:nvSpPr>
        <p:spPr>
          <a:xfrm>
            <a:off x="2468880" y="306324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0" name="Total box"/>
          <p:cNvSpPr/>
          <p:nvPr/>
        </p:nvSpPr>
        <p:spPr>
          <a:xfrm>
            <a:off x="1371600" y="3401568"/>
            <a:ext cx="219456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/>
        </p:spPr>
      </p:sp>
      <p:sp>
        <p:nvSpPr>
          <p:cNvPr id="31" name="Total label"/>
          <p:cNvSpPr txBox="1"/>
          <p:nvPr/>
        </p:nvSpPr>
        <p:spPr>
          <a:xfrm>
            <a:off x="1371600" y="3401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p0 + p1 + p2 + p3</a:t>
            </a:r>
            <a:endParaRPr lang="en-US" sz="1400" dirty="0"/>
          </a:p>
        </p:txBody>
      </p:sp>
      <p:sp>
        <p:nvSpPr>
          <p:cNvPr id="32" name="Reduction note"/>
          <p:cNvSpPr txBox="1"/>
          <p:nvPr/>
        </p:nvSpPr>
        <p:spPr>
          <a:xfrm>
            <a:off x="457200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Partials are added in thread order, so a given thread count always gives the same answer.</a:t>
            </a:r>
            <a:endParaRPr lang="en-US" sz="1400" dirty="0"/>
          </a:p>
        </p:txBody>
      </p:sp>
      <p:sp>
        <p:nvSpPr>
          <p:cNvPr id="33" name="parallel_sum code panel"/>
          <p:cNvSpPr/>
          <p:nvPr/>
        </p:nvSpPr>
        <p:spPr>
          <a:xfrm>
            <a:off x="4754880" y="118872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34" name="parallel_sum code"/>
          <p:cNvSpPr txBox="1"/>
          <p:nvPr/>
        </p:nvSpPr>
        <p:spPr>
          <a:xfrm>
            <a:off x="4919472" y="1316736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parallel_sum, simplified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partial(nthreads);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block_range(n, nthreads, id, b, 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 &lt; e) partial[id] = body(b, 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=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: partial) total += p;</a:t>
            </a:r>
            <a:endParaRPr lang="en-US" sz="1100" dirty="0"/>
          </a:p>
        </p:txBody>
      </p:sp>
      <p:sp>
        <p:nvSpPr>
          <p:cNvPr id="35" name="dot body code panel"/>
          <p:cNvSpPr/>
          <p:nvPr/>
        </p:nvSpPr>
        <p:spPr>
          <a:xfrm>
            <a:off x="4754880" y="310896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36" name="dot body code"/>
          <p:cNvSpPr txBox="1"/>
          <p:nvPr/>
        </p:nvSpPr>
        <p:spPr>
          <a:xfrm>
            <a:off x="4919472" y="3236976"/>
            <a:ext cx="36027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dot: what body(b, e) does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 =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b; i &lt; e; ++i)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 +=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(x[i]) *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(y[i]);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sum;   </a:t>
            </a:r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double, not float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small inputs get slower</a:t>
            </a:r>
            <a:endParaRPr lang="en-US" sz="3400" dirty="0"/>
          </a:p>
        </p:txBody>
      </p:sp>
      <p:sp>
        <p:nvSpPr>
          <p:cNvPr id="3" name="Large heading"/>
          <p:cNvSpPr txBox="1"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Large input: 10 million elements</a:t>
            </a:r>
            <a:endParaRPr lang="en-US" sz="1400" dirty="0"/>
          </a:p>
        </p:txBody>
      </p:sp>
      <p:sp>
        <p:nvSpPr>
          <p:cNvPr id="4" name="Large serial label"/>
          <p:cNvSpPr txBox="1"/>
          <p:nvPr/>
        </p:nvSpPr>
        <p:spPr>
          <a:xfrm>
            <a:off x="457200" y="1417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 thread</a:t>
            </a:r>
            <a:endParaRPr lang="en-US" sz="1200" dirty="0"/>
          </a:p>
        </p:txBody>
      </p:sp>
      <p:sp>
        <p:nvSpPr>
          <p:cNvPr id="5" name="Large serial bar"/>
          <p:cNvSpPr/>
          <p:nvPr/>
        </p:nvSpPr>
        <p:spPr>
          <a:xfrm>
            <a:off x="1737360" y="1426464"/>
            <a:ext cx="6583680" cy="18288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" name="Large T0 label"/>
          <p:cNvSpPr txBox="1"/>
          <p:nvPr/>
        </p:nvSpPr>
        <p:spPr>
          <a:xfrm>
            <a:off x="457200" y="16550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thread 0</a:t>
            </a:r>
            <a:endParaRPr lang="en-US" sz="1200" dirty="0"/>
          </a:p>
        </p:txBody>
      </p:sp>
      <p:sp>
        <p:nvSpPr>
          <p:cNvPr id="7" name="Large T0 wake"/>
          <p:cNvSpPr/>
          <p:nvPr/>
        </p:nvSpPr>
        <p:spPr>
          <a:xfrm>
            <a:off x="1737360" y="1664208"/>
            <a:ext cx="457200" cy="1828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8" name="Large T0 work"/>
          <p:cNvSpPr/>
          <p:nvPr/>
        </p:nvSpPr>
        <p:spPr>
          <a:xfrm>
            <a:off x="2194560" y="1664208"/>
            <a:ext cx="1188720" cy="182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Large T1 label"/>
          <p:cNvSpPr txBox="1"/>
          <p:nvPr/>
        </p:nvSpPr>
        <p:spPr>
          <a:xfrm>
            <a:off x="457200" y="18928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thread 1</a:t>
            </a:r>
            <a:endParaRPr lang="en-US" sz="1200" dirty="0"/>
          </a:p>
        </p:txBody>
      </p:sp>
      <p:sp>
        <p:nvSpPr>
          <p:cNvPr id="10" name="Large T1 wake"/>
          <p:cNvSpPr/>
          <p:nvPr/>
        </p:nvSpPr>
        <p:spPr>
          <a:xfrm>
            <a:off x="1737360" y="1901952"/>
            <a:ext cx="457200" cy="1828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1" name="Large T1 work"/>
          <p:cNvSpPr/>
          <p:nvPr/>
        </p:nvSpPr>
        <p:spPr>
          <a:xfrm>
            <a:off x="2194560" y="1901952"/>
            <a:ext cx="1188720" cy="182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Large T2 label"/>
          <p:cNvSpPr txBox="1"/>
          <p:nvPr/>
        </p:nvSpPr>
        <p:spPr>
          <a:xfrm>
            <a:off x="457200" y="21305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thread 2</a:t>
            </a:r>
            <a:endParaRPr lang="en-US" sz="1200" dirty="0"/>
          </a:p>
        </p:txBody>
      </p:sp>
      <p:sp>
        <p:nvSpPr>
          <p:cNvPr id="13" name="Large T2 wake"/>
          <p:cNvSpPr/>
          <p:nvPr/>
        </p:nvSpPr>
        <p:spPr>
          <a:xfrm>
            <a:off x="1737360" y="2139696"/>
            <a:ext cx="457200" cy="1828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4" name="Large T2 work"/>
          <p:cNvSpPr/>
          <p:nvPr/>
        </p:nvSpPr>
        <p:spPr>
          <a:xfrm>
            <a:off x="2194560" y="2139696"/>
            <a:ext cx="1188720" cy="1828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Large T3 label"/>
          <p:cNvSpPr txBox="1"/>
          <p:nvPr/>
        </p:nvSpPr>
        <p:spPr>
          <a:xfrm>
            <a:off x="457200" y="23682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thread 3</a:t>
            </a:r>
            <a:endParaRPr lang="en-US" sz="1200" dirty="0"/>
          </a:p>
        </p:txBody>
      </p:sp>
      <p:sp>
        <p:nvSpPr>
          <p:cNvPr id="16" name="Large T3 wake"/>
          <p:cNvSpPr/>
          <p:nvPr/>
        </p:nvSpPr>
        <p:spPr>
          <a:xfrm>
            <a:off x="1737360" y="2377440"/>
            <a:ext cx="457200" cy="1828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Large T3 work"/>
          <p:cNvSpPr/>
          <p:nvPr/>
        </p:nvSpPr>
        <p:spPr>
          <a:xfrm>
            <a:off x="2194560" y="2377440"/>
            <a:ext cx="1188720" cy="1828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8" name="Large note"/>
          <p:cNvSpPr txBox="1"/>
          <p:nvPr/>
        </p:nvSpPr>
        <p:spPr>
          <a:xfrm>
            <a:off x="3657600" y="1783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case: four threads finish in about a quarter of the time. Memory-bound ops gain less (next slide).</a:t>
            </a:r>
            <a:endParaRPr lang="en-US" sz="1400" dirty="0"/>
          </a:p>
        </p:txBody>
      </p:sp>
      <p:sp>
        <p:nvSpPr>
          <p:cNvPr id="19" name="Small heading"/>
          <p:cNvSpPr txBox="1"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Small input: 100 thousand elements</a:t>
            </a:r>
            <a:endParaRPr lang="en-US" sz="1400" dirty="0"/>
          </a:p>
        </p:txBody>
      </p:sp>
      <p:sp>
        <p:nvSpPr>
          <p:cNvPr id="20" name="Small serial label"/>
          <p:cNvSpPr txBox="1"/>
          <p:nvPr/>
        </p:nvSpPr>
        <p:spPr>
          <a:xfrm>
            <a:off x="457200" y="3108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 thread</a:t>
            </a:r>
            <a:endParaRPr lang="en-US" sz="1200" dirty="0"/>
          </a:p>
        </p:txBody>
      </p:sp>
      <p:sp>
        <p:nvSpPr>
          <p:cNvPr id="21" name="Small serial bar"/>
          <p:cNvSpPr/>
          <p:nvPr/>
        </p:nvSpPr>
        <p:spPr>
          <a:xfrm>
            <a:off x="1737360" y="3118104"/>
            <a:ext cx="914400" cy="18288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2" name="Small T0 label"/>
          <p:cNvSpPr txBox="1"/>
          <p:nvPr/>
        </p:nvSpPr>
        <p:spPr>
          <a:xfrm>
            <a:off x="457200" y="33467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thread 0</a:t>
            </a:r>
            <a:endParaRPr lang="en-US" sz="1200" dirty="0"/>
          </a:p>
        </p:txBody>
      </p:sp>
      <p:sp>
        <p:nvSpPr>
          <p:cNvPr id="23" name="Small T0 wake"/>
          <p:cNvSpPr/>
          <p:nvPr/>
        </p:nvSpPr>
        <p:spPr>
          <a:xfrm>
            <a:off x="1737360" y="3355848"/>
            <a:ext cx="1828800" cy="1828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4" name="Small T0 work"/>
          <p:cNvSpPr/>
          <p:nvPr/>
        </p:nvSpPr>
        <p:spPr>
          <a:xfrm>
            <a:off x="3566160" y="3355848"/>
            <a:ext cx="228600" cy="182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mall T1 label"/>
          <p:cNvSpPr txBox="1"/>
          <p:nvPr/>
        </p:nvSpPr>
        <p:spPr>
          <a:xfrm>
            <a:off x="457200" y="3584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thread 1</a:t>
            </a:r>
            <a:endParaRPr lang="en-US" sz="1200" dirty="0"/>
          </a:p>
        </p:txBody>
      </p:sp>
      <p:sp>
        <p:nvSpPr>
          <p:cNvPr id="26" name="Small T1 wake"/>
          <p:cNvSpPr/>
          <p:nvPr/>
        </p:nvSpPr>
        <p:spPr>
          <a:xfrm>
            <a:off x="1737360" y="3593592"/>
            <a:ext cx="1828800" cy="1828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7" name="Small T1 work"/>
          <p:cNvSpPr/>
          <p:nvPr/>
        </p:nvSpPr>
        <p:spPr>
          <a:xfrm>
            <a:off x="3566160" y="3593592"/>
            <a:ext cx="228600" cy="182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Small T2 label"/>
          <p:cNvSpPr txBox="1"/>
          <p:nvPr/>
        </p:nvSpPr>
        <p:spPr>
          <a:xfrm>
            <a:off x="457200" y="3822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thread 2</a:t>
            </a:r>
            <a:endParaRPr lang="en-US" sz="1200" dirty="0"/>
          </a:p>
        </p:txBody>
      </p:sp>
      <p:sp>
        <p:nvSpPr>
          <p:cNvPr id="29" name="Small T2 wake"/>
          <p:cNvSpPr/>
          <p:nvPr/>
        </p:nvSpPr>
        <p:spPr>
          <a:xfrm>
            <a:off x="1737360" y="3831336"/>
            <a:ext cx="1828800" cy="1828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0" name="Small T2 work"/>
          <p:cNvSpPr/>
          <p:nvPr/>
        </p:nvSpPr>
        <p:spPr>
          <a:xfrm>
            <a:off x="3566160" y="3831336"/>
            <a:ext cx="228600" cy="1828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" name="Small T3 label"/>
          <p:cNvSpPr txBox="1"/>
          <p:nvPr/>
        </p:nvSpPr>
        <p:spPr>
          <a:xfrm>
            <a:off x="457200" y="40599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thread 3</a:t>
            </a:r>
            <a:endParaRPr lang="en-US" sz="1200" dirty="0"/>
          </a:p>
        </p:txBody>
      </p:sp>
      <p:sp>
        <p:nvSpPr>
          <p:cNvPr id="32" name="Small T3 wake"/>
          <p:cNvSpPr/>
          <p:nvPr/>
        </p:nvSpPr>
        <p:spPr>
          <a:xfrm>
            <a:off x="1737360" y="4069080"/>
            <a:ext cx="1828800" cy="1828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3" name="Small T3 work"/>
          <p:cNvSpPr/>
          <p:nvPr/>
        </p:nvSpPr>
        <p:spPr>
          <a:xfrm>
            <a:off x="3566160" y="4069080"/>
            <a:ext cx="228600" cy="1828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4" name="Small note"/>
          <p:cNvSpPr txBox="1"/>
          <p:nvPr/>
        </p:nvSpPr>
        <p:spPr>
          <a:xfrm>
            <a:off x="4069080" y="34747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Waking the threads costs more than the work saves.</a:t>
            </a:r>
            <a:endParaRPr lang="en-US" sz="1400" dirty="0"/>
          </a:p>
        </p:txBody>
      </p:sp>
      <p:sp>
        <p:nvSpPr>
          <p:cNvPr id="35" name="Legend wake"/>
          <p:cNvSpPr/>
          <p:nvPr/>
        </p:nvSpPr>
        <p:spPr>
          <a:xfrm>
            <a:off x="457200" y="4434840"/>
            <a:ext cx="164592" cy="1645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6" name="Legend wake label"/>
          <p:cNvSpPr txBox="1"/>
          <p:nvPr/>
        </p:nvSpPr>
        <p:spPr>
          <a:xfrm>
            <a:off x="713232" y="4407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waking the threads (overhead)</a:t>
            </a:r>
            <a:endParaRPr lang="en-US" sz="1200" dirty="0"/>
          </a:p>
        </p:txBody>
      </p:sp>
      <p:sp>
        <p:nvSpPr>
          <p:cNvPr id="37" name="Legend work"/>
          <p:cNvSpPr/>
          <p:nvPr/>
        </p:nvSpPr>
        <p:spPr>
          <a:xfrm>
            <a:off x="3566160" y="4434840"/>
            <a:ext cx="164592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Legend work label"/>
          <p:cNvSpPr txBox="1"/>
          <p:nvPr/>
        </p:nvSpPr>
        <p:spPr>
          <a:xfrm>
            <a:off x="3822192" y="44074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work (colour = thread)</a:t>
            </a:r>
            <a:endParaRPr lang="en-US" sz="1200" dirty="0"/>
          </a:p>
        </p:txBody>
      </p:sp>
      <p:sp>
        <p:nvSpPr>
          <p:cNvPr id="39" name="Scale note"/>
          <p:cNvSpPr txBox="1"/>
          <p:nvPr/>
        </p:nvSpPr>
        <p:spPr>
          <a:xfrm>
            <a:off x="6126480" y="4407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Illustrative, not to scale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benchmark shows</a:t>
            </a:r>
            <a:endParaRPr lang="en-US" sz="3400" dirty="0"/>
          </a:p>
        </p:txBody>
      </p:sp>
      <p:graphicFrame>
        <p:nvGraphicFramePr>
          <p:cNvPr id="3" name="10 million elements (GB/s)" descr=""/>
          <p:cNvGraphicFramePr/>
          <p:nvPr/>
        </p:nvGraphicFramePr>
        <p:xfrm>
          <a:off x="457200" y="114300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100,000 elements (speed-up)" descr=""/>
          <p:cNvGraphicFramePr/>
          <p:nvPr/>
        </p:nvGraphicFramePr>
        <p:xfrm>
          <a:off x="4663440" y="114300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hart 1 takeaway"/>
          <p:cNvSpPr txBox="1"/>
          <p:nvPr/>
        </p:nvSpPr>
        <p:spPr>
          <a:xfrm>
            <a:off x="457200" y="4114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Memory bandwidth tops out near 18 GB/s, so extra threads stop helping.</a:t>
            </a:r>
            <a:endParaRPr lang="en-US" sz="1400" dirty="0"/>
          </a:p>
        </p:txBody>
      </p:sp>
      <p:sp>
        <p:nvSpPr>
          <p:cNvPr id="6" name="Chart 2 takeaway"/>
          <p:cNvSpPr txBox="1"/>
          <p:nvPr/>
        </p:nvSpPr>
        <p:spPr>
          <a:xfrm>
            <a:off x="4663440" y="4114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Below 1.0x the threaded run is slower than serial: the cutoff is too low.</a:t>
            </a:r>
            <a:endParaRPr lang="en-US" sz="1400" dirty="0"/>
          </a:p>
        </p:txBody>
      </p:sp>
      <p:sp>
        <p:nvSpPr>
          <p:cNvPr id="7" name="Footnote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Intel Core i7-10510U (4 cores, 8 threads), GCC 16.1, -O3. Single runs on a laptop: expect noise.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Takeaways and next steps</a:t>
            </a:r>
            <a:endParaRPr lang="en-US" sz="3400" dirty="0"/>
          </a:p>
        </p:txBody>
      </p:sp>
      <p:sp>
        <p:nvSpPr>
          <p:cNvPr id="3" name="Stat 1"/>
          <p:cNvSpPr txBox="1"/>
          <p:nvPr/>
        </p:nvSpPr>
        <p:spPr>
          <a:xfrm>
            <a:off x="457200" y="13258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3.5–3.8×</a:t>
            </a:r>
            <a:endParaRPr lang="en-US" sz="3800" dirty="0"/>
          </a:p>
        </p:txBody>
      </p:sp>
      <p:sp>
        <p:nvSpPr>
          <p:cNvPr id="4" name="Stat 1 label"/>
          <p:cNvSpPr txBox="1"/>
          <p:nvPr/>
        </p:nvSpPr>
        <p:spPr>
          <a:xfrm>
            <a:off x="457200" y="20574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dot vs a serial double loop, 1M+ elements</a:t>
            </a:r>
            <a:endParaRPr lang="en-US" sz="1400" dirty="0"/>
          </a:p>
        </p:txBody>
      </p:sp>
      <p:sp>
        <p:nvSpPr>
          <p:cNvPr id="5" name="Stat 2"/>
          <p:cNvSpPr txBox="1"/>
          <p:nvPr/>
        </p:nvSpPr>
        <p:spPr>
          <a:xfrm>
            <a:off x="3246120" y="13258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≤ 1.6×</a:t>
            </a:r>
            <a:endParaRPr lang="en-US" sz="3800" dirty="0"/>
          </a:p>
        </p:txBody>
      </p:sp>
      <p:sp>
        <p:nvSpPr>
          <p:cNvPr id="6" name="Stat 2 label"/>
          <p:cNvSpPr txBox="1"/>
          <p:nvPr/>
        </p:nvSpPr>
        <p:spPr>
          <a:xfrm>
            <a:off x="3246120" y="20574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add and mul at 10M elements: bandwidth-bound</a:t>
            </a:r>
            <a:endParaRPr lang="en-US" sz="1400" dirty="0"/>
          </a:p>
        </p:txBody>
      </p:sp>
      <p:sp>
        <p:nvSpPr>
          <p:cNvPr id="7" name="Stat 3"/>
          <p:cNvSpPr txBox="1"/>
          <p:nvPr/>
        </p:nvSpPr>
        <p:spPr>
          <a:xfrm>
            <a:off x="6035040" y="13258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</a:rPr>
              <a:t>0.2–0.5×</a:t>
            </a:r>
            <a:endParaRPr lang="en-US" sz="3800" dirty="0"/>
          </a:p>
        </p:txBody>
      </p:sp>
      <p:sp>
        <p:nvSpPr>
          <p:cNvPr id="8" name="Stat 3 label"/>
          <p:cNvSpPr txBox="1"/>
          <p:nvPr/>
        </p:nvSpPr>
        <p:spPr>
          <a:xfrm>
            <a:off x="6035040" y="20574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add and mul at 100k: slower than serial</a:t>
            </a:r>
            <a:endParaRPr lang="en-US" sz="1400" dirty="0"/>
          </a:p>
        </p:txBody>
      </p:sp>
      <p:sp>
        <p:nvSpPr>
          <p:cNvPr id="9" name="Not parallel list heading"/>
          <p:cNvSpPr txBox="1"/>
          <p:nvPr/>
        </p:nvSpPr>
        <p:spPr>
          <a:xfrm>
            <a:off x="457200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Not parallel yet</a:t>
            </a:r>
            <a:endParaRPr lang="en-US" sz="1800" dirty="0"/>
          </a:p>
        </p:txBody>
      </p:sp>
      <p:sp>
        <p:nvSpPr>
          <p:cNvPr id="10" name="Not parallel list"/>
          <p:cNvSpPr txBox="1"/>
          <p:nvPr/>
        </p:nvSpPr>
        <p:spPr>
          <a:xfrm>
            <a:off x="457200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Packing broadcast and strided inputs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Host copies: from_host, to_vector, to()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Result allocation and validation</a:t>
            </a:r>
            <a:endParaRPr lang="en-US" sz="1400" dirty="0"/>
          </a:p>
        </p:txBody>
      </p:sp>
      <p:sp>
        <p:nvSpPr>
          <p:cNvPr id="11" name="Next list heading"/>
          <p:cNvSpPr txBox="1"/>
          <p:nvPr/>
        </p:nvSpPr>
        <p:spPr>
          <a:xfrm>
            <a:off x="4754880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Next</a:t>
            </a:r>
            <a:endParaRPr lang="en-US" sz="1800" dirty="0"/>
          </a:p>
        </p:txBody>
      </p:sp>
      <p:sp>
        <p:nvSpPr>
          <p:cNvPr id="12" name="Next list"/>
          <p:cNvSpPr txBox="1"/>
          <p:nvPr/>
        </p:nvSpPr>
        <p:spPr>
          <a:xfrm>
            <a:off x="4754880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Tune the cutoff: sweep 200k to 2M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Parallelise contiguous() and the gather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matmul: cache blocking plus threads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nsurflow Parallel">
  <a:themeElements>
    <a:clrScheme name="Mensurflow Parallel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2DD4BF"/>
      </a:accent1>
      <a:accent2>
        <a:srgbClr val="FBBF24"/>
      </a:accent2>
      <a:accent3>
        <a:srgbClr val="FB7185"/>
      </a:accent3>
      <a:accent4>
        <a:srgbClr val="A78BFA"/>
      </a:accent4>
      <a:accent5>
        <a:srgbClr val="60A5FA"/>
      </a:accent5>
      <a:accent6>
        <a:srgbClr val="94A3B8"/>
      </a:accent6>
      <a:hlink>
        <a:srgbClr val="60A5FA"/>
      </a:hlink>
      <a:folHlink>
        <a:srgbClr val="A78BFA"/>
      </a:folHlink>
    </a:clrScheme>
    <a:fontScheme name="Mensurflow Parall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Parallelising the CPU kernels</dc:title>
  <dc:subject>PptxGenJS Presentation</dc:subject>
  <dc:creator>mensurflow team</dc:creator>
  <cp:lastModifiedBy>mensurflow team</cp:lastModifiedBy>
  <cp:revision>1</cp:revision>
  <dcterms:created xsi:type="dcterms:W3CDTF">2026-10-31T17:00:21Z</dcterms:created>
  <dcterms:modified xsi:type="dcterms:W3CDTF">2026-10-31T17:00:21Z</dcterms:modified>
</cp:coreProperties>
</file>